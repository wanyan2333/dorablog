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0.svg" ContentType="image/svg+xml"/>
  <Override PartName="/ppt/media/image11.svg" ContentType="image/svg+xml"/>
  <Override PartName="/ppt/media/image12.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8" r:id="rId12"/>
    <p:sldId id="269" r:id="rId13"/>
    <p:sldId id="264" r:id="rId14"/>
    <p:sldId id="265" r:id="rId15"/>
    <p:sldId id="266" r:id="rId16"/>
  </p:sldIdLst>
  <p:sldSz cx="14630400" cy="8229600"/>
  <p:notesSz cx="8229600" cy="14630400"/>
  <p:embeddedFontLst>
    <p:embeddedFont>
      <p:font typeface="Instrument Sans Semi Bold" pitchFamily="34" charset="0"/>
      <p:regular r:id="rId20"/>
    </p:embeddedFont>
    <p:embeddedFont>
      <p:font typeface="Instrument Sans Semi Bold" pitchFamily="34" charset="-122"/>
      <p:regular r:id="rId21"/>
    </p:embeddedFont>
    <p:embeddedFont>
      <p:font typeface="Instrument Sans Semi Bold" pitchFamily="34" charset="-120"/>
      <p:regular r:id="rId22"/>
    </p:embeddedFont>
    <p:embeddedFont>
      <p:font typeface="Instrument Sans Medium" pitchFamily="34" charset="0"/>
      <p:regular r:id="rId23"/>
    </p:embeddedFont>
    <p:embeddedFont>
      <p:font typeface="Instrument Sans Medium" pitchFamily="34" charset="-122"/>
      <p:regular r:id="rId24"/>
    </p:embeddedFont>
    <p:embeddedFont>
      <p:font typeface="Instrument Sans Medium" pitchFamily="34" charset="-120"/>
      <p:regular r:id="rId25"/>
    </p:embeddedFont>
    <p:embeddedFont>
      <p:font typeface="汉仪旗黑KW" panose="00020600040101010101" charset="-122"/>
      <p:regular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leader&amp;architecture: Leo Mo-yung
UI &amp; developer: Yushun Shi
Developer&amp;test: Xuan Zeng
Developer&amp;test: Zhongwei Zhang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7.GIF"/><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2474714"/>
            <a:ext cx="7556421" cy="2835116"/>
          </a:xfrm>
          <a:prstGeom prst="rect">
            <a:avLst/>
          </a:prstGeom>
          <a:noFill/>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DoraBlog: Unleashing Gadget-Powered Storytelling - Final Project Presentation</a:t>
            </a:r>
            <a:endParaRPr lang="en-US" sz="4450" dirty="0"/>
          </a:p>
        </p:txBody>
      </p:sp>
      <p:sp>
        <p:nvSpPr>
          <p:cNvPr id="4" name="Text 1"/>
          <p:cNvSpPr/>
          <p:nvPr/>
        </p:nvSpPr>
        <p:spPr>
          <a:xfrm>
            <a:off x="793790" y="5400556"/>
            <a:ext cx="4394835" cy="354330"/>
          </a:xfrm>
          <a:prstGeom prst="rect">
            <a:avLst/>
          </a:prstGeom>
          <a:noFill/>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Presented by Team Blue Cat Four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588375" y="0"/>
            <a:ext cx="5760720" cy="8229600"/>
          </a:xfrm>
          <a:prstGeom prst="rect">
            <a:avLst/>
          </a:prstGeom>
        </p:spPr>
      </p:pic>
      <p:sp>
        <p:nvSpPr>
          <p:cNvPr id="3" name="Text 0"/>
          <p:cNvSpPr/>
          <p:nvPr/>
        </p:nvSpPr>
        <p:spPr>
          <a:xfrm>
            <a:off x="793790" y="2481739"/>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Team members</a:t>
            </a:r>
            <a:endParaRPr lang="en-US" sz="4450" dirty="0"/>
          </a:p>
        </p:txBody>
      </p:sp>
      <p:sp>
        <p:nvSpPr>
          <p:cNvPr id="4" name="Text 1"/>
          <p:cNvSpPr/>
          <p:nvPr/>
        </p:nvSpPr>
        <p:spPr>
          <a:xfrm>
            <a:off x="793790" y="3530679"/>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Team leader &amp; architecture: Leo Mo-yung</a:t>
            </a:r>
            <a:endParaRPr lang="en-US" sz="1750" dirty="0"/>
          </a:p>
        </p:txBody>
      </p:sp>
      <p:sp>
        <p:nvSpPr>
          <p:cNvPr id="5" name="Text 2"/>
          <p:cNvSpPr/>
          <p:nvPr/>
        </p:nvSpPr>
        <p:spPr>
          <a:xfrm>
            <a:off x="793790" y="4148733"/>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UI &amp; developer: Yushun Shi</a:t>
            </a:r>
            <a:endParaRPr lang="en-US" sz="1750" dirty="0"/>
          </a:p>
        </p:txBody>
      </p:sp>
      <p:sp>
        <p:nvSpPr>
          <p:cNvPr id="6" name="Text 3"/>
          <p:cNvSpPr/>
          <p:nvPr/>
        </p:nvSpPr>
        <p:spPr>
          <a:xfrm>
            <a:off x="793790" y="4766786"/>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Developer &amp; test: Xuan Zeng</a:t>
            </a:r>
            <a:endParaRPr lang="en-US" sz="1750" dirty="0"/>
          </a:p>
        </p:txBody>
      </p:sp>
      <p:sp>
        <p:nvSpPr>
          <p:cNvPr id="7" name="Text 4"/>
          <p:cNvSpPr/>
          <p:nvPr/>
        </p:nvSpPr>
        <p:spPr>
          <a:xfrm>
            <a:off x="793790" y="5384840"/>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Developer &amp; test: Zhongwei Zhang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155746"/>
            <a:ext cx="7556421" cy="2126337"/>
          </a:xfrm>
          <a:prstGeom prst="rect">
            <a:avLst/>
          </a:prstGeom>
          <a:noFill/>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DoraBlog: Unveiling Doraemon's Blogging Wonderland!</a:t>
            </a:r>
            <a:endParaRPr lang="en-US" sz="4450" dirty="0"/>
          </a:p>
        </p:txBody>
      </p:sp>
      <p:sp>
        <p:nvSpPr>
          <p:cNvPr id="4" name="Text 1"/>
          <p:cNvSpPr/>
          <p:nvPr/>
        </p:nvSpPr>
        <p:spPr>
          <a:xfrm>
            <a:off x="6280190" y="4622244"/>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Discover a revolutionary platform where classic Doraemon gadgets transform blogging into an imaginative adventure. Share your stories with extraordinary tools, making every post a magical experience, powered by innovation and creativity.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525304" y="436959"/>
            <a:ext cx="8093393" cy="938213"/>
          </a:xfrm>
          <a:prstGeom prst="rect">
            <a:avLst/>
          </a:prstGeom>
          <a:noFill/>
        </p:spPr>
        <p:txBody>
          <a:bodyPr wrap="square" lIns="0" tIns="0" rIns="0" bIns="0" rtlCol="0" anchor="t"/>
          <a:lstStyle/>
          <a:p>
            <a:pPr marL="0" indent="0" algn="l">
              <a:lnSpc>
                <a:spcPts val="3650"/>
              </a:lnSpc>
              <a:buNone/>
            </a:pPr>
            <a:r>
              <a:rPr lang="en-US" sz="2950" dirty="0">
                <a:solidFill>
                  <a:srgbClr val="091C53"/>
                </a:solidFill>
                <a:latin typeface="Instrument Sans Semi Bold" pitchFamily="34" charset="0"/>
                <a:ea typeface="Instrument Sans Semi Bold" pitchFamily="34" charset="-122"/>
                <a:cs typeface="Instrument Sans Semi Bold" pitchFamily="34" charset="-120"/>
              </a:rPr>
              <a:t>DoraBlog: Unveiling Doraemon's Blogging Wonderland!</a:t>
            </a:r>
            <a:endParaRPr lang="en-US" sz="2950" dirty="0"/>
          </a:p>
        </p:txBody>
      </p:sp>
      <p:sp>
        <p:nvSpPr>
          <p:cNvPr id="4" name="Shape 1"/>
          <p:cNvSpPr/>
          <p:nvPr/>
        </p:nvSpPr>
        <p:spPr>
          <a:xfrm>
            <a:off x="525304" y="1600200"/>
            <a:ext cx="8093393" cy="1375529"/>
          </a:xfrm>
          <a:prstGeom prst="roundRect">
            <a:avLst>
              <a:gd name="adj" fmla="val 5318"/>
            </a:avLst>
          </a:prstGeom>
          <a:solidFill>
            <a:srgbClr val="FFFFFF"/>
          </a:solidFill>
          <a:ln w="15240">
            <a:solidFill>
              <a:srgbClr val="B4CCE3"/>
            </a:solidFill>
            <a:prstDash val="solid"/>
          </a:ln>
        </p:spPr>
      </p:sp>
      <p:sp>
        <p:nvSpPr>
          <p:cNvPr id="5" name="Shape 2"/>
          <p:cNvSpPr/>
          <p:nvPr/>
        </p:nvSpPr>
        <p:spPr>
          <a:xfrm>
            <a:off x="510064" y="1600200"/>
            <a:ext cx="60960" cy="1375529"/>
          </a:xfrm>
          <a:prstGeom prst="roundRect">
            <a:avLst>
              <a:gd name="adj" fmla="val 221595"/>
            </a:avLst>
          </a:prstGeom>
          <a:solidFill>
            <a:srgbClr val="84C1FA"/>
          </a:solidFill>
        </p:spPr>
      </p:sp>
      <p:sp>
        <p:nvSpPr>
          <p:cNvPr id="6" name="Text 3"/>
          <p:cNvSpPr/>
          <p:nvPr/>
        </p:nvSpPr>
        <p:spPr>
          <a:xfrm>
            <a:off x="736283" y="1765459"/>
            <a:ext cx="3590687" cy="234553"/>
          </a:xfrm>
          <a:prstGeom prst="rect">
            <a:avLst/>
          </a:prstGeom>
          <a:noFill/>
        </p:spPr>
        <p:txBody>
          <a:bodyPr wrap="none" lIns="0" tIns="0" rIns="0" bIns="0" rtlCol="0" anchor="t"/>
          <a:lstStyle/>
          <a:p>
            <a:pPr marL="0" indent="0" algn="l">
              <a:lnSpc>
                <a:spcPts val="180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Doraemon's Everywhere Pocket Platform</a:t>
            </a:r>
            <a:endParaRPr lang="en-US" sz="1450" dirty="0"/>
          </a:p>
        </p:txBody>
      </p:sp>
      <p:sp>
        <p:nvSpPr>
          <p:cNvPr id="7" name="Text 4"/>
          <p:cNvSpPr/>
          <p:nvPr/>
        </p:nvSpPr>
        <p:spPr>
          <a:xfrm>
            <a:off x="736283" y="2090023"/>
            <a:ext cx="7717155" cy="720447"/>
          </a:xfrm>
          <a:prstGeom prst="rect">
            <a:avLst/>
          </a:prstGeom>
          <a:noFill/>
        </p:spPr>
        <p:txBody>
          <a:bodyPr wrap="square" lIns="0" tIns="0" rIns="0" bIns="0" rtlCol="0" anchor="t"/>
          <a:lstStyle/>
          <a:p>
            <a:pPr marL="0" indent="0" algn="l">
              <a:lnSpc>
                <a:spcPts val="185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We've engineered a complete full-stack blogging platform, like Doraemon's </a:t>
            </a:r>
            <a:r>
              <a:rPr lang="en-US" sz="1150" b="1" dirty="0">
                <a:solidFill>
                  <a:srgbClr val="1E3063"/>
                </a:solidFill>
                <a:latin typeface="Instrument Sans Medium" pitchFamily="34" charset="0"/>
                <a:ea typeface="Instrument Sans Medium" pitchFamily="34" charset="-122"/>
                <a:cs typeface="Instrument Sans Medium" pitchFamily="34" charset="-120"/>
              </a:rPr>
              <a:t>Everywhere Pocket</a:t>
            </a:r>
            <a:r>
              <a:rPr lang="en-US" sz="1150" dirty="0">
                <a:solidFill>
                  <a:srgbClr val="1E3063"/>
                </a:solidFill>
                <a:latin typeface="Instrument Sans Medium" pitchFamily="34" charset="0"/>
                <a:ea typeface="Instrument Sans Medium" pitchFamily="34" charset="-122"/>
                <a:cs typeface="Instrument Sans Medium" pitchFamily="34" charset="-120"/>
              </a:rPr>
              <a:t>, featuring a user-friendly front-end interface, a robust back-end service, and an independent management system for seamless operations.</a:t>
            </a:r>
            <a:endParaRPr lang="en-US" sz="1150" dirty="0"/>
          </a:p>
        </p:txBody>
      </p:sp>
      <p:sp>
        <p:nvSpPr>
          <p:cNvPr id="8" name="Shape 5"/>
          <p:cNvSpPr/>
          <p:nvPr/>
        </p:nvSpPr>
        <p:spPr>
          <a:xfrm>
            <a:off x="525304" y="3125748"/>
            <a:ext cx="8093393" cy="1615678"/>
          </a:xfrm>
          <a:prstGeom prst="roundRect">
            <a:avLst>
              <a:gd name="adj" fmla="val 4528"/>
            </a:avLst>
          </a:prstGeom>
          <a:solidFill>
            <a:srgbClr val="FFFFFF"/>
          </a:solidFill>
          <a:ln w="15240">
            <a:solidFill>
              <a:srgbClr val="B4CCE3"/>
            </a:solidFill>
            <a:prstDash val="solid"/>
          </a:ln>
        </p:spPr>
      </p:sp>
      <p:sp>
        <p:nvSpPr>
          <p:cNvPr id="9" name="Shape 6"/>
          <p:cNvSpPr/>
          <p:nvPr/>
        </p:nvSpPr>
        <p:spPr>
          <a:xfrm>
            <a:off x="510064" y="3125748"/>
            <a:ext cx="60960" cy="1615678"/>
          </a:xfrm>
          <a:prstGeom prst="roundRect">
            <a:avLst>
              <a:gd name="adj" fmla="val 221595"/>
            </a:avLst>
          </a:prstGeom>
          <a:solidFill>
            <a:srgbClr val="84C1FA"/>
          </a:solidFill>
        </p:spPr>
      </p:sp>
      <p:sp>
        <p:nvSpPr>
          <p:cNvPr id="10" name="Text 7"/>
          <p:cNvSpPr/>
          <p:nvPr/>
        </p:nvSpPr>
        <p:spPr>
          <a:xfrm>
            <a:off x="736283" y="3291007"/>
            <a:ext cx="2791658" cy="234553"/>
          </a:xfrm>
          <a:prstGeom prst="rect">
            <a:avLst/>
          </a:prstGeom>
          <a:noFill/>
        </p:spPr>
        <p:txBody>
          <a:bodyPr wrap="none" lIns="0" tIns="0" rIns="0" bIns="0" rtlCol="0" anchor="t"/>
          <a:lstStyle/>
          <a:p>
            <a:pPr marL="0" indent="0" algn="l">
              <a:lnSpc>
                <a:spcPts val="180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Gadget-Powered Core Features</a:t>
            </a:r>
            <a:endParaRPr lang="en-US" sz="1450" dirty="0"/>
          </a:p>
        </p:txBody>
      </p:sp>
      <p:sp>
        <p:nvSpPr>
          <p:cNvPr id="11" name="Text 8"/>
          <p:cNvSpPr/>
          <p:nvPr/>
        </p:nvSpPr>
        <p:spPr>
          <a:xfrm>
            <a:off x="736283" y="3615571"/>
            <a:ext cx="7717155" cy="960596"/>
          </a:xfrm>
          <a:prstGeom prst="rect">
            <a:avLst/>
          </a:prstGeom>
          <a:noFill/>
        </p:spPr>
        <p:txBody>
          <a:bodyPr wrap="square" lIns="0" tIns="0" rIns="0" bIns="0" rtlCol="0" anchor="t"/>
          <a:lstStyle/>
          <a:p>
            <a:pPr marL="0" indent="0" algn="l">
              <a:lnSpc>
                <a:spcPts val="185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Experience super-powered features: </a:t>
            </a:r>
            <a:r>
              <a:rPr lang="en-US" sz="1150" b="1" dirty="0">
                <a:solidFill>
                  <a:srgbClr val="1E3063"/>
                </a:solidFill>
                <a:latin typeface="Instrument Sans Medium" pitchFamily="34" charset="0"/>
                <a:ea typeface="Instrument Sans Medium" pitchFamily="34" charset="-122"/>
                <a:cs typeface="Instrument Sans Medium" pitchFamily="34" charset="-120"/>
              </a:rPr>
              <a:t>Identification Camera</a:t>
            </a:r>
            <a:r>
              <a:rPr lang="en-US" sz="1150" dirty="0">
                <a:solidFill>
                  <a:srgbClr val="1E3063"/>
                </a:solidFill>
                <a:latin typeface="Instrument Sans Medium" pitchFamily="34" charset="0"/>
                <a:ea typeface="Instrument Sans Medium" pitchFamily="34" charset="-122"/>
                <a:cs typeface="Instrument Sans Medium" pitchFamily="34" charset="-120"/>
              </a:rPr>
              <a:t> for user registration/authentication, </a:t>
            </a:r>
            <a:r>
              <a:rPr lang="en-US" sz="1150" b="1" dirty="0">
                <a:solidFill>
                  <a:srgbClr val="1E3063"/>
                </a:solidFill>
                <a:latin typeface="Instrument Sans Medium" pitchFamily="34" charset="0"/>
                <a:ea typeface="Instrument Sans Medium" pitchFamily="34" charset="-122"/>
                <a:cs typeface="Instrument Sans Medium" pitchFamily="34" charset="-120"/>
              </a:rPr>
              <a:t>Word-Processor Pencil</a:t>
            </a:r>
            <a:r>
              <a:rPr lang="en-US" sz="1150" dirty="0">
                <a:solidFill>
                  <a:srgbClr val="1E3063"/>
                </a:solidFill>
                <a:latin typeface="Instrument Sans Medium" pitchFamily="34" charset="0"/>
                <a:ea typeface="Instrument Sans Medium" pitchFamily="34" charset="-122"/>
                <a:cs typeface="Instrument Sans Medium" pitchFamily="34" charset="-120"/>
              </a:rPr>
              <a:t> for rich-text article creation, a hierarchical comment system (like a tiny </a:t>
            </a:r>
            <a:r>
              <a:rPr lang="en-US" sz="1150" b="1" dirty="0">
                <a:solidFill>
                  <a:srgbClr val="1E3063"/>
                </a:solidFill>
                <a:latin typeface="Instrument Sans Medium" pitchFamily="34" charset="0"/>
                <a:ea typeface="Instrument Sans Medium" pitchFamily="34" charset="-122"/>
                <a:cs typeface="Instrument Sans Medium" pitchFamily="34" charset="-120"/>
              </a:rPr>
              <a:t>Thought-Reading Microphone</a:t>
            </a:r>
            <a:r>
              <a:rPr lang="en-US" sz="1150" dirty="0">
                <a:solidFill>
                  <a:srgbClr val="1E3063"/>
                </a:solidFill>
                <a:latin typeface="Instrument Sans Medium" pitchFamily="34" charset="0"/>
                <a:ea typeface="Instrument Sans Medium" pitchFamily="34" charset="-122"/>
                <a:cs typeface="Instrument Sans Medium" pitchFamily="34" charset="-120"/>
              </a:rPr>
              <a:t> network), </a:t>
            </a:r>
            <a:r>
              <a:rPr lang="en-US" sz="1150" b="1" dirty="0">
                <a:solidFill>
                  <a:srgbClr val="1E3063"/>
                </a:solidFill>
                <a:latin typeface="Instrument Sans Medium" pitchFamily="34" charset="0"/>
                <a:ea typeface="Instrument Sans Medium" pitchFamily="34" charset="-122"/>
                <a:cs typeface="Instrument Sans Medium" pitchFamily="34" charset="-120"/>
              </a:rPr>
              <a:t>Detective Hat</a:t>
            </a:r>
            <a:r>
              <a:rPr lang="en-US" sz="1150" dirty="0">
                <a:solidFill>
                  <a:srgbClr val="1E3063"/>
                </a:solidFill>
                <a:latin typeface="Instrument Sans Medium" pitchFamily="34" charset="0"/>
                <a:ea typeface="Instrument Sans Medium" pitchFamily="34" charset="-122"/>
                <a:cs typeface="Instrument Sans Medium" pitchFamily="34" charset="-120"/>
              </a:rPr>
              <a:t> for article search &amp; discovery, and fun </a:t>
            </a:r>
            <a:r>
              <a:rPr lang="en-US" sz="1150" b="1" dirty="0">
                <a:solidFill>
                  <a:srgbClr val="1E3063"/>
                </a:solidFill>
                <a:latin typeface="Instrument Sans Medium" pitchFamily="34" charset="0"/>
                <a:ea typeface="Instrument Sans Medium" pitchFamily="34" charset="-122"/>
                <a:cs typeface="Instrument Sans Medium" pitchFamily="34" charset="-120"/>
              </a:rPr>
              <a:t>Mood Changer</a:t>
            </a:r>
            <a:r>
              <a:rPr lang="en-US" sz="1150" dirty="0">
                <a:solidFill>
                  <a:srgbClr val="1E3063"/>
                </a:solidFill>
                <a:latin typeface="Instrument Sans Medium" pitchFamily="34" charset="0"/>
                <a:ea typeface="Instrument Sans Medium" pitchFamily="34" charset="-122"/>
                <a:cs typeface="Instrument Sans Medium" pitchFamily="34" charset="-120"/>
              </a:rPr>
              <a:t> like/unlike functionality.</a:t>
            </a:r>
            <a:endParaRPr lang="en-US" sz="1150" dirty="0"/>
          </a:p>
        </p:txBody>
      </p:sp>
      <p:sp>
        <p:nvSpPr>
          <p:cNvPr id="12" name="Shape 9"/>
          <p:cNvSpPr/>
          <p:nvPr/>
        </p:nvSpPr>
        <p:spPr>
          <a:xfrm>
            <a:off x="525304" y="4891445"/>
            <a:ext cx="8093393" cy="1375529"/>
          </a:xfrm>
          <a:prstGeom prst="roundRect">
            <a:avLst>
              <a:gd name="adj" fmla="val 5318"/>
            </a:avLst>
          </a:prstGeom>
          <a:solidFill>
            <a:srgbClr val="FFFFFF"/>
          </a:solidFill>
          <a:ln w="15240">
            <a:solidFill>
              <a:srgbClr val="B4CCE3"/>
            </a:solidFill>
            <a:prstDash val="solid"/>
          </a:ln>
        </p:spPr>
      </p:sp>
      <p:sp>
        <p:nvSpPr>
          <p:cNvPr id="13" name="Shape 10"/>
          <p:cNvSpPr/>
          <p:nvPr/>
        </p:nvSpPr>
        <p:spPr>
          <a:xfrm>
            <a:off x="510064" y="4891445"/>
            <a:ext cx="60960" cy="1375529"/>
          </a:xfrm>
          <a:prstGeom prst="roundRect">
            <a:avLst>
              <a:gd name="adj" fmla="val 221595"/>
            </a:avLst>
          </a:prstGeom>
          <a:solidFill>
            <a:srgbClr val="84C1FA"/>
          </a:solidFill>
        </p:spPr>
      </p:sp>
      <p:sp>
        <p:nvSpPr>
          <p:cNvPr id="14" name="Text 11"/>
          <p:cNvSpPr/>
          <p:nvPr/>
        </p:nvSpPr>
        <p:spPr>
          <a:xfrm>
            <a:off x="736283" y="5056703"/>
            <a:ext cx="2639616" cy="234553"/>
          </a:xfrm>
          <a:prstGeom prst="rect">
            <a:avLst/>
          </a:prstGeom>
          <a:noFill/>
        </p:spPr>
        <p:txBody>
          <a:bodyPr wrap="none" lIns="0" tIns="0" rIns="0" bIns="0" rtlCol="0" anchor="t"/>
          <a:lstStyle/>
          <a:p>
            <a:pPr marL="0" indent="0" algn="l">
              <a:lnSpc>
                <a:spcPts val="180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Future-Proof User Experience</a:t>
            </a:r>
            <a:endParaRPr lang="en-US" sz="1450" dirty="0"/>
          </a:p>
        </p:txBody>
      </p:sp>
      <p:sp>
        <p:nvSpPr>
          <p:cNvPr id="15" name="Text 12"/>
          <p:cNvSpPr/>
          <p:nvPr/>
        </p:nvSpPr>
        <p:spPr>
          <a:xfrm>
            <a:off x="736283" y="5381268"/>
            <a:ext cx="7717155" cy="720447"/>
          </a:xfrm>
          <a:prstGeom prst="rect">
            <a:avLst/>
          </a:prstGeom>
          <a:noFill/>
        </p:spPr>
        <p:txBody>
          <a:bodyPr wrap="square" lIns="0" tIns="0" rIns="0" bIns="0" rtlCol="0" anchor="t"/>
          <a:lstStyle/>
          <a:p>
            <a:pPr marL="0" indent="0" algn="l">
              <a:lnSpc>
                <a:spcPts val="185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Enhance your blog with multi-theme options (light/dark/Doraemon blue, using a </a:t>
            </a:r>
            <a:r>
              <a:rPr lang="en-US" sz="1150" b="1" dirty="0">
                <a:solidFill>
                  <a:srgbClr val="1E3063"/>
                </a:solidFill>
                <a:latin typeface="Instrument Sans Medium" pitchFamily="34" charset="0"/>
                <a:ea typeface="Instrument Sans Medium" pitchFamily="34" charset="-122"/>
                <a:cs typeface="Instrument Sans Medium" pitchFamily="34" charset="-120"/>
              </a:rPr>
              <a:t>Color-Changing Cloak</a:t>
            </a:r>
            <a:r>
              <a:rPr lang="en-US" sz="1150" dirty="0">
                <a:solidFill>
                  <a:srgbClr val="1E3063"/>
                </a:solidFill>
                <a:latin typeface="Instrument Sans Medium" pitchFamily="34" charset="0"/>
                <a:ea typeface="Instrument Sans Medium" pitchFamily="34" charset="-122"/>
                <a:cs typeface="Instrument Sans Medium" pitchFamily="34" charset="-120"/>
              </a:rPr>
              <a:t> metaphor), a </a:t>
            </a:r>
            <a:r>
              <a:rPr lang="en-US" sz="1150" b="1" dirty="0">
                <a:solidFill>
                  <a:srgbClr val="1E3063"/>
                </a:solidFill>
                <a:latin typeface="Instrument Sans Medium" pitchFamily="34" charset="0"/>
                <a:ea typeface="Instrument Sans Medium" pitchFamily="34" charset="-122"/>
                <a:cs typeface="Instrument Sans Medium" pitchFamily="34" charset="-120"/>
              </a:rPr>
              <a:t>Truth Mirror</a:t>
            </a:r>
            <a:r>
              <a:rPr lang="en-US" sz="1150" dirty="0">
                <a:solidFill>
                  <a:srgbClr val="1E3063"/>
                </a:solidFill>
                <a:latin typeface="Instrument Sans Medium" pitchFamily="34" charset="0"/>
                <a:ea typeface="Instrument Sans Medium" pitchFamily="34" charset="-122"/>
                <a:cs typeface="Instrument Sans Medium" pitchFamily="34" charset="-120"/>
              </a:rPr>
              <a:t>-like password strength indicator, and daily motivational quotes from our </a:t>
            </a:r>
            <a:r>
              <a:rPr lang="en-US" sz="1150" b="1" dirty="0">
                <a:solidFill>
                  <a:srgbClr val="1E3063"/>
                </a:solidFill>
                <a:latin typeface="Instrument Sans Medium" pitchFamily="34" charset="0"/>
                <a:ea typeface="Instrument Sans Medium" pitchFamily="34" charset="-122"/>
                <a:cs typeface="Instrument Sans Medium" pitchFamily="34" charset="-120"/>
              </a:rPr>
              <a:t>Motivation Machine</a:t>
            </a:r>
            <a:r>
              <a:rPr lang="en-US" sz="1150" dirty="0">
                <a:solidFill>
                  <a:srgbClr val="1E3063"/>
                </a:solidFill>
                <a:latin typeface="Instrument Sans Medium" pitchFamily="34" charset="0"/>
                <a:ea typeface="Instrument Sans Medium" pitchFamily="34" charset="-122"/>
                <a:cs typeface="Instrument Sans Medium" pitchFamily="34" charset="-120"/>
              </a:rPr>
              <a:t>!</a:t>
            </a:r>
            <a:endParaRPr lang="en-US" sz="1150" dirty="0"/>
          </a:p>
        </p:txBody>
      </p:sp>
      <p:sp>
        <p:nvSpPr>
          <p:cNvPr id="16" name="Shape 13"/>
          <p:cNvSpPr/>
          <p:nvPr/>
        </p:nvSpPr>
        <p:spPr>
          <a:xfrm>
            <a:off x="525304" y="6416993"/>
            <a:ext cx="8093393" cy="1375529"/>
          </a:xfrm>
          <a:prstGeom prst="roundRect">
            <a:avLst>
              <a:gd name="adj" fmla="val 5318"/>
            </a:avLst>
          </a:prstGeom>
          <a:solidFill>
            <a:srgbClr val="FFFFFF"/>
          </a:solidFill>
          <a:ln w="15240">
            <a:solidFill>
              <a:srgbClr val="B4CCE3"/>
            </a:solidFill>
            <a:prstDash val="solid"/>
          </a:ln>
        </p:spPr>
      </p:sp>
      <p:sp>
        <p:nvSpPr>
          <p:cNvPr id="17" name="Shape 14"/>
          <p:cNvSpPr/>
          <p:nvPr/>
        </p:nvSpPr>
        <p:spPr>
          <a:xfrm>
            <a:off x="510064" y="6416993"/>
            <a:ext cx="60960" cy="1375529"/>
          </a:xfrm>
          <a:prstGeom prst="roundRect">
            <a:avLst>
              <a:gd name="adj" fmla="val 221595"/>
            </a:avLst>
          </a:prstGeom>
          <a:solidFill>
            <a:srgbClr val="84C1FA"/>
          </a:solidFill>
        </p:spPr>
      </p:sp>
      <p:sp>
        <p:nvSpPr>
          <p:cNvPr id="18" name="Text 15"/>
          <p:cNvSpPr/>
          <p:nvPr/>
        </p:nvSpPr>
        <p:spPr>
          <a:xfrm>
            <a:off x="736283" y="6582251"/>
            <a:ext cx="2765584" cy="234553"/>
          </a:xfrm>
          <a:prstGeom prst="rect">
            <a:avLst/>
          </a:prstGeom>
          <a:noFill/>
        </p:spPr>
        <p:txBody>
          <a:bodyPr wrap="none" lIns="0" tIns="0" rIns="0" bIns="0" rtlCol="0" anchor="t"/>
          <a:lstStyle/>
          <a:p>
            <a:pPr marL="0" indent="0" algn="l">
              <a:lnSpc>
                <a:spcPts val="180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Advanced Gadgetry for Admins</a:t>
            </a:r>
            <a:endParaRPr lang="en-US" sz="1450" dirty="0"/>
          </a:p>
        </p:txBody>
      </p:sp>
      <p:sp>
        <p:nvSpPr>
          <p:cNvPr id="19" name="Text 16"/>
          <p:cNvSpPr/>
          <p:nvPr/>
        </p:nvSpPr>
        <p:spPr>
          <a:xfrm>
            <a:off x="736283" y="6906816"/>
            <a:ext cx="7717155" cy="720447"/>
          </a:xfrm>
          <a:prstGeom prst="rect">
            <a:avLst/>
          </a:prstGeom>
          <a:noFill/>
        </p:spPr>
        <p:txBody>
          <a:bodyPr wrap="square" lIns="0" tIns="0" rIns="0" bIns="0" rtlCol="0" anchor="t"/>
          <a:lstStyle/>
          <a:p>
            <a:pPr marL="0" indent="0" algn="l">
              <a:lnSpc>
                <a:spcPts val="1850"/>
              </a:lnSpc>
              <a:buNone/>
            </a:pPr>
            <a:r>
              <a:rPr lang="en-US" sz="1150" dirty="0">
                <a:solidFill>
                  <a:srgbClr val="1E3063"/>
                </a:solidFill>
                <a:latin typeface="Instrument Sans Medium" pitchFamily="34" charset="0"/>
                <a:ea typeface="Instrument Sans Medium" pitchFamily="34" charset="-122"/>
                <a:cs typeface="Instrument Sans Medium" pitchFamily="34" charset="-120"/>
              </a:rPr>
              <a:t>Unleash powerful features: </a:t>
            </a:r>
            <a:r>
              <a:rPr lang="en-US" sz="1150" b="1" dirty="0">
                <a:solidFill>
                  <a:srgbClr val="1E3063"/>
                </a:solidFill>
                <a:latin typeface="Instrument Sans Medium" pitchFamily="34" charset="0"/>
                <a:ea typeface="Instrument Sans Medium" pitchFamily="34" charset="-122"/>
                <a:cs typeface="Instrument Sans Medium" pitchFamily="34" charset="-120"/>
              </a:rPr>
              <a:t>Categorization Chips</a:t>
            </a:r>
            <a:r>
              <a:rPr lang="en-US" sz="1150" dirty="0">
                <a:solidFill>
                  <a:srgbClr val="1E3063"/>
                </a:solidFill>
                <a:latin typeface="Instrument Sans Medium" pitchFamily="34" charset="0"/>
                <a:ea typeface="Instrument Sans Medium" pitchFamily="34" charset="-122"/>
                <a:cs typeface="Instrument Sans Medium" pitchFamily="34" charset="-120"/>
              </a:rPr>
              <a:t> for tag-based article organization, </a:t>
            </a:r>
            <a:r>
              <a:rPr lang="en-US" sz="1150" b="1" dirty="0">
                <a:solidFill>
                  <a:srgbClr val="1E3063"/>
                </a:solidFill>
                <a:latin typeface="Instrument Sans Medium" pitchFamily="34" charset="0"/>
                <a:ea typeface="Instrument Sans Medium" pitchFamily="34" charset="-122"/>
                <a:cs typeface="Instrument Sans Medium" pitchFamily="34" charset="-120"/>
              </a:rPr>
              <a:t>Friendship Caller</a:t>
            </a:r>
            <a:r>
              <a:rPr lang="en-US" sz="1150" dirty="0">
                <a:solidFill>
                  <a:srgbClr val="1E3063"/>
                </a:solidFill>
                <a:latin typeface="Instrument Sans Medium" pitchFamily="34" charset="0"/>
                <a:ea typeface="Instrument Sans Medium" pitchFamily="34" charset="-122"/>
                <a:cs typeface="Instrument Sans Medium" pitchFamily="34" charset="-120"/>
              </a:rPr>
              <a:t> for related article recommendations, and a dedicated Java administrator dashboard, acting as our very own </a:t>
            </a:r>
            <a:r>
              <a:rPr lang="en-US" sz="1150" b="1" dirty="0">
                <a:solidFill>
                  <a:srgbClr val="1E3063"/>
                </a:solidFill>
                <a:latin typeface="Instrument Sans Medium" pitchFamily="34" charset="0"/>
                <a:ea typeface="Instrument Sans Medium" pitchFamily="34" charset="-122"/>
                <a:cs typeface="Instrument Sans Medium" pitchFamily="34" charset="-120"/>
              </a:rPr>
              <a:t>Control Panel of the Future</a:t>
            </a:r>
            <a:r>
              <a:rPr lang="en-US" sz="1150" dirty="0">
                <a:solidFill>
                  <a:srgbClr val="1E3063"/>
                </a:solidFill>
                <a:latin typeface="Instrument Sans Medium" pitchFamily="34" charset="0"/>
                <a:ea typeface="Instrument Sans Medium" pitchFamily="34" charset="-122"/>
                <a:cs typeface="Instrument Sans Medium"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6835" y="311825"/>
            <a:ext cx="6663809" cy="354330"/>
          </a:xfrm>
          <a:prstGeom prst="rect">
            <a:avLst/>
          </a:prstGeom>
          <a:noFill/>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DoraBlog's Gadget Blueprint: System Architecture</a:t>
            </a:r>
            <a:endParaRPr lang="en-US" sz="2200" dirty="0"/>
          </a:p>
        </p:txBody>
      </p:sp>
      <p:pic>
        <p:nvPicPr>
          <p:cNvPr id="3" name="Image 0" descr="preencoded.png"/>
          <p:cNvPicPr>
            <a:picLocks noChangeAspect="1"/>
          </p:cNvPicPr>
          <p:nvPr/>
        </p:nvPicPr>
        <p:blipFill>
          <a:blip r:embed="rId1"/>
          <a:stretch>
            <a:fillRect/>
          </a:stretch>
        </p:blipFill>
        <p:spPr>
          <a:xfrm>
            <a:off x="2579965" y="892969"/>
            <a:ext cx="9470350" cy="7517725"/>
          </a:xfrm>
          <a:prstGeom prst="rect">
            <a:avLst/>
          </a:prstGeom>
        </p:spPr>
      </p:pic>
      <p:sp>
        <p:nvSpPr>
          <p:cNvPr id="4" name="Text 1"/>
          <p:cNvSpPr/>
          <p:nvPr/>
        </p:nvSpPr>
        <p:spPr>
          <a:xfrm>
            <a:off x="6451724" y="3645224"/>
            <a:ext cx="1701893" cy="1945761"/>
          </a:xfrm>
          <a:prstGeom prst="rect">
            <a:avLst/>
          </a:prstGeom>
          <a:noFill/>
        </p:spPr>
        <p:txBody>
          <a:bodyPr wrap="square" lIns="0" tIns="0" rIns="0" bIns="0" rtlCol="0" anchor="t"/>
          <a:lstStyle/>
          <a:p>
            <a:pPr marL="0" indent="0" algn="ctr">
              <a:lnSpc>
                <a:spcPts val="1650"/>
              </a:lnSpc>
              <a:buNone/>
            </a:pPr>
            <a:r>
              <a:rPr lang="en-US" sz="1350" dirty="0">
                <a:solidFill>
                  <a:srgbClr val="000000"/>
                </a:solidFill>
                <a:latin typeface="Instrument Sans Semi Bold" pitchFamily="34" charset="0"/>
                <a:ea typeface="Instrument Sans Semi Bold" pitchFamily="34" charset="-122"/>
                <a:cs typeface="Instrument Sans Semi Bold" pitchFamily="34" charset="-120"/>
              </a:rPr>
              <a:t>DoraBlog's Super-Powered Gadget Workflow!</a:t>
            </a:r>
            <a:endParaRPr lang="en-US" sz="1350" dirty="0"/>
          </a:p>
        </p:txBody>
      </p:sp>
      <p:sp>
        <p:nvSpPr>
          <p:cNvPr id="5" name="Text 2"/>
          <p:cNvSpPr/>
          <p:nvPr/>
        </p:nvSpPr>
        <p:spPr>
          <a:xfrm>
            <a:off x="8125943" y="1575582"/>
            <a:ext cx="2531869"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Anywhere Door UI</a:t>
            </a:r>
            <a:endParaRPr lang="en-US" sz="1350" dirty="0"/>
          </a:p>
        </p:txBody>
      </p:sp>
      <p:sp>
        <p:nvSpPr>
          <p:cNvPr id="6" name="Text 3"/>
          <p:cNvSpPr/>
          <p:nvPr/>
        </p:nvSpPr>
        <p:spPr>
          <a:xfrm>
            <a:off x="8125943" y="2464579"/>
            <a:ext cx="2531869" cy="311322"/>
          </a:xfrm>
          <a:prstGeom prst="rect">
            <a:avLst/>
          </a:prstGeom>
          <a:noFill/>
        </p:spPr>
        <p:txBody>
          <a:bodyPr wrap="non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SvelteKit &amp; Vite</a:t>
            </a:r>
            <a:endParaRPr lang="en-US" sz="1050" dirty="0"/>
          </a:p>
        </p:txBody>
      </p:sp>
      <p:sp>
        <p:nvSpPr>
          <p:cNvPr id="7" name="Text 4"/>
          <p:cNvSpPr/>
          <p:nvPr/>
        </p:nvSpPr>
        <p:spPr>
          <a:xfrm>
            <a:off x="3905803" y="1575582"/>
            <a:ext cx="2531868"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Time Machine Admin Console</a:t>
            </a:r>
            <a:endParaRPr lang="en-US" sz="1350" dirty="0"/>
          </a:p>
        </p:txBody>
      </p:sp>
      <p:sp>
        <p:nvSpPr>
          <p:cNvPr id="8" name="Text 5"/>
          <p:cNvSpPr/>
          <p:nvPr/>
        </p:nvSpPr>
        <p:spPr>
          <a:xfrm>
            <a:off x="3905803" y="2464579"/>
            <a:ext cx="2531868" cy="311322"/>
          </a:xfrm>
          <a:prstGeom prst="rect">
            <a:avLst/>
          </a:prstGeom>
          <a:noFill/>
        </p:spPr>
        <p:txBody>
          <a:bodyPr wrap="non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Java Client &amp; Jackson</a:t>
            </a:r>
            <a:endParaRPr lang="en-US" sz="1050" dirty="0"/>
          </a:p>
        </p:txBody>
      </p:sp>
      <p:sp>
        <p:nvSpPr>
          <p:cNvPr id="9" name="Text 6"/>
          <p:cNvSpPr/>
          <p:nvPr/>
        </p:nvSpPr>
        <p:spPr>
          <a:xfrm>
            <a:off x="3905803" y="6515223"/>
            <a:ext cx="2531868"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Secret Identity Badges</a:t>
            </a:r>
            <a:endParaRPr lang="en-US" sz="1350" dirty="0"/>
          </a:p>
        </p:txBody>
      </p:sp>
      <p:sp>
        <p:nvSpPr>
          <p:cNvPr id="10" name="Text 7"/>
          <p:cNvSpPr/>
          <p:nvPr/>
        </p:nvSpPr>
        <p:spPr>
          <a:xfrm>
            <a:off x="3905803" y="7404219"/>
            <a:ext cx="2531868" cy="311322"/>
          </a:xfrm>
          <a:prstGeom prst="rect">
            <a:avLst/>
          </a:prstGeom>
          <a:noFill/>
        </p:spPr>
        <p:txBody>
          <a:bodyPr wrap="non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JWT Authentication</a:t>
            </a:r>
            <a:endParaRPr lang="en-US" sz="1050" dirty="0"/>
          </a:p>
        </p:txBody>
      </p:sp>
      <p:sp>
        <p:nvSpPr>
          <p:cNvPr id="11" name="Text 8"/>
          <p:cNvSpPr/>
          <p:nvPr/>
        </p:nvSpPr>
        <p:spPr>
          <a:xfrm>
            <a:off x="8125943" y="6359562"/>
            <a:ext cx="2531869"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Gadget Control Center</a:t>
            </a:r>
            <a:endParaRPr lang="en-US" sz="1350" dirty="0"/>
          </a:p>
        </p:txBody>
      </p:sp>
      <p:sp>
        <p:nvSpPr>
          <p:cNvPr id="12" name="Text 9"/>
          <p:cNvSpPr/>
          <p:nvPr/>
        </p:nvSpPr>
        <p:spPr>
          <a:xfrm>
            <a:off x="8125943" y="7248558"/>
            <a:ext cx="2531869" cy="622644"/>
          </a:xfrm>
          <a:prstGeom prst="rect">
            <a:avLst/>
          </a:prstGeom>
          <a:noFill/>
        </p:spPr>
        <p:txBody>
          <a:bodyPr wrap="squar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Node.js &amp; Express Logic</a:t>
            </a:r>
            <a:endParaRPr lang="en-US" sz="1050" dirty="0"/>
          </a:p>
        </p:txBody>
      </p:sp>
      <p:sp>
        <p:nvSpPr>
          <p:cNvPr id="13" name="Text 10"/>
          <p:cNvSpPr/>
          <p:nvPr/>
        </p:nvSpPr>
        <p:spPr>
          <a:xfrm>
            <a:off x="9039154" y="4010811"/>
            <a:ext cx="2587214"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Future-Proof Communication</a:t>
            </a:r>
            <a:endParaRPr lang="en-US" sz="1350" dirty="0"/>
          </a:p>
        </p:txBody>
      </p:sp>
      <p:sp>
        <p:nvSpPr>
          <p:cNvPr id="14" name="Text 11"/>
          <p:cNvSpPr/>
          <p:nvPr/>
        </p:nvSpPr>
        <p:spPr>
          <a:xfrm>
            <a:off x="9039154" y="4899808"/>
            <a:ext cx="2587214" cy="311322"/>
          </a:xfrm>
          <a:prstGeom prst="rect">
            <a:avLst/>
          </a:prstGeom>
          <a:noFill/>
        </p:spPr>
        <p:txBody>
          <a:bodyPr wrap="non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RESTful API Calls</a:t>
            </a:r>
            <a:endParaRPr lang="en-US" sz="1050" dirty="0"/>
          </a:p>
        </p:txBody>
      </p:sp>
      <p:sp>
        <p:nvSpPr>
          <p:cNvPr id="15" name="Text 12"/>
          <p:cNvSpPr/>
          <p:nvPr/>
        </p:nvSpPr>
        <p:spPr>
          <a:xfrm>
            <a:off x="2978756" y="4024647"/>
            <a:ext cx="2587214" cy="778305"/>
          </a:xfrm>
          <a:prstGeom prst="rect">
            <a:avLst/>
          </a:prstGeom>
          <a:noFill/>
        </p:spPr>
        <p:txBody>
          <a:bodyPr wrap="square" lIns="0" tIns="0" rIns="0" bIns="0" rtlCol="0" anchor="t"/>
          <a:lstStyle/>
          <a:p>
            <a:pPr marL="0" indent="0" algn="ctr">
              <a:lnSpc>
                <a:spcPts val="16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4D Pocket Storage</a:t>
            </a:r>
            <a:endParaRPr lang="en-US" sz="1350" dirty="0"/>
          </a:p>
        </p:txBody>
      </p:sp>
      <p:sp>
        <p:nvSpPr>
          <p:cNvPr id="16" name="Text 13"/>
          <p:cNvSpPr/>
          <p:nvPr/>
        </p:nvSpPr>
        <p:spPr>
          <a:xfrm>
            <a:off x="2978756" y="4913645"/>
            <a:ext cx="2587214" cy="311321"/>
          </a:xfrm>
          <a:prstGeom prst="rect">
            <a:avLst/>
          </a:prstGeom>
          <a:noFill/>
        </p:spPr>
        <p:txBody>
          <a:bodyPr wrap="none" lIns="0" tIns="0" rIns="0" bIns="0" rtlCol="0" anchor="t"/>
          <a:lstStyle/>
          <a:p>
            <a:pPr marL="0" indent="0" algn="ctr">
              <a:lnSpc>
                <a:spcPts val="13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SQLite Database</a:t>
            </a:r>
            <a:endParaRPr lang="en-US" sz="1050" dirty="0"/>
          </a:p>
        </p:txBody>
      </p:sp>
      <p:sp>
        <p:nvSpPr>
          <p:cNvPr id="17" name="Text 14"/>
          <p:cNvSpPr/>
          <p:nvPr/>
        </p:nvSpPr>
        <p:spPr>
          <a:xfrm>
            <a:off x="396835" y="8651558"/>
            <a:ext cx="2106097" cy="212646"/>
          </a:xfrm>
          <a:prstGeom prst="rect">
            <a:avLst/>
          </a:prstGeom>
          <a:noFill/>
        </p:spPr>
        <p:txBody>
          <a:bodyPr wrap="none" lIns="0" tIns="0" rIns="0" bIns="0" rtlCol="0" anchor="t"/>
          <a:lstStyle/>
          <a:p>
            <a:pPr marL="0" indent="0" algn="l">
              <a:lnSpc>
                <a:spcPts val="1650"/>
              </a:lnSpc>
              <a:buNone/>
            </a:pPr>
            <a:r>
              <a:rPr lang="en-US" sz="1300" dirty="0">
                <a:solidFill>
                  <a:srgbClr val="091C53"/>
                </a:solidFill>
                <a:latin typeface="Instrument Sans Semi Bold" pitchFamily="34" charset="0"/>
                <a:ea typeface="Instrument Sans Semi Bold" pitchFamily="34" charset="-122"/>
                <a:cs typeface="Instrument Sans Semi Bold" pitchFamily="34" charset="-120"/>
              </a:rPr>
              <a:t>Essential Gadgets &amp; Tools!</a:t>
            </a:r>
            <a:endParaRPr lang="en-US" sz="1300" dirty="0"/>
          </a:p>
        </p:txBody>
      </p:sp>
      <p:sp>
        <p:nvSpPr>
          <p:cNvPr id="18" name="Text 15"/>
          <p:cNvSpPr/>
          <p:nvPr/>
        </p:nvSpPr>
        <p:spPr>
          <a:xfrm>
            <a:off x="396835" y="8977551"/>
            <a:ext cx="6780014"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1E3063"/>
                </a:solidFill>
                <a:latin typeface="Instrument Sans Medium" pitchFamily="34" charset="0"/>
                <a:ea typeface="Instrument Sans Medium" pitchFamily="34" charset="-122"/>
                <a:cs typeface="Instrument Sans Medium" pitchFamily="34" charset="-120"/>
              </a:rPr>
              <a:t>Anywhere Door Frontend:</a:t>
            </a:r>
            <a:r>
              <a:rPr lang="en-US" sz="850" dirty="0">
                <a:solidFill>
                  <a:srgbClr val="1E3063"/>
                </a:solidFill>
                <a:latin typeface="Instrument Sans Medium" pitchFamily="34" charset="0"/>
                <a:ea typeface="Instrument Sans Medium" pitchFamily="34" charset="-122"/>
                <a:cs typeface="Instrument Sans Medium" pitchFamily="34" charset="-120"/>
              </a:rPr>
              <a:t> </a:t>
            </a:r>
            <a:r>
              <a:rPr lang="en-US" sz="850" b="1" dirty="0">
                <a:solidFill>
                  <a:srgbClr val="1E3063"/>
                </a:solidFill>
                <a:latin typeface="Instrument Sans Medium" pitchFamily="34" charset="0"/>
                <a:ea typeface="Instrument Sans Medium" pitchFamily="34" charset="-122"/>
                <a:cs typeface="Instrument Sans Medium" pitchFamily="34" charset="-120"/>
              </a:rPr>
              <a:t>SvelteKit</a:t>
            </a:r>
            <a:r>
              <a:rPr lang="en-US" sz="850" dirty="0">
                <a:solidFill>
                  <a:srgbClr val="1E3063"/>
                </a:solidFill>
                <a:latin typeface="Instrument Sans Medium" pitchFamily="34" charset="0"/>
                <a:ea typeface="Instrument Sans Medium" pitchFamily="34" charset="-122"/>
                <a:cs typeface="Instrument Sans Medium" pitchFamily="34" charset="-120"/>
              </a:rPr>
              <a:t> (speedy as a rocket!), </a:t>
            </a:r>
            <a:r>
              <a:rPr lang="en-US" sz="850" b="1" dirty="0">
                <a:solidFill>
                  <a:srgbClr val="1E3063"/>
                </a:solidFill>
                <a:latin typeface="Instrument Sans Medium" pitchFamily="34" charset="0"/>
                <a:ea typeface="Instrument Sans Medium" pitchFamily="34" charset="-122"/>
                <a:cs typeface="Instrument Sans Medium" pitchFamily="34" charset="-120"/>
              </a:rPr>
              <a:t>Vite</a:t>
            </a:r>
            <a:r>
              <a:rPr lang="en-US" sz="850" dirty="0">
                <a:solidFill>
                  <a:srgbClr val="1E3063"/>
                </a:solidFill>
                <a:latin typeface="Instrument Sans Medium" pitchFamily="34" charset="0"/>
                <a:ea typeface="Instrument Sans Medium" pitchFamily="34" charset="-122"/>
                <a:cs typeface="Instrument Sans Medium" pitchFamily="34" charset="-120"/>
              </a:rPr>
              <a:t> (quick build-up), </a:t>
            </a:r>
            <a:r>
              <a:rPr lang="en-US" sz="850" b="1" dirty="0">
                <a:solidFill>
                  <a:srgbClr val="1E3063"/>
                </a:solidFill>
                <a:latin typeface="Instrument Sans Medium" pitchFamily="34" charset="0"/>
                <a:ea typeface="Instrument Sans Medium" pitchFamily="34" charset="-122"/>
                <a:cs typeface="Instrument Sans Medium" pitchFamily="34" charset="-120"/>
              </a:rPr>
              <a:t>TinyMCE</a:t>
            </a:r>
            <a:r>
              <a:rPr lang="en-US" sz="850" dirty="0">
                <a:solidFill>
                  <a:srgbClr val="1E3063"/>
                </a:solidFill>
                <a:latin typeface="Instrument Sans Medium" pitchFamily="34" charset="0"/>
                <a:ea typeface="Instrument Sans Medium" pitchFamily="34" charset="-122"/>
                <a:cs typeface="Instrument Sans Medium" pitchFamily="34" charset="-120"/>
              </a:rPr>
              <a:t> (message pen for rich text), </a:t>
            </a:r>
            <a:r>
              <a:rPr lang="en-US" sz="850" b="1" dirty="0">
                <a:solidFill>
                  <a:srgbClr val="1E3063"/>
                </a:solidFill>
                <a:latin typeface="Instrument Sans Medium" pitchFamily="34" charset="0"/>
                <a:ea typeface="Instrument Sans Medium" pitchFamily="34" charset="-122"/>
                <a:cs typeface="Instrument Sans Medium" pitchFamily="34" charset="-120"/>
              </a:rPr>
              <a:t>Responsive Design</a:t>
            </a:r>
            <a:r>
              <a:rPr lang="en-US" sz="850" dirty="0">
                <a:solidFill>
                  <a:srgbClr val="1E3063"/>
                </a:solidFill>
                <a:latin typeface="Instrument Sans Medium" pitchFamily="34" charset="0"/>
                <a:ea typeface="Instrument Sans Medium" pitchFamily="34" charset="-122"/>
                <a:cs typeface="Instrument Sans Medium" pitchFamily="34" charset="-120"/>
              </a:rPr>
              <a:t> (fits any situation, like Doraemon's adaptability!).</a:t>
            </a:r>
            <a:endParaRPr lang="en-US" sz="850" dirty="0"/>
          </a:p>
        </p:txBody>
      </p:sp>
      <p:sp>
        <p:nvSpPr>
          <p:cNvPr id="19" name="Text 16"/>
          <p:cNvSpPr/>
          <p:nvPr/>
        </p:nvSpPr>
        <p:spPr>
          <a:xfrm>
            <a:off x="396835" y="9380101"/>
            <a:ext cx="6780014"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1E3063"/>
                </a:solidFill>
                <a:latin typeface="Instrument Sans Medium" pitchFamily="34" charset="0"/>
                <a:ea typeface="Instrument Sans Medium" pitchFamily="34" charset="-122"/>
                <a:cs typeface="Instrument Sans Medium" pitchFamily="34" charset="-120"/>
              </a:rPr>
              <a:t>Gadget Control Center (Backend):</a:t>
            </a:r>
            <a:r>
              <a:rPr lang="en-US" sz="850" dirty="0">
                <a:solidFill>
                  <a:srgbClr val="1E3063"/>
                </a:solidFill>
                <a:latin typeface="Instrument Sans Medium" pitchFamily="34" charset="0"/>
                <a:ea typeface="Instrument Sans Medium" pitchFamily="34" charset="-122"/>
                <a:cs typeface="Instrument Sans Medium" pitchFamily="34" charset="-120"/>
              </a:rPr>
              <a:t> </a:t>
            </a:r>
            <a:r>
              <a:rPr lang="en-US" sz="850" b="1" dirty="0">
                <a:solidFill>
                  <a:srgbClr val="1E3063"/>
                </a:solidFill>
                <a:latin typeface="Instrument Sans Medium" pitchFamily="34" charset="0"/>
                <a:ea typeface="Instrument Sans Medium" pitchFamily="34" charset="-122"/>
                <a:cs typeface="Instrument Sans Medium" pitchFamily="34" charset="-120"/>
              </a:rPr>
              <a:t>Node.js</a:t>
            </a:r>
            <a:r>
              <a:rPr lang="en-US" sz="850" dirty="0">
                <a:solidFill>
                  <a:srgbClr val="1E3063"/>
                </a:solidFill>
                <a:latin typeface="Instrument Sans Medium" pitchFamily="34" charset="0"/>
                <a:ea typeface="Instrument Sans Medium" pitchFamily="34" charset="-122"/>
                <a:cs typeface="Instrument Sans Medium" pitchFamily="34" charset="-120"/>
              </a:rPr>
              <a:t> (our energy source), </a:t>
            </a:r>
            <a:r>
              <a:rPr lang="en-US" sz="850" b="1" dirty="0">
                <a:solidFill>
                  <a:srgbClr val="1E3063"/>
                </a:solidFill>
                <a:latin typeface="Instrument Sans Medium" pitchFamily="34" charset="0"/>
                <a:ea typeface="Instrument Sans Medium" pitchFamily="34" charset="-122"/>
                <a:cs typeface="Instrument Sans Medium" pitchFamily="34" charset="-120"/>
              </a:rPr>
              <a:t>Express</a:t>
            </a:r>
            <a:r>
              <a:rPr lang="en-US" sz="850" dirty="0">
                <a:solidFill>
                  <a:srgbClr val="1E3063"/>
                </a:solidFill>
                <a:latin typeface="Instrument Sans Medium" pitchFamily="34" charset="0"/>
                <a:ea typeface="Instrument Sans Medium" pitchFamily="34" charset="-122"/>
                <a:cs typeface="Instrument Sans Medium" pitchFamily="34" charset="-120"/>
              </a:rPr>
              <a:t> (fast travel routes), </a:t>
            </a:r>
            <a:r>
              <a:rPr lang="en-US" sz="850" b="1" dirty="0">
                <a:solidFill>
                  <a:srgbClr val="1E3063"/>
                </a:solidFill>
                <a:latin typeface="Instrument Sans Medium" pitchFamily="34" charset="0"/>
                <a:ea typeface="Instrument Sans Medium" pitchFamily="34" charset="-122"/>
                <a:cs typeface="Instrument Sans Medium" pitchFamily="34" charset="-120"/>
              </a:rPr>
              <a:t>RESTful API</a:t>
            </a:r>
            <a:r>
              <a:rPr lang="en-US" sz="850" dirty="0">
                <a:solidFill>
                  <a:srgbClr val="1E3063"/>
                </a:solidFill>
                <a:latin typeface="Instrument Sans Medium" pitchFamily="34" charset="0"/>
                <a:ea typeface="Instrument Sans Medium" pitchFamily="34" charset="-122"/>
                <a:cs typeface="Instrument Sans Medium" pitchFamily="34" charset="-120"/>
              </a:rPr>
              <a:t> (Anywhere Door endpoints!), </a:t>
            </a:r>
            <a:r>
              <a:rPr lang="en-US" sz="850" b="1" dirty="0">
                <a:solidFill>
                  <a:srgbClr val="1E3063"/>
                </a:solidFill>
                <a:latin typeface="Instrument Sans Medium" pitchFamily="34" charset="0"/>
                <a:ea typeface="Instrument Sans Medium" pitchFamily="34" charset="-122"/>
                <a:cs typeface="Instrument Sans Medium" pitchFamily="34" charset="-120"/>
              </a:rPr>
              <a:t>SQLite Database</a:t>
            </a:r>
            <a:r>
              <a:rPr lang="en-US" sz="850" dirty="0">
                <a:solidFill>
                  <a:srgbClr val="1E3063"/>
                </a:solidFill>
                <a:latin typeface="Instrument Sans Medium" pitchFamily="34" charset="0"/>
                <a:ea typeface="Instrument Sans Medium" pitchFamily="34" charset="-122"/>
                <a:cs typeface="Instrument Sans Medium" pitchFamily="34" charset="-120"/>
              </a:rPr>
              <a:t> (our 4D Pocket for memories!).</a:t>
            </a:r>
            <a:endParaRPr lang="en-US" sz="850" dirty="0"/>
          </a:p>
        </p:txBody>
      </p:sp>
      <p:sp>
        <p:nvSpPr>
          <p:cNvPr id="20" name="Text 17"/>
          <p:cNvSpPr/>
          <p:nvPr/>
        </p:nvSpPr>
        <p:spPr>
          <a:xfrm>
            <a:off x="396835" y="9782651"/>
            <a:ext cx="6780014"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1E3063"/>
                </a:solidFill>
                <a:latin typeface="Instrument Sans Medium" pitchFamily="34" charset="0"/>
                <a:ea typeface="Instrument Sans Medium" pitchFamily="34" charset="-122"/>
                <a:cs typeface="Instrument Sans Medium" pitchFamily="34" charset="-120"/>
              </a:rPr>
              <a:t>Time Machine Admin Console:</a:t>
            </a:r>
            <a:r>
              <a:rPr lang="en-US" sz="850" dirty="0">
                <a:solidFill>
                  <a:srgbClr val="1E3063"/>
                </a:solidFill>
                <a:latin typeface="Instrument Sans Medium" pitchFamily="34" charset="0"/>
                <a:ea typeface="Instrument Sans Medium" pitchFamily="34" charset="-122"/>
                <a:cs typeface="Instrument Sans Medium" pitchFamily="34" charset="-120"/>
              </a:rPr>
              <a:t> </a:t>
            </a:r>
            <a:r>
              <a:rPr lang="en-US" sz="850" b="1" dirty="0">
                <a:solidFill>
                  <a:srgbClr val="1E3063"/>
                </a:solidFill>
                <a:latin typeface="Instrument Sans Medium" pitchFamily="34" charset="0"/>
                <a:ea typeface="Instrument Sans Medium" pitchFamily="34" charset="-122"/>
                <a:cs typeface="Instrument Sans Medium" pitchFamily="34" charset="-120"/>
              </a:rPr>
              <a:t>Java Swing</a:t>
            </a:r>
            <a:r>
              <a:rPr lang="en-US" sz="850" dirty="0">
                <a:solidFill>
                  <a:srgbClr val="1E3063"/>
                </a:solidFill>
                <a:latin typeface="Instrument Sans Medium" pitchFamily="34" charset="0"/>
                <a:ea typeface="Instrument Sans Medium" pitchFamily="34" charset="-122"/>
                <a:cs typeface="Instrument Sans Medium" pitchFamily="34" charset="-120"/>
              </a:rPr>
              <a:t> (sturdy control panel), </a:t>
            </a:r>
            <a:r>
              <a:rPr lang="en-US" sz="850" b="1" dirty="0">
                <a:solidFill>
                  <a:srgbClr val="1E3063"/>
                </a:solidFill>
                <a:latin typeface="Instrument Sans Medium" pitchFamily="34" charset="0"/>
                <a:ea typeface="Instrument Sans Medium" pitchFamily="34" charset="-122"/>
                <a:cs typeface="Instrument Sans Medium" pitchFamily="34" charset="-120"/>
              </a:rPr>
              <a:t>Jackson</a:t>
            </a:r>
            <a:r>
              <a:rPr lang="en-US" sz="850" dirty="0">
                <a:solidFill>
                  <a:srgbClr val="1E3063"/>
                </a:solidFill>
                <a:latin typeface="Instrument Sans Medium" pitchFamily="34" charset="0"/>
                <a:ea typeface="Instrument Sans Medium" pitchFamily="34" charset="-122"/>
                <a:cs typeface="Instrument Sans Medium" pitchFamily="34" charset="-120"/>
              </a:rPr>
              <a:t> (gadget translator for JSON), </a:t>
            </a:r>
            <a:r>
              <a:rPr lang="en-US" sz="850" b="1" dirty="0">
                <a:solidFill>
                  <a:srgbClr val="1E3063"/>
                </a:solidFill>
                <a:latin typeface="Instrument Sans Medium" pitchFamily="34" charset="0"/>
                <a:ea typeface="Instrument Sans Medium" pitchFamily="34" charset="-122"/>
                <a:cs typeface="Instrument Sans Medium" pitchFamily="34" charset="-120"/>
              </a:rPr>
              <a:t>HTTP Client</a:t>
            </a:r>
            <a:r>
              <a:rPr lang="en-US" sz="850" dirty="0">
                <a:solidFill>
                  <a:srgbClr val="1E3063"/>
                </a:solidFill>
                <a:latin typeface="Instrument Sans Medium" pitchFamily="34" charset="0"/>
                <a:ea typeface="Instrument Sans Medium" pitchFamily="34" charset="-122"/>
                <a:cs typeface="Instrument Sans Medium" pitchFamily="34" charset="-120"/>
              </a:rPr>
              <a:t> (time-travel communication!).</a:t>
            </a:r>
            <a:endParaRPr lang="en-US" sz="850" dirty="0"/>
          </a:p>
        </p:txBody>
      </p:sp>
      <p:sp>
        <p:nvSpPr>
          <p:cNvPr id="21" name="Text 18"/>
          <p:cNvSpPr/>
          <p:nvPr/>
        </p:nvSpPr>
        <p:spPr>
          <a:xfrm>
            <a:off x="7461171" y="8651558"/>
            <a:ext cx="4006453" cy="212646"/>
          </a:xfrm>
          <a:prstGeom prst="rect">
            <a:avLst/>
          </a:prstGeom>
          <a:noFill/>
        </p:spPr>
        <p:txBody>
          <a:bodyPr wrap="none" lIns="0" tIns="0" rIns="0" bIns="0" rtlCol="0" anchor="t"/>
          <a:lstStyle/>
          <a:p>
            <a:pPr marL="0" indent="0" algn="l">
              <a:lnSpc>
                <a:spcPts val="1650"/>
              </a:lnSpc>
              <a:buNone/>
            </a:pPr>
            <a:r>
              <a:rPr lang="en-US" sz="1300" dirty="0">
                <a:solidFill>
                  <a:srgbClr val="091C53"/>
                </a:solidFill>
                <a:latin typeface="Instrument Sans Semi Bold" pitchFamily="34" charset="0"/>
                <a:ea typeface="Instrument Sans Semi Bold" pitchFamily="34" charset="-122"/>
                <a:cs typeface="Instrument Sans Semi Bold" pitchFamily="34" charset="-120"/>
              </a:rPr>
              <a:t>Doraemon's Safety Protocols &amp; Blueprint Creation!</a:t>
            </a:r>
            <a:endParaRPr lang="en-US" sz="1300" dirty="0"/>
          </a:p>
        </p:txBody>
      </p:sp>
      <p:sp>
        <p:nvSpPr>
          <p:cNvPr id="22" name="Text 19"/>
          <p:cNvSpPr/>
          <p:nvPr/>
        </p:nvSpPr>
        <p:spPr>
          <a:xfrm>
            <a:off x="7461171" y="8977551"/>
            <a:ext cx="6780014"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1E3063"/>
                </a:solidFill>
                <a:latin typeface="Instrument Sans Medium" pitchFamily="34" charset="0"/>
                <a:ea typeface="Instrument Sans Medium" pitchFamily="34" charset="-122"/>
                <a:cs typeface="Instrument Sans Medium" pitchFamily="34" charset="-120"/>
              </a:rPr>
              <a:t>Secret Identity Badges:</a:t>
            </a:r>
            <a:r>
              <a:rPr lang="en-US" sz="850" dirty="0">
                <a:solidFill>
                  <a:srgbClr val="1E3063"/>
                </a:solidFill>
                <a:latin typeface="Instrument Sans Medium" pitchFamily="34" charset="0"/>
                <a:ea typeface="Instrument Sans Medium" pitchFamily="34" charset="-122"/>
                <a:cs typeface="Instrument Sans Medium" pitchFamily="34" charset="-120"/>
              </a:rPr>
              <a:t> </a:t>
            </a:r>
            <a:r>
              <a:rPr lang="en-US" sz="850" b="1" dirty="0">
                <a:solidFill>
                  <a:srgbClr val="1E3063"/>
                </a:solidFill>
                <a:latin typeface="Instrument Sans Medium" pitchFamily="34" charset="0"/>
                <a:ea typeface="Instrument Sans Medium" pitchFamily="34" charset="-122"/>
                <a:cs typeface="Instrument Sans Medium" pitchFamily="34" charset="-120"/>
              </a:rPr>
              <a:t>Bcrypt Password Hashing</a:t>
            </a:r>
            <a:r>
              <a:rPr lang="en-US" sz="850" dirty="0">
                <a:solidFill>
                  <a:srgbClr val="1E3063"/>
                </a:solidFill>
                <a:latin typeface="Instrument Sans Medium" pitchFamily="34" charset="0"/>
                <a:ea typeface="Instrument Sans Medium" pitchFamily="34" charset="-122"/>
                <a:cs typeface="Instrument Sans Medium" pitchFamily="34" charset="-120"/>
              </a:rPr>
              <a:t> (super secure code lock), </a:t>
            </a:r>
            <a:r>
              <a:rPr lang="en-US" sz="850" b="1" dirty="0">
                <a:solidFill>
                  <a:srgbClr val="1E3063"/>
                </a:solidFill>
                <a:latin typeface="Instrument Sans Medium" pitchFamily="34" charset="0"/>
                <a:ea typeface="Instrument Sans Medium" pitchFamily="34" charset="-122"/>
                <a:cs typeface="Instrument Sans Medium" pitchFamily="34" charset="-120"/>
              </a:rPr>
              <a:t>JWT Token Authentication</a:t>
            </a:r>
            <a:r>
              <a:rPr lang="en-US" sz="850" dirty="0">
                <a:solidFill>
                  <a:srgbClr val="1E3063"/>
                </a:solidFill>
                <a:latin typeface="Instrument Sans Medium" pitchFamily="34" charset="0"/>
                <a:ea typeface="Instrument Sans Medium" pitchFamily="34" charset="-122"/>
                <a:cs typeface="Instrument Sans Medium" pitchFamily="34" charset="-120"/>
              </a:rPr>
              <a:t> (personal ID pass), </a:t>
            </a:r>
            <a:r>
              <a:rPr lang="en-US" sz="850" b="1" dirty="0">
                <a:solidFill>
                  <a:srgbClr val="1E3063"/>
                </a:solidFill>
                <a:latin typeface="Instrument Sans Medium" pitchFamily="34" charset="0"/>
                <a:ea typeface="Instrument Sans Medium" pitchFamily="34" charset="-122"/>
                <a:cs typeface="Instrument Sans Medium" pitchFamily="34" charset="-120"/>
              </a:rPr>
              <a:t>CORS Configuration</a:t>
            </a:r>
            <a:r>
              <a:rPr lang="en-US" sz="850" dirty="0">
                <a:solidFill>
                  <a:srgbClr val="1E3063"/>
                </a:solidFill>
                <a:latin typeface="Instrument Sans Medium" pitchFamily="34" charset="0"/>
                <a:ea typeface="Instrument Sans Medium" pitchFamily="34" charset="-122"/>
                <a:cs typeface="Instrument Sans Medium" pitchFamily="34" charset="-120"/>
              </a:rPr>
              <a:t> (friendship ring for connections!).</a:t>
            </a:r>
            <a:endParaRPr lang="en-US" sz="850" dirty="0"/>
          </a:p>
        </p:txBody>
      </p:sp>
      <p:sp>
        <p:nvSpPr>
          <p:cNvPr id="23" name="Text 20"/>
          <p:cNvSpPr/>
          <p:nvPr/>
        </p:nvSpPr>
        <p:spPr>
          <a:xfrm>
            <a:off x="7461171" y="9380101"/>
            <a:ext cx="6780014"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1E3063"/>
                </a:solidFill>
                <a:latin typeface="Instrument Sans Medium" pitchFamily="34" charset="0"/>
                <a:ea typeface="Instrument Sans Medium" pitchFamily="34" charset="-122"/>
                <a:cs typeface="Instrument Sans Medium" pitchFamily="34" charset="-120"/>
              </a:rPr>
              <a:t>Blueprint Quality Tools:</a:t>
            </a:r>
            <a:r>
              <a:rPr lang="en-US" sz="850" dirty="0">
                <a:solidFill>
                  <a:srgbClr val="1E3063"/>
                </a:solidFill>
                <a:latin typeface="Instrument Sans Medium" pitchFamily="34" charset="0"/>
                <a:ea typeface="Instrument Sans Medium" pitchFamily="34" charset="-122"/>
                <a:cs typeface="Instrument Sans Medium" pitchFamily="34" charset="-120"/>
              </a:rPr>
              <a:t> </a:t>
            </a:r>
            <a:r>
              <a:rPr lang="en-US" sz="850" b="1" dirty="0">
                <a:solidFill>
                  <a:srgbClr val="1E3063"/>
                </a:solidFill>
                <a:latin typeface="Instrument Sans Medium" pitchFamily="34" charset="0"/>
                <a:ea typeface="Instrument Sans Medium" pitchFamily="34" charset="-122"/>
                <a:cs typeface="Instrument Sans Medium" pitchFamily="34" charset="-120"/>
              </a:rPr>
              <a:t>Git</a:t>
            </a:r>
            <a:r>
              <a:rPr lang="en-US" sz="850" dirty="0">
                <a:solidFill>
                  <a:srgbClr val="1E3063"/>
                </a:solidFill>
                <a:latin typeface="Instrument Sans Medium" pitchFamily="34" charset="0"/>
                <a:ea typeface="Instrument Sans Medium" pitchFamily="34" charset="-122"/>
                <a:cs typeface="Instrument Sans Medium" pitchFamily="34" charset="-120"/>
              </a:rPr>
              <a:t> (Time Machine for version control &amp; PR workflow), </a:t>
            </a:r>
            <a:r>
              <a:rPr lang="en-US" sz="850" b="1" dirty="0">
                <a:solidFill>
                  <a:srgbClr val="1E3063"/>
                </a:solidFill>
                <a:latin typeface="Instrument Sans Medium" pitchFamily="34" charset="0"/>
                <a:ea typeface="Instrument Sans Medium" pitchFamily="34" charset="-122"/>
                <a:cs typeface="Instrument Sans Medium" pitchFamily="34" charset="-120"/>
              </a:rPr>
              <a:t>Prettier</a:t>
            </a:r>
            <a:r>
              <a:rPr lang="en-US" sz="850" dirty="0">
                <a:solidFill>
                  <a:srgbClr val="1E3063"/>
                </a:solidFill>
                <a:latin typeface="Instrument Sans Medium" pitchFamily="34" charset="0"/>
                <a:ea typeface="Instrument Sans Medium" pitchFamily="34" charset="-122"/>
                <a:cs typeface="Instrument Sans Medium" pitchFamily="34" charset="-120"/>
              </a:rPr>
              <a:t> (neat-freak for code formatting), </a:t>
            </a:r>
            <a:r>
              <a:rPr lang="en-US" sz="850" b="1" dirty="0">
                <a:solidFill>
                  <a:srgbClr val="1E3063"/>
                </a:solidFill>
                <a:latin typeface="Instrument Sans Medium" pitchFamily="34" charset="0"/>
                <a:ea typeface="Instrument Sans Medium" pitchFamily="34" charset="-122"/>
                <a:cs typeface="Instrument Sans Medium" pitchFamily="34" charset="-120"/>
              </a:rPr>
              <a:t>ESLint</a:t>
            </a:r>
            <a:r>
              <a:rPr lang="en-US" sz="850" dirty="0">
                <a:solidFill>
                  <a:srgbClr val="1E3063"/>
                </a:solidFill>
                <a:latin typeface="Instrument Sans Medium" pitchFamily="34" charset="0"/>
                <a:ea typeface="Instrument Sans Medium" pitchFamily="34" charset="-122"/>
                <a:cs typeface="Instrument Sans Medium" pitchFamily="34" charset="-120"/>
              </a:rPr>
              <a:t> (check-up robot for code quality!).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5935742" y="559475"/>
            <a:ext cx="8245316" cy="802481"/>
          </a:xfrm>
          <a:prstGeom prst="rect">
            <a:avLst/>
          </a:prstGeom>
          <a:noFill/>
        </p:spPr>
        <p:txBody>
          <a:bodyPr wrap="square" lIns="0" tIns="0" rIns="0" bIns="0" rtlCol="0" anchor="t"/>
          <a:lstStyle/>
          <a:p>
            <a:pPr marL="0" indent="0" algn="l">
              <a:lnSpc>
                <a:spcPts val="3150"/>
              </a:lnSpc>
              <a:buNone/>
            </a:pPr>
            <a:r>
              <a:rPr lang="en-US" sz="2500" dirty="0">
                <a:solidFill>
                  <a:srgbClr val="091C53"/>
                </a:solidFill>
                <a:latin typeface="Instrument Sans Semi Bold" pitchFamily="34" charset="0"/>
                <a:ea typeface="Instrument Sans Semi Bold" pitchFamily="34" charset="-122"/>
                <a:cs typeface="Instrument Sans Semi Bold" pitchFamily="34" charset="-120"/>
              </a:rPr>
              <a:t>Doraemon's Core Gadgets for an Excellent User Experience</a:t>
            </a:r>
            <a:endParaRPr lang="en-US" sz="2500" dirty="0"/>
          </a:p>
        </p:txBody>
      </p:sp>
      <p:pic>
        <p:nvPicPr>
          <p:cNvPr id="4"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35742" y="1554480"/>
            <a:ext cx="385167" cy="385167"/>
          </a:xfrm>
          <a:prstGeom prst="rect">
            <a:avLst/>
          </a:prstGeom>
        </p:spPr>
      </p:pic>
      <p:sp>
        <p:nvSpPr>
          <p:cNvPr id="5" name="Text 1"/>
          <p:cNvSpPr/>
          <p:nvPr/>
        </p:nvSpPr>
        <p:spPr>
          <a:xfrm>
            <a:off x="5935742" y="2100024"/>
            <a:ext cx="2471976" cy="200620"/>
          </a:xfrm>
          <a:prstGeom prst="rect">
            <a:avLst/>
          </a:prstGeom>
          <a:noFill/>
        </p:spPr>
        <p:txBody>
          <a:bodyPr wrap="none" lIns="0" tIns="0" rIns="0" bIns="0" rtlCol="0" anchor="t"/>
          <a:lstStyle/>
          <a:p>
            <a:pPr marL="0" indent="0" algn="l">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Gadget-Proof User Management</a:t>
            </a:r>
            <a:endParaRPr lang="en-US" sz="1250" dirty="0"/>
          </a:p>
        </p:txBody>
      </p:sp>
      <p:sp>
        <p:nvSpPr>
          <p:cNvPr id="6" name="Text 2"/>
          <p:cNvSpPr/>
          <p:nvPr/>
        </p:nvSpPr>
        <p:spPr>
          <a:xfrm>
            <a:off x="5935742" y="2377678"/>
            <a:ext cx="8245316" cy="410527"/>
          </a:xfrm>
          <a:prstGeom prst="rect">
            <a:avLst/>
          </a:prstGeom>
          <a:noFill/>
        </p:spPr>
        <p:txBody>
          <a:bodyPr wrap="square" lIns="0" tIns="0" rIns="0" bIns="0" rtlCol="0" anchor="t"/>
          <a:lstStyle/>
          <a:p>
            <a:pPr marL="0" indent="0" algn="l">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With security as tight as Doraemon's secret pocket, we feature gadget-proof registration, robust password validation, customizable profiles (choose your favorite robotic cat avatar!), and persistent session authentication – keeping your data safe and sound.</a:t>
            </a:r>
            <a:endParaRPr lang="en-US" sz="1000" dirty="0"/>
          </a:p>
        </p:txBody>
      </p:sp>
      <p:pic>
        <p:nvPicPr>
          <p:cNvPr id="7"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5935742" y="3044904"/>
            <a:ext cx="385167" cy="385167"/>
          </a:xfrm>
          <a:prstGeom prst="rect">
            <a:avLst/>
          </a:prstGeom>
        </p:spPr>
      </p:pic>
      <p:sp>
        <p:nvSpPr>
          <p:cNvPr id="8" name="Text 3"/>
          <p:cNvSpPr/>
          <p:nvPr/>
        </p:nvSpPr>
        <p:spPr>
          <a:xfrm>
            <a:off x="5935742" y="3590449"/>
            <a:ext cx="2708434" cy="200620"/>
          </a:xfrm>
          <a:prstGeom prst="rect">
            <a:avLst/>
          </a:prstGeom>
          <a:noFill/>
        </p:spPr>
        <p:txBody>
          <a:bodyPr wrap="none" lIns="0" tIns="0" rIns="0" bIns="0" rtlCol="0" anchor="t"/>
          <a:lstStyle/>
          <a:p>
            <a:pPr marL="0" indent="0" algn="l">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"Copying Toaster" Content Creation</a:t>
            </a:r>
            <a:endParaRPr lang="en-US" sz="1250" dirty="0"/>
          </a:p>
        </p:txBody>
      </p:sp>
      <p:sp>
        <p:nvSpPr>
          <p:cNvPr id="9" name="Text 4"/>
          <p:cNvSpPr/>
          <p:nvPr/>
        </p:nvSpPr>
        <p:spPr>
          <a:xfrm>
            <a:off x="5935742" y="3868103"/>
            <a:ext cx="8245316" cy="615791"/>
          </a:xfrm>
          <a:prstGeom prst="rect">
            <a:avLst/>
          </a:prstGeom>
          <a:noFill/>
        </p:spPr>
        <p:txBody>
          <a:bodyPr wrap="square" lIns="0" tIns="0" rIns="0" bIns="0" rtlCol="0" anchor="t"/>
          <a:lstStyle/>
          <a:p>
            <a:pPr marL="0" indent="0" algn="l">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Unleash your inner inventor with our full-featured rich text editor, as versatile as a "Copying Toaster"! It includes seamless image uploads, smart article tagging for organization (keeping your ideas tidy, just like Doraemon's pocket), and smooth draft-to-publish workflows for your brilliant posts.</a:t>
            </a:r>
            <a:endParaRPr lang="en-US" sz="1000" dirty="0"/>
          </a:p>
        </p:txBody>
      </p:sp>
      <p:pic>
        <p:nvPicPr>
          <p:cNvPr id="10"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5935742" y="4740593"/>
            <a:ext cx="385167" cy="385167"/>
          </a:xfrm>
          <a:prstGeom prst="rect">
            <a:avLst/>
          </a:prstGeom>
        </p:spPr>
      </p:pic>
      <p:sp>
        <p:nvSpPr>
          <p:cNvPr id="11" name="Text 5"/>
          <p:cNvSpPr/>
          <p:nvPr/>
        </p:nvSpPr>
        <p:spPr>
          <a:xfrm>
            <a:off x="5935742" y="5286137"/>
            <a:ext cx="2637949" cy="200620"/>
          </a:xfrm>
          <a:prstGeom prst="rect">
            <a:avLst/>
          </a:prstGeom>
          <a:noFill/>
        </p:spPr>
        <p:txBody>
          <a:bodyPr wrap="none" lIns="0" tIns="0" rIns="0" bIns="0" rtlCol="0" anchor="t"/>
          <a:lstStyle/>
          <a:p>
            <a:pPr marL="0" indent="0" algn="l">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"Anywhere Door" Social Interaction</a:t>
            </a:r>
            <a:endParaRPr lang="en-US" sz="1250" dirty="0"/>
          </a:p>
        </p:txBody>
      </p:sp>
      <p:sp>
        <p:nvSpPr>
          <p:cNvPr id="12" name="Text 6"/>
          <p:cNvSpPr/>
          <p:nvPr/>
        </p:nvSpPr>
        <p:spPr>
          <a:xfrm>
            <a:off x="5935742" y="5563791"/>
            <a:ext cx="8245316" cy="410527"/>
          </a:xfrm>
          <a:prstGeom prst="rect">
            <a:avLst/>
          </a:prstGeom>
          <a:noFill/>
        </p:spPr>
        <p:txBody>
          <a:bodyPr wrap="square" lIns="0" tIns="0" rIns="0" bIns="0" rtlCol="0" anchor="t"/>
          <a:lstStyle/>
          <a:p>
            <a:pPr marL="0" indent="0" algn="l">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Connect with fellow adventurers using our multi-level comment threads (like opening an "Anywhere Door" to conversation!), intuitive like/unlike functionality, and user profiles that proudly display all your published articles. It's like a virtual gathering with Nobita and friends!</a:t>
            </a:r>
            <a:endParaRPr lang="en-US" sz="1000" dirty="0"/>
          </a:p>
        </p:txBody>
      </p:sp>
      <p:pic>
        <p:nvPicPr>
          <p:cNvPr id="13" name="Image 4" descr="preencoded.png"/>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5935742" y="6231017"/>
            <a:ext cx="385167" cy="385167"/>
          </a:xfrm>
          <a:prstGeom prst="rect">
            <a:avLst/>
          </a:prstGeom>
        </p:spPr>
      </p:pic>
      <p:sp>
        <p:nvSpPr>
          <p:cNvPr id="14" name="Text 7"/>
          <p:cNvSpPr/>
          <p:nvPr/>
        </p:nvSpPr>
        <p:spPr>
          <a:xfrm>
            <a:off x="5935742" y="6776561"/>
            <a:ext cx="2324814" cy="200620"/>
          </a:xfrm>
          <a:prstGeom prst="rect">
            <a:avLst/>
          </a:prstGeom>
          <a:noFill/>
        </p:spPr>
        <p:txBody>
          <a:bodyPr wrap="none" lIns="0" tIns="0" rIns="0" bIns="0" rtlCol="0" anchor="t"/>
          <a:lstStyle/>
          <a:p>
            <a:pPr marL="0" indent="0" algn="l">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"Searchlight" Article Discovery</a:t>
            </a:r>
            <a:endParaRPr lang="en-US" sz="1250" dirty="0"/>
          </a:p>
        </p:txBody>
      </p:sp>
      <p:sp>
        <p:nvSpPr>
          <p:cNvPr id="15" name="Text 8"/>
          <p:cNvSpPr/>
          <p:nvPr/>
        </p:nvSpPr>
        <p:spPr>
          <a:xfrm>
            <a:off x="5935742" y="7054215"/>
            <a:ext cx="8245316" cy="615791"/>
          </a:xfrm>
          <a:prstGeom prst="rect">
            <a:avLst/>
          </a:prstGeom>
          <a:noFill/>
        </p:spPr>
        <p:txBody>
          <a:bodyPr wrap="square" lIns="0" tIns="0" rIns="0" bIns="0" rtlCol="0" anchor="t"/>
          <a:lstStyle/>
          <a:p>
            <a:pPr marL="0" indent="0" algn="l">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Find your next great read with ease using our powerful "Searchlight" tools! Supports keyword search across titles, content, and authors, provides smart related article recommendations, and offers flexible tag-based filtering to guide you through the universe of DoraBlog posts.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4370" y="685562"/>
            <a:ext cx="6719888" cy="602099"/>
          </a:xfrm>
          <a:prstGeom prst="rect">
            <a:avLst/>
          </a:prstGeom>
          <a:noFill/>
        </p:spPr>
        <p:txBody>
          <a:bodyPr wrap="none" lIns="0" tIns="0" rIns="0" bIns="0" rtlCol="0" anchor="t"/>
          <a:lstStyle/>
          <a:p>
            <a:pPr marL="0" indent="0" algn="l">
              <a:lnSpc>
                <a:spcPts val="4700"/>
              </a:lnSpc>
              <a:buNone/>
            </a:pPr>
            <a:r>
              <a:rPr lang="en-US" sz="3750" dirty="0">
                <a:solidFill>
                  <a:srgbClr val="091C53"/>
                </a:solidFill>
                <a:latin typeface="Instrument Sans Semi Bold" pitchFamily="34" charset="0"/>
                <a:ea typeface="Instrument Sans Semi Bold" pitchFamily="34" charset="-122"/>
                <a:cs typeface="Instrument Sans Semi Bold" pitchFamily="34" charset="-120"/>
              </a:rPr>
              <a:t>Comments components(Leo)</a:t>
            </a:r>
            <a:endParaRPr lang="en-US" sz="3750" dirty="0"/>
          </a:p>
        </p:txBody>
      </p:sp>
      <p:pic>
        <p:nvPicPr>
          <p:cNvPr id="3" name="Image 0" descr="preencoded.png"/>
          <p:cNvPicPr>
            <a:picLocks noChangeAspect="1"/>
          </p:cNvPicPr>
          <p:nvPr/>
        </p:nvPicPr>
        <p:blipFill>
          <a:blip r:embed="rId1"/>
          <a:stretch>
            <a:fillRect/>
          </a:stretch>
        </p:blipFill>
        <p:spPr>
          <a:xfrm>
            <a:off x="674370" y="1793319"/>
            <a:ext cx="4023003" cy="4357330"/>
          </a:xfrm>
          <a:prstGeom prst="rect">
            <a:avLst/>
          </a:prstGeom>
        </p:spPr>
      </p:pic>
      <p:sp>
        <p:nvSpPr>
          <p:cNvPr id="4" name="Text 1"/>
          <p:cNvSpPr/>
          <p:nvPr/>
        </p:nvSpPr>
        <p:spPr>
          <a:xfrm>
            <a:off x="674370" y="6367343"/>
            <a:ext cx="2408515" cy="300990"/>
          </a:xfrm>
          <a:prstGeom prst="rect">
            <a:avLst/>
          </a:prstGeom>
          <a:noFill/>
        </p:spPr>
        <p:txBody>
          <a:bodyPr wrap="none" lIns="0" tIns="0" rIns="0" bIns="0" rtlCol="0" anchor="t"/>
          <a:lstStyle/>
          <a:p>
            <a:pPr marL="0" indent="0" algn="l">
              <a:lnSpc>
                <a:spcPts val="2350"/>
              </a:lnSpc>
              <a:buNone/>
            </a:pPr>
            <a:r>
              <a:rPr lang="en-US" sz="1850" dirty="0">
                <a:solidFill>
                  <a:srgbClr val="091C53"/>
                </a:solidFill>
                <a:latin typeface="Instrument Sans Semi Bold" pitchFamily="34" charset="0"/>
                <a:ea typeface="Instrument Sans Semi Bold" pitchFamily="34" charset="-122"/>
                <a:cs typeface="Instrument Sans Semi Bold" pitchFamily="34" charset="-120"/>
              </a:rPr>
              <a:t>Graphic UI</a:t>
            </a:r>
            <a:endParaRPr lang="en-US" sz="1850" dirty="0"/>
          </a:p>
        </p:txBody>
      </p:sp>
      <p:sp>
        <p:nvSpPr>
          <p:cNvPr id="5" name="Text 2"/>
          <p:cNvSpPr/>
          <p:nvPr/>
        </p:nvSpPr>
        <p:spPr>
          <a:xfrm>
            <a:off x="674370" y="6860977"/>
            <a:ext cx="6405801" cy="308134"/>
          </a:xfrm>
          <a:prstGeom prst="rect">
            <a:avLst/>
          </a:prstGeom>
          <a:noFill/>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CommentsList → CommentItem : svelte:self</a:t>
            </a:r>
            <a:endParaRPr lang="en-US" sz="1500" dirty="0"/>
          </a:p>
        </p:txBody>
      </p:sp>
      <p:pic>
        <p:nvPicPr>
          <p:cNvPr id="6" name="Image 1" descr="preencoded.png"/>
          <p:cNvPicPr>
            <a:picLocks noChangeAspect="1"/>
          </p:cNvPicPr>
          <p:nvPr/>
        </p:nvPicPr>
        <p:blipFill>
          <a:blip r:embed="rId2"/>
          <a:stretch>
            <a:fillRect/>
          </a:stretch>
        </p:blipFill>
        <p:spPr>
          <a:xfrm>
            <a:off x="7557849" y="1793319"/>
            <a:ext cx="2846665" cy="4558784"/>
          </a:xfrm>
          <a:prstGeom prst="rect">
            <a:avLst/>
          </a:prstGeom>
        </p:spPr>
      </p:pic>
      <p:sp>
        <p:nvSpPr>
          <p:cNvPr id="7" name="Text 3"/>
          <p:cNvSpPr/>
          <p:nvPr/>
        </p:nvSpPr>
        <p:spPr>
          <a:xfrm>
            <a:off x="7557849" y="6568797"/>
            <a:ext cx="2408515" cy="300990"/>
          </a:xfrm>
          <a:prstGeom prst="rect">
            <a:avLst/>
          </a:prstGeom>
          <a:noFill/>
        </p:spPr>
        <p:txBody>
          <a:bodyPr wrap="none" lIns="0" tIns="0" rIns="0" bIns="0" rtlCol="0" anchor="t"/>
          <a:lstStyle/>
          <a:p>
            <a:pPr marL="0" indent="0" algn="l">
              <a:lnSpc>
                <a:spcPts val="2350"/>
              </a:lnSpc>
              <a:buNone/>
            </a:pPr>
            <a:r>
              <a:rPr lang="en-US" sz="1850" dirty="0">
                <a:solidFill>
                  <a:srgbClr val="091C53"/>
                </a:solidFill>
                <a:latin typeface="Instrument Sans Semi Bold" pitchFamily="34" charset="0"/>
                <a:ea typeface="Instrument Sans Semi Bold" pitchFamily="34" charset="-122"/>
                <a:cs typeface="Instrument Sans Semi Bold" pitchFamily="34" charset="-120"/>
              </a:rPr>
              <a:t>API response</a:t>
            </a:r>
            <a:endParaRPr lang="en-US" sz="1850" dirty="0"/>
          </a:p>
        </p:txBody>
      </p:sp>
      <p:sp>
        <p:nvSpPr>
          <p:cNvPr id="8" name="Text 4"/>
          <p:cNvSpPr/>
          <p:nvPr/>
        </p:nvSpPr>
        <p:spPr>
          <a:xfrm>
            <a:off x="7557849" y="7062430"/>
            <a:ext cx="6405801" cy="308134"/>
          </a:xfrm>
          <a:prstGeom prst="rect">
            <a:avLst/>
          </a:prstGeom>
          <a:noFill/>
        </p:spPr>
        <p:txBody>
          <a:bodyPr wrap="none" lIns="0" tIns="0" rIns="0" bIns="0" rtlCol="0" anchor="t"/>
          <a:lstStyle/>
          <a:p>
            <a:pPr marL="0" indent="0" algn="l">
              <a:lnSpc>
                <a:spcPts val="240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parentCommentId &amp; childrenComments contribute to different depth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93458"/>
            <a:ext cx="8487608" cy="708779"/>
          </a:xfrm>
          <a:prstGeom prst="rect">
            <a:avLst/>
          </a:prstGeom>
          <a:noFill/>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JAVA management system(Leo)</a:t>
            </a:r>
            <a:endParaRPr lang="en-US" sz="4450" dirty="0"/>
          </a:p>
        </p:txBody>
      </p:sp>
      <p:sp>
        <p:nvSpPr>
          <p:cNvPr id="3" name="Text 1"/>
          <p:cNvSpPr/>
          <p:nvPr/>
        </p:nvSpPr>
        <p:spPr>
          <a:xfrm>
            <a:off x="793790" y="2246471"/>
            <a:ext cx="6244709" cy="1088708"/>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Main file: User(pojos), AdminFrame(view), AdminController, UserModel(TableModel &amp; observer), API</a:t>
            </a:r>
            <a:endParaRPr lang="en-US" sz="1750" dirty="0"/>
          </a:p>
        </p:txBody>
      </p:sp>
      <p:sp>
        <p:nvSpPr>
          <p:cNvPr id="4" name="Text 2"/>
          <p:cNvSpPr/>
          <p:nvPr/>
        </p:nvSpPr>
        <p:spPr>
          <a:xfrm>
            <a:off x="793790" y="3414474"/>
            <a:ext cx="6244709"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AdminFrame with BorderLayout</a:t>
            </a:r>
            <a:endParaRPr lang="en-US" sz="1750" dirty="0"/>
          </a:p>
        </p:txBody>
      </p:sp>
      <p:sp>
        <p:nvSpPr>
          <p:cNvPr id="5" name="Text 3"/>
          <p:cNvSpPr/>
          <p:nvPr/>
        </p:nvSpPr>
        <p:spPr>
          <a:xfrm>
            <a:off x="793790" y="3856672"/>
            <a:ext cx="6244709"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AdminController deals with click action</a:t>
            </a:r>
            <a:endParaRPr lang="en-US" sz="1750" dirty="0"/>
          </a:p>
        </p:txBody>
      </p:sp>
      <p:sp>
        <p:nvSpPr>
          <p:cNvPr id="6" name="Text 4"/>
          <p:cNvSpPr/>
          <p:nvPr/>
        </p:nvSpPr>
        <p:spPr>
          <a:xfrm>
            <a:off x="793790" y="4298871"/>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E3063"/>
                </a:solidFill>
                <a:latin typeface="Instrument Sans Medium" pitchFamily="34" charset="0"/>
                <a:ea typeface="Instrument Sans Medium" pitchFamily="34" charset="-122"/>
                <a:cs typeface="Instrument Sans Medium" pitchFamily="34" charset="-120"/>
              </a:rPr>
              <a:t>UserModel extends AbstractTableModel, notify observer (adapter and observer)</a:t>
            </a:r>
            <a:endParaRPr lang="en-US" sz="1750" dirty="0"/>
          </a:p>
        </p:txBody>
      </p:sp>
      <p:sp>
        <p:nvSpPr>
          <p:cNvPr id="7" name="Text 5"/>
          <p:cNvSpPr/>
          <p:nvPr/>
        </p:nvSpPr>
        <p:spPr>
          <a:xfrm>
            <a:off x="793790" y="5228749"/>
            <a:ext cx="6244709" cy="362903"/>
          </a:xfrm>
          <a:prstGeom prst="rect">
            <a:avLst/>
          </a:prstGeom>
          <a:noFill/>
        </p:spPr>
        <p:txBody>
          <a:bodyPr wrap="none" lIns="0" tIns="0" rIns="0" bIns="0" rtlCol="0" anchor="t"/>
          <a:lstStyle/>
          <a:p>
            <a:pPr marL="0" indent="0" algn="l">
              <a:lnSpc>
                <a:spcPts val="2850"/>
              </a:lnSpc>
              <a:buNone/>
            </a:pPr>
            <a:endParaRPr lang="en-US" sz="1750" dirty="0"/>
          </a:p>
        </p:txBody>
      </p:sp>
      <p:pic>
        <p:nvPicPr>
          <p:cNvPr id="8" name="Image 0" descr="preencoded.png"/>
          <p:cNvPicPr>
            <a:picLocks noChangeAspect="1"/>
          </p:cNvPicPr>
          <p:nvPr/>
        </p:nvPicPr>
        <p:blipFill>
          <a:blip r:embed="rId1"/>
          <a:stretch>
            <a:fillRect/>
          </a:stretch>
        </p:blipFill>
        <p:spPr>
          <a:xfrm>
            <a:off x="7599521" y="2297549"/>
            <a:ext cx="6244709" cy="46834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54965" y="202565"/>
            <a:ext cx="6960870" cy="775970"/>
          </a:xfrm>
          <a:prstGeom prst="rect">
            <a:avLst/>
          </a:prstGeom>
          <a:noFill/>
        </p:spPr>
        <p:txBody>
          <a:bodyPr wrap="square" rtlCol="0">
            <a:spAutoFit/>
          </a:bodyPr>
          <a:p>
            <a:r>
              <a:rPr lang="en-US" sz="4450" dirty="0">
                <a:solidFill>
                  <a:srgbClr val="091C53"/>
                </a:solidFill>
                <a:latin typeface="汉仪旗黑KW" panose="00020600040101010101" charset="-122"/>
                <a:ea typeface="汉仪旗黑KW" panose="00020600040101010101" charset="-122"/>
                <a:cs typeface="Instrument Sans Semi Bold" pitchFamily="34" charset="-120"/>
              </a:rPr>
              <a:t>New article page(kevin)</a:t>
            </a:r>
            <a:endParaRPr lang="en-US" sz="4450" dirty="0">
              <a:solidFill>
                <a:srgbClr val="091C53"/>
              </a:solidFill>
              <a:latin typeface="汉仪旗黑KW" panose="00020600040101010101" charset="-122"/>
              <a:ea typeface="汉仪旗黑KW" panose="00020600040101010101" charset="-122"/>
              <a:cs typeface="Instrument Sans Semi Bold" pitchFamily="34" charset="-120"/>
            </a:endParaRPr>
          </a:p>
        </p:txBody>
      </p:sp>
      <p:pic>
        <p:nvPicPr>
          <p:cNvPr id="4" name="图片 3"/>
          <p:cNvPicPr>
            <a:picLocks noChangeAspect="1"/>
          </p:cNvPicPr>
          <p:nvPr/>
        </p:nvPicPr>
        <p:blipFill>
          <a:blip r:embed="rId1"/>
          <a:stretch>
            <a:fillRect/>
          </a:stretch>
        </p:blipFill>
        <p:spPr>
          <a:xfrm>
            <a:off x="354965" y="1675765"/>
            <a:ext cx="6016625" cy="6482080"/>
          </a:xfrm>
          <a:prstGeom prst="rect">
            <a:avLst/>
          </a:prstGeom>
        </p:spPr>
      </p:pic>
      <p:sp>
        <p:nvSpPr>
          <p:cNvPr id="5" name="Text 1"/>
          <p:cNvSpPr/>
          <p:nvPr/>
        </p:nvSpPr>
        <p:spPr>
          <a:xfrm>
            <a:off x="443230" y="1004570"/>
            <a:ext cx="6244590" cy="586105"/>
          </a:xfrm>
          <a:prstGeom prst="rect">
            <a:avLst/>
          </a:prstGeom>
          <a:noFill/>
        </p:spPr>
        <p:txBody>
          <a:bodyPr wrap="square" lIns="0" tIns="0" rIns="0" bIns="0" rtlCol="0" anchor="t"/>
          <a:p>
            <a:pPr indent="0" algn="l">
              <a:lnSpc>
                <a:spcPts val="2850"/>
              </a:lnSpc>
              <a:buSzPct val="100000"/>
              <a:buFont typeface="Arial" panose="020B0604020202090204" pitchFamily="34" charset="0"/>
              <a:buNone/>
            </a:pPr>
            <a:r>
              <a:rPr lang="en-US" altLang="zh-CN" sz="2400" dirty="0">
                <a:solidFill>
                  <a:srgbClr val="FF0000"/>
                </a:solidFill>
                <a:latin typeface="Instrument Sans Medium" pitchFamily="34" charset="0"/>
                <a:ea typeface="Instrument Sans Medium" pitchFamily="34" charset="-122"/>
                <a:cs typeface="Instrument Sans Medium" pitchFamily="34" charset="-120"/>
              </a:rPr>
              <a:t>Login required to access this page</a:t>
            </a:r>
            <a:endParaRPr lang="en-US" altLang="zh-CN" sz="2400" dirty="0">
              <a:solidFill>
                <a:srgbClr val="FF0000"/>
              </a:solidFill>
              <a:latin typeface="Instrument Sans Medium" pitchFamily="34" charset="0"/>
              <a:ea typeface="Instrument Sans Medium" pitchFamily="34" charset="-122"/>
              <a:cs typeface="Instrument Sans Medium" pitchFamily="34" charset="-120"/>
            </a:endParaRPr>
          </a:p>
        </p:txBody>
      </p:sp>
      <p:sp>
        <p:nvSpPr>
          <p:cNvPr id="6" name="Text 1"/>
          <p:cNvSpPr/>
          <p:nvPr/>
        </p:nvSpPr>
        <p:spPr>
          <a:xfrm>
            <a:off x="7174230" y="202565"/>
            <a:ext cx="7302500" cy="3414395"/>
          </a:xfrm>
          <a:prstGeom prst="rect">
            <a:avLst/>
          </a:prstGeom>
          <a:noFill/>
        </p:spPr>
        <p:txBody>
          <a:bodyPr wrap="square" lIns="0" tIns="0" rIns="0" bIns="0" rtlCol="0" anchor="t"/>
          <a:p>
            <a:pPr indent="0" algn="l" fontAlgn="auto">
              <a:lnSpc>
                <a:spcPts val="2800"/>
              </a:lnSpc>
              <a:buSzPct val="100000"/>
              <a:buFont typeface="Arial" panose="020B0604020202090204" pitchFamily="34" charset="0"/>
              <a:buNone/>
            </a:pPr>
            <a:r>
              <a:rPr lang="en-US" altLang="zh-CN" sz="2200" dirty="0">
                <a:solidFill>
                  <a:srgbClr val="1E3063"/>
                </a:solidFill>
                <a:latin typeface="汉仪旗黑KW" panose="00020600040101010101" charset="-122"/>
                <a:ea typeface="汉仪旗黑KW" panose="00020600040101010101" charset="-122"/>
                <a:cs typeface="汉仪旗黑KW" panose="00020600040101010101" charset="-122"/>
              </a:rPr>
              <a:t>Core</a:t>
            </a:r>
            <a:r>
              <a:rPr lang="en-US" sz="2200" dirty="0">
                <a:solidFill>
                  <a:srgbClr val="1E3063"/>
                </a:solidFill>
                <a:latin typeface="汉仪旗黑KW" panose="00020600040101010101" charset="-122"/>
                <a:ea typeface="汉仪旗黑KW" panose="00020600040101010101" charset="-122"/>
                <a:cs typeface="汉仪旗黑KW" panose="00020600040101010101" charset="-122"/>
              </a:rPr>
              <a:t> Features:</a:t>
            </a:r>
            <a:endParaRPr lang="en-US" sz="2200" dirty="0">
              <a:solidFill>
                <a:srgbClr val="1E3063"/>
              </a:solidFill>
              <a:latin typeface="汉仪旗黑KW" panose="00020600040101010101" charset="-122"/>
              <a:ea typeface="汉仪旗黑KW" panose="00020600040101010101" charset="-122"/>
              <a:cs typeface="汉仪旗黑KW" panose="00020600040101010101" charset="-122"/>
            </a:endParaRPr>
          </a:p>
          <a:p>
            <a:pPr marL="285750" indent="-285750" algn="l" fontAlgn="auto">
              <a:lnSpc>
                <a:spcPts val="2800"/>
              </a:lnSpc>
              <a:buSzPct val="100000"/>
              <a:buFont typeface="Arial" panose="020B0604020202090204" pitchFamily="34" charset="0"/>
              <a:buChar char="•"/>
            </a:pPr>
            <a:r>
              <a:rPr lang="zh-CN"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a:t>
            </a:r>
            <a:r>
              <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Rich Text Editor (TinyMCE)</a:t>
            </a:r>
            <a:endPar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endParaRPr>
          </a:p>
          <a:p>
            <a:pPr indent="0" algn="l" fontAlgn="auto">
              <a:lnSpc>
                <a:spcPts val="2800"/>
              </a:lnSpc>
              <a:buSzPct val="100000"/>
              <a:buNone/>
            </a:pPr>
            <a:r>
              <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rPr>
              <a:t>     Formatting support including bold, italic, underline.</a:t>
            </a:r>
            <a:endPar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endParaRPr>
          </a:p>
          <a:p>
            <a:pPr marL="285750" indent="-285750" algn="l" fontAlgn="auto">
              <a:lnSpc>
                <a:spcPts val="2800"/>
              </a:lnSpc>
              <a:buSzPct val="100000"/>
              <a:buFont typeface="Arial" panose="020B0604020202090204" pitchFamily="34" charset="0"/>
              <a:buChar char="•"/>
            </a:pPr>
            <a:r>
              <a:rPr lang="zh-CN"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sym typeface="+mn-ea"/>
              </a:rPr>
              <a:t>🖼</a:t>
            </a:r>
            <a:r>
              <a:rPr lang="en-US"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sym typeface="+mn-ea"/>
              </a:rPr>
              <a:t>️</a:t>
            </a:r>
            <a:r>
              <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sym typeface="+mn-ea"/>
              </a:rPr>
              <a:t>Multi-Image Upload System(1Header+up to 9 Content)</a:t>
            </a:r>
            <a:endPar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sym typeface="+mn-ea"/>
            </a:endParaRPr>
          </a:p>
          <a:p>
            <a:pPr indent="0" algn="l" fontAlgn="auto">
              <a:lnSpc>
                <a:spcPts val="2800"/>
              </a:lnSpc>
              <a:buSzPct val="100000"/>
              <a:buNone/>
            </a:pPr>
            <a:r>
              <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sym typeface="+mn-ea"/>
              </a:rPr>
              <a:t>     Flexible image management for rich media content.</a:t>
            </a:r>
            <a:endPar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sym typeface="+mn-ea"/>
            </a:endParaRPr>
          </a:p>
          <a:p>
            <a:pPr marL="285750" indent="-285750" algn="l" fontAlgn="auto">
              <a:lnSpc>
                <a:spcPts val="2800"/>
              </a:lnSpc>
              <a:buSzPct val="100000"/>
              <a:buFont typeface="Arial" panose="020B0604020202090204" pitchFamily="34" charset="0"/>
              <a:buChar char="•"/>
            </a:pPr>
            <a:r>
              <a:rPr lang="zh-CN"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a:t>
            </a:r>
            <a:r>
              <a:rPr lang="en-US"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a:t>
            </a:r>
            <a:r>
              <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Tag-Based Categorization</a:t>
            </a:r>
            <a:endPar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endParaRPr>
          </a:p>
          <a:p>
            <a:pPr indent="0" algn="l" fontAlgn="auto">
              <a:lnSpc>
                <a:spcPts val="2800"/>
              </a:lnSpc>
              <a:buSzPct val="100000"/>
              <a:buNone/>
            </a:pPr>
            <a:r>
              <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rPr>
              <a:t>     6 predefined categories for easy organization</a:t>
            </a:r>
            <a:endPar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endParaRPr>
          </a:p>
          <a:p>
            <a:pPr marL="285750" indent="-285750" algn="l" fontAlgn="auto">
              <a:lnSpc>
                <a:spcPts val="2800"/>
              </a:lnSpc>
              <a:buSzPct val="100000"/>
              <a:buFont typeface="Arial" panose="020B0604020202090204" pitchFamily="34" charset="0"/>
              <a:buChar char="•"/>
            </a:pPr>
            <a:r>
              <a:rPr lang="en-US" altLang="en-US"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a:t>
            </a:r>
            <a:r>
              <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rPr>
              <a:t>One-Click Publishing</a:t>
            </a:r>
            <a:endParaRPr lang="en-US" altLang="zh-CN" sz="2000" dirty="0">
              <a:solidFill>
                <a:srgbClr val="1E3063"/>
              </a:solidFill>
              <a:highlight>
                <a:srgbClr val="FFFF00"/>
              </a:highlight>
              <a:latin typeface="汉仪旗黑KW" panose="00020600040101010101" charset="-122"/>
              <a:ea typeface="汉仪旗黑KW" panose="00020600040101010101" charset="-122"/>
              <a:cs typeface="汉仪旗黑KW" panose="00020600040101010101" charset="-122"/>
            </a:endParaRPr>
          </a:p>
          <a:p>
            <a:pPr indent="0" algn="l" fontAlgn="auto">
              <a:lnSpc>
                <a:spcPts val="2800"/>
              </a:lnSpc>
              <a:buSzPct val="100000"/>
              <a:buNone/>
            </a:pPr>
            <a:r>
              <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rPr>
              <a:t>     Instant publish with automatic redirect</a:t>
            </a:r>
            <a:endParaRPr lang="en-US" altLang="zh-CN" sz="2000" dirty="0">
              <a:solidFill>
                <a:srgbClr val="1E3063"/>
              </a:solidFill>
              <a:latin typeface="汉仪旗黑KW" panose="00020600040101010101" charset="-122"/>
              <a:ea typeface="汉仪旗黑KW" panose="00020600040101010101" charset="-122"/>
              <a:cs typeface="汉仪旗黑KW" panose="00020600040101010101" charset="-122"/>
            </a:endParaRPr>
          </a:p>
        </p:txBody>
      </p:sp>
      <p:pic>
        <p:nvPicPr>
          <p:cNvPr id="10" name="图片 9" descr="2025-11-05 22.52.49"/>
          <p:cNvPicPr>
            <a:picLocks noChangeAspect="1"/>
          </p:cNvPicPr>
          <p:nvPr/>
        </p:nvPicPr>
        <p:blipFill>
          <a:blip r:embed="rId2"/>
          <a:stretch>
            <a:fillRect/>
          </a:stretch>
        </p:blipFill>
        <p:spPr>
          <a:xfrm>
            <a:off x="6542405" y="3632835"/>
            <a:ext cx="7920990" cy="4480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0030" y="606425"/>
            <a:ext cx="7315200" cy="775970"/>
          </a:xfrm>
          <a:prstGeom prst="rect">
            <a:avLst/>
          </a:prstGeom>
          <a:noFill/>
        </p:spPr>
        <p:txBody>
          <a:bodyPr wrap="square" rtlCol="0" anchor="t">
            <a:spAutoFit/>
          </a:bodyPr>
          <a:p>
            <a:r>
              <a:rPr lang="en-US" sz="4450" dirty="0">
                <a:solidFill>
                  <a:srgbClr val="091C53"/>
                </a:solidFill>
                <a:latin typeface="汉仪旗黑KW" panose="00020600040101010101" charset="-122"/>
                <a:ea typeface="汉仪旗黑KW" panose="00020600040101010101" charset="-122"/>
                <a:cs typeface="Instrument Sans Semi Bold" pitchFamily="34" charset="-120"/>
                <a:sym typeface="+mn-ea"/>
              </a:rPr>
              <a:t> Article detail page(kevin)</a:t>
            </a:r>
            <a:endParaRPr lang="en-US" altLang="en-US" sz="4450" dirty="0">
              <a:solidFill>
                <a:srgbClr val="091C53"/>
              </a:solidFill>
              <a:latin typeface="汉仪旗黑KW" panose="00020600040101010101" charset="-122"/>
              <a:ea typeface="汉仪旗黑KW" panose="00020600040101010101" charset="-122"/>
              <a:cs typeface="Instrument Sans Semi Bold" pitchFamily="34" charset="-120"/>
              <a:sym typeface="+mn-ea"/>
            </a:endParaRPr>
          </a:p>
        </p:txBody>
      </p:sp>
      <p:sp>
        <p:nvSpPr>
          <p:cNvPr id="6" name="文本框 5"/>
          <p:cNvSpPr txBox="1"/>
          <p:nvPr/>
        </p:nvSpPr>
        <p:spPr>
          <a:xfrm>
            <a:off x="8003540" y="161290"/>
            <a:ext cx="6745605" cy="7876540"/>
          </a:xfrm>
          <a:prstGeom prst="rect">
            <a:avLst/>
          </a:prstGeom>
          <a:noFill/>
        </p:spPr>
        <p:txBody>
          <a:bodyPr wrap="square" rtlCol="0" anchor="t">
            <a:noAutofit/>
          </a:bodyPr>
          <a:p>
            <a:pPr fontAlgn="auto">
              <a:lnSpc>
                <a:spcPts val="3000"/>
              </a:lnSpc>
            </a:pPr>
            <a:r>
              <a:rPr lang="en-US" sz="2400" dirty="0">
                <a:solidFill>
                  <a:srgbClr val="1E3063"/>
                </a:solidFill>
                <a:latin typeface="汉仪旗黑KW" panose="00020600040101010101" charset="-122"/>
                <a:ea typeface="汉仪旗黑KW" panose="00020600040101010101" charset="-122"/>
                <a:cs typeface="Instrument Sans Medium" pitchFamily="34" charset="-120"/>
              </a:rPr>
              <a:t>Core Features</a:t>
            </a:r>
            <a:r>
              <a:rPr lang="en-US" sz="2000" dirty="0">
                <a:solidFill>
                  <a:srgbClr val="1E3063"/>
                </a:solidFill>
                <a:latin typeface="汉仪旗黑KW" panose="00020600040101010101" charset="-122"/>
                <a:ea typeface="汉仪旗黑KW" panose="00020600040101010101" charset="-122"/>
                <a:cs typeface="Instrument Sans Medium" pitchFamily="34" charset="-120"/>
              </a:rPr>
              <a:t>: </a:t>
            </a:r>
            <a:r>
              <a:rPr lang="en-US" altLang="zh-CN" sz="2000"/>
              <a:t>                         </a:t>
            </a:r>
            <a:endParaRPr lang="en-US" altLang="en-US" sz="2000"/>
          </a:p>
          <a:p>
            <a:pPr indent="0" algn="l" fontAlgn="auto">
              <a:lnSpc>
                <a:spcPts val="3000"/>
              </a:lnSpc>
              <a:buClrTx/>
              <a:buSzTx/>
              <a:buFont typeface="Arial" panose="020B0604020202090204" pitchFamily="34" charset="0"/>
              <a:buNone/>
            </a:pPr>
            <a:r>
              <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rPr>
              <a:t>📖</a:t>
            </a:r>
            <a:r>
              <a:rPr 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rPr>
              <a:t>Complete Article Content Display</a:t>
            </a:r>
            <a:endParaRPr 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rPr>
              <a:t>    Rich text, images, author information, publication date and tags</a:t>
            </a:r>
            <a:r>
              <a:rPr lang="en-US" sz="2000" dirty="0">
                <a:solidFill>
                  <a:srgbClr val="1E3063"/>
                </a:solidFill>
                <a:latin typeface="汉仪旗黑KW" panose="00020600040101010101" charset="-122"/>
                <a:ea typeface="汉仪旗黑KW" panose="00020600040101010101" charset="-122"/>
                <a:cs typeface="Instrument Sans Medium" pitchFamily="34" charset="-120"/>
              </a:rPr>
              <a:t>          </a:t>
            </a:r>
            <a:endParaRPr lang="en-US" sz="2000" dirty="0">
              <a:solidFill>
                <a:srgbClr val="1E3063"/>
              </a:solidFill>
              <a:latin typeface="汉仪旗黑KW" panose="00020600040101010101" charset="-122"/>
              <a:ea typeface="汉仪旗黑KW" panose="00020600040101010101" charset="-122"/>
              <a:cs typeface="Instrument Sans Medium" pitchFamily="34" charset="-120"/>
            </a:endParaRPr>
          </a:p>
          <a:p>
            <a:pPr algn="l" fontAlgn="auto">
              <a:lnSpc>
                <a:spcPts val="3000"/>
              </a:lnSpc>
              <a:buClrTx/>
              <a:buSzTx/>
              <a:buFont typeface="Arial" panose="020B0604020202090204" pitchFamily="34" charset="0"/>
              <a:buNone/>
            </a:pPr>
            <a:r>
              <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rPr>
              <a:t>💬Interactive Features </a:t>
            </a:r>
            <a:endPar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sz="2000" dirty="0">
                <a:solidFill>
                  <a:srgbClr val="FF0000"/>
                </a:solidFill>
                <a:latin typeface="汉仪旗黑KW" panose="00020600040101010101" charset="-122"/>
                <a:ea typeface="汉仪旗黑KW" panose="00020600040101010101" charset="-122"/>
                <a:cs typeface="Instrument Sans Medium" pitchFamily="34" charset="-120"/>
              </a:rPr>
              <a:t>• Like system  </a:t>
            </a:r>
            <a:endParaRPr lang="en-US" sz="2000" dirty="0">
              <a:solidFill>
                <a:srgbClr val="FF0000"/>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rPr>
              <a:t>    Users can like articles with real-time counter updates.</a:t>
            </a:r>
            <a:endParaRPr lang="en-US" altLang="zh-CN" sz="2000" dirty="0">
              <a:solidFill>
                <a:srgbClr val="1E3063"/>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sz="2000" dirty="0">
                <a:solidFill>
                  <a:srgbClr val="FF0000"/>
                </a:solidFill>
                <a:latin typeface="汉仪旗黑KW" panose="00020600040101010101" charset="-122"/>
                <a:ea typeface="汉仪旗黑KW" panose="00020600040101010101" charset="-122"/>
                <a:cs typeface="Instrument Sans Medium" pitchFamily="34" charset="-120"/>
              </a:rPr>
              <a:t>• Comment section (collapsible)</a:t>
            </a:r>
            <a:endParaRPr lang="en-US" sz="2000" dirty="0">
              <a:solidFill>
                <a:srgbClr val="FF0000"/>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sz="2000" dirty="0">
                <a:solidFill>
                  <a:srgbClr val="1E3063"/>
                </a:solidFill>
                <a:latin typeface="汉仪旗黑KW" panose="00020600040101010101" charset="-122"/>
                <a:ea typeface="汉仪旗黑KW" panose="00020600040101010101" charset="-122"/>
                <a:cs typeface="Instrument Sans Medium" pitchFamily="34" charset="-120"/>
              </a:rPr>
              <a:t>    View and post comments</a:t>
            </a:r>
            <a:r>
              <a:rPr lang="en-US" sz="2000" dirty="0">
                <a:solidFill>
                  <a:srgbClr val="1E3063"/>
                </a:solidFill>
                <a:latin typeface="汉仪旗黑KW" panose="00020600040101010101" charset="-122"/>
                <a:ea typeface="汉仪旗黑KW" panose="00020600040101010101" charset="-122"/>
                <a:cs typeface="Instrument Sans Medium" pitchFamily="34" charset="-120"/>
                <a:sym typeface="+mn-ea"/>
              </a:rPr>
              <a:t>   </a:t>
            </a:r>
            <a:r>
              <a:rPr lang="en-US" sz="2000" dirty="0">
                <a:solidFill>
                  <a:srgbClr val="1E3063"/>
                </a:solidFill>
                <a:latin typeface="汉仪旗黑KW" panose="00020600040101010101" charset="-122"/>
                <a:ea typeface="汉仪旗黑KW" panose="00020600040101010101" charset="-122"/>
                <a:cs typeface="Instrument Sans Medium" pitchFamily="34" charset="-120"/>
              </a:rPr>
              <a:t>            </a:t>
            </a:r>
            <a:endParaRPr lang="en-US" sz="2000" dirty="0">
              <a:solidFill>
                <a:srgbClr val="1E3063"/>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rPr>
              <a:t>🎯Smart Recommendations Sidebar</a:t>
            </a:r>
            <a:r>
              <a:rPr lang="en-US" altLang="zh-CN"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rPr>
              <a:t>(</a:t>
            </a:r>
            <a:r>
              <a:rPr lang="en-US" altLang="zh-CN"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sym typeface="+mn-ea"/>
              </a:rPr>
              <a:t>Two-Stage)</a:t>
            </a:r>
            <a:endPar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endParaRPr>
          </a:p>
          <a:p>
            <a:pPr indent="0" fontAlgn="auto">
              <a:lnSpc>
                <a:spcPts val="3000"/>
              </a:lnSpc>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rPr>
              <a:t>  </a:t>
            </a:r>
            <a:r>
              <a:rPr lang="en-US" altLang="zh-CN" sz="2000" dirty="0">
                <a:solidFill>
                  <a:srgbClr val="FF0000"/>
                </a:solidFill>
                <a:latin typeface="汉仪旗黑KW" panose="00020600040101010101" charset="-122"/>
                <a:ea typeface="汉仪旗黑KW" panose="00020600040101010101" charset="-122"/>
                <a:cs typeface="Instrument Sans Medium" pitchFamily="34" charset="-120"/>
                <a:sym typeface="+mn-ea"/>
              </a:rPr>
              <a:t>Stage 1: Tag matching + Newest first</a:t>
            </a:r>
            <a:endParaRPr lang="en-US" altLang="zh-CN" sz="2000" dirty="0">
              <a:solidFill>
                <a:srgbClr val="FF0000"/>
              </a:solidFill>
              <a:latin typeface="汉仪旗黑KW" panose="00020600040101010101" charset="-122"/>
              <a:ea typeface="汉仪旗黑KW" panose="00020600040101010101" charset="-122"/>
              <a:cs typeface="Instrument Sans Medium" pitchFamily="34" charset="-120"/>
            </a:endParaRPr>
          </a:p>
          <a:p>
            <a:pPr indent="0" fontAlgn="auto">
              <a:lnSpc>
                <a:spcPts val="3000"/>
              </a:lnSpc>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rPr>
              <a:t>  Finds same-tag articles, sorted by date only</a:t>
            </a:r>
            <a:endParaRPr lang="en-US" altLang="zh-CN" sz="2000" dirty="0">
              <a:solidFill>
                <a:srgbClr val="1E3063"/>
              </a:solidFill>
              <a:latin typeface="汉仪旗黑KW" panose="00020600040101010101" charset="-122"/>
              <a:ea typeface="汉仪旗黑KW" panose="00020600040101010101" charset="-122"/>
              <a:cs typeface="Instrument Sans Medium" pitchFamily="34" charset="-120"/>
            </a:endParaRPr>
          </a:p>
          <a:p>
            <a:pPr indent="0" fontAlgn="auto">
              <a:lnSpc>
                <a:spcPts val="3000"/>
              </a:lnSpc>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rPr>
              <a:t>  </a:t>
            </a:r>
            <a:r>
              <a:rPr lang="en-US" altLang="zh-CN" sz="2000" dirty="0">
                <a:solidFill>
                  <a:srgbClr val="FF0000"/>
                </a:solidFill>
                <a:latin typeface="汉仪旗黑KW" panose="00020600040101010101" charset="-122"/>
                <a:ea typeface="汉仪旗黑KW" panose="00020600040101010101" charset="-122"/>
                <a:cs typeface="Instrument Sans Medium" pitchFamily="34" charset="-120"/>
                <a:sym typeface="+mn-ea"/>
              </a:rPr>
              <a:t>Stage 2: Popularity ranking (if insufficient)</a:t>
            </a:r>
            <a:endParaRPr lang="en-US" altLang="zh-CN" sz="2000" dirty="0">
              <a:solidFill>
                <a:srgbClr val="FF0000"/>
              </a:solidFill>
              <a:latin typeface="汉仪旗黑KW" panose="00020600040101010101" charset="-122"/>
              <a:ea typeface="汉仪旗黑KW" panose="00020600040101010101" charset="-122"/>
              <a:cs typeface="Instrument Sans Medium" pitchFamily="34" charset="-120"/>
              <a:sym typeface="+mn-ea"/>
            </a:endParaRPr>
          </a:p>
          <a:p>
            <a:pPr indent="0" fontAlgn="auto">
              <a:lnSpc>
                <a:spcPts val="3000"/>
              </a:lnSpc>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rPr>
              <a:t> Score = Likes × 1 + Comments × 2</a:t>
            </a:r>
            <a:endParaRPr lang="en-US" altLang="zh-CN" sz="2000" dirty="0">
              <a:solidFill>
                <a:srgbClr val="FF0000"/>
              </a:solidFill>
              <a:latin typeface="汉仪旗黑KW" panose="00020600040101010101" charset="-122"/>
              <a:ea typeface="汉仪旗黑KW" panose="00020600040101010101" charset="-122"/>
              <a:cs typeface="Instrument Sans Medium" pitchFamily="34" charset="-120"/>
            </a:endParaRPr>
          </a:p>
          <a:p>
            <a:pPr indent="0" fontAlgn="auto">
              <a:lnSpc>
                <a:spcPts val="3000"/>
              </a:lnSpc>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rPr>
              <a:t>  Fills remaining slots with popular articles</a:t>
            </a:r>
            <a:endParaRPr lang="en-US" altLang="zh-CN" sz="2000" dirty="0">
              <a:solidFill>
                <a:srgbClr val="1E3063"/>
              </a:solidFill>
              <a:latin typeface="汉仪旗黑KW" panose="00020600040101010101" charset="-122"/>
              <a:ea typeface="汉仪旗黑KW" panose="00020600040101010101" charset="-122"/>
              <a:cs typeface="Instrument Sans Medium" pitchFamily="34" charset="-120"/>
              <a:sym typeface="+mn-ea"/>
            </a:endParaRPr>
          </a:p>
          <a:p>
            <a:pPr indent="0" algn="l" fontAlgn="auto">
              <a:lnSpc>
                <a:spcPts val="3000"/>
              </a:lnSpc>
              <a:buClrTx/>
              <a:buSzTx/>
              <a:buFont typeface="Arial" panose="020B0604020202090204" pitchFamily="34" charset="0"/>
              <a:buNone/>
            </a:pPr>
            <a:r>
              <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sym typeface="+mn-ea"/>
              </a:rPr>
              <a:t>🔐Role-Based Three Tiers Access Control </a:t>
            </a:r>
            <a:endParaRPr lang="zh-CN" altLang="en-US" sz="2200" dirty="0">
              <a:solidFill>
                <a:srgbClr val="1E3063"/>
              </a:solidFill>
              <a:highlight>
                <a:srgbClr val="FFFF00"/>
              </a:highlight>
              <a:latin typeface="汉仪旗黑KW" panose="00020600040101010101" charset="-122"/>
              <a:ea typeface="汉仪旗黑KW" panose="00020600040101010101" charset="-122"/>
              <a:cs typeface="Instrument Sans Medium" pitchFamily="34" charset="-120"/>
              <a:sym typeface="+mn-ea"/>
            </a:endParaRPr>
          </a:p>
          <a:p>
            <a:pPr indent="0" algn="l" fontAlgn="auto">
              <a:lnSpc>
                <a:spcPts val="3000"/>
              </a:lnSpc>
              <a:buClrTx/>
              <a:buSzTx/>
              <a:buFont typeface="Arial" panose="020B0604020202090204" pitchFamily="34" charset="0"/>
              <a:buNone/>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rPr>
              <a:t>    Read articles : All users                   </a:t>
            </a:r>
            <a:endParaRPr lang="en-US" altLang="en-US" sz="2000" dirty="0">
              <a:solidFill>
                <a:srgbClr val="1E3063"/>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rPr>
              <a:t>    Like/Comment : Logged-in users         </a:t>
            </a:r>
            <a:endParaRPr lang="en-US" altLang="en-US" sz="2000" dirty="0">
              <a:solidFill>
                <a:srgbClr val="1E3063"/>
              </a:solidFill>
              <a:latin typeface="汉仪旗黑KW" panose="00020600040101010101" charset="-122"/>
              <a:ea typeface="汉仪旗黑KW" panose="00020600040101010101" charset="-122"/>
              <a:cs typeface="Instrument Sans Medium" pitchFamily="34" charset="-120"/>
            </a:endParaRPr>
          </a:p>
          <a:p>
            <a:pPr indent="0" algn="l" fontAlgn="auto">
              <a:lnSpc>
                <a:spcPts val="3000"/>
              </a:lnSpc>
              <a:buClrTx/>
              <a:buSzTx/>
              <a:buFont typeface="Arial" panose="020B0604020202090204" pitchFamily="34" charset="0"/>
              <a:buNone/>
            </a:pPr>
            <a:r>
              <a:rPr lang="en-US" altLang="zh-CN" sz="2000" dirty="0">
                <a:solidFill>
                  <a:srgbClr val="1E3063"/>
                </a:solidFill>
                <a:latin typeface="汉仪旗黑KW" panose="00020600040101010101" charset="-122"/>
                <a:ea typeface="汉仪旗黑KW" panose="00020600040101010101" charset="-122"/>
                <a:cs typeface="Instrument Sans Medium" pitchFamily="34" charset="-120"/>
              </a:rPr>
              <a:t>    Edit/Delete articles : Author or Admin </a:t>
            </a:r>
            <a:r>
              <a:rPr lang="en-US" sz="2000" dirty="0">
                <a:solidFill>
                  <a:srgbClr val="1E3063"/>
                </a:solidFill>
                <a:latin typeface="汉仪旗黑KW" panose="00020600040101010101" charset="-122"/>
                <a:ea typeface="汉仪旗黑KW" panose="00020600040101010101" charset="-122"/>
                <a:cs typeface="Instrument Sans Medium" pitchFamily="34" charset="-120"/>
              </a:rPr>
              <a:t>       </a:t>
            </a:r>
            <a:r>
              <a:rPr lang="en-US" sz="2400" dirty="0">
                <a:solidFill>
                  <a:srgbClr val="1E3063"/>
                </a:solidFill>
                <a:latin typeface="汉仪旗黑KW" panose="00020600040101010101" charset="-122"/>
                <a:ea typeface="汉仪旗黑KW" panose="00020600040101010101" charset="-122"/>
                <a:cs typeface="Instrument Sans Medium" pitchFamily="34" charset="-120"/>
              </a:rPr>
              <a:t>     </a:t>
            </a:r>
            <a:endParaRPr lang="zh-CN" altLang="en-US"/>
          </a:p>
        </p:txBody>
      </p:sp>
      <p:pic>
        <p:nvPicPr>
          <p:cNvPr id="8" name="图片 7"/>
          <p:cNvPicPr>
            <a:picLocks noChangeAspect="1"/>
          </p:cNvPicPr>
          <p:nvPr/>
        </p:nvPicPr>
        <p:blipFill>
          <a:blip r:embed="rId1"/>
          <a:stretch>
            <a:fillRect/>
          </a:stretch>
        </p:blipFill>
        <p:spPr>
          <a:xfrm>
            <a:off x="240030" y="1701800"/>
            <a:ext cx="7728585" cy="531431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027753"/>
          </a:xfrm>
          <a:prstGeom prst="rect">
            <a:avLst/>
          </a:prstGeom>
        </p:spPr>
      </p:pic>
      <p:sp>
        <p:nvSpPr>
          <p:cNvPr id="3" name="Text 0"/>
          <p:cNvSpPr/>
          <p:nvPr/>
        </p:nvSpPr>
        <p:spPr>
          <a:xfrm>
            <a:off x="540663" y="2356009"/>
            <a:ext cx="10242947" cy="482798"/>
          </a:xfrm>
          <a:prstGeom prst="rect">
            <a:avLst/>
          </a:prstGeom>
          <a:noFill/>
        </p:spPr>
        <p:txBody>
          <a:bodyPr wrap="none" lIns="0" tIns="0" rIns="0" bIns="0" rtlCol="0" anchor="t"/>
          <a:lstStyle/>
          <a:p>
            <a:pPr marL="0" indent="0" algn="l">
              <a:lnSpc>
                <a:spcPts val="3800"/>
              </a:lnSpc>
              <a:buNone/>
            </a:pPr>
            <a:r>
              <a:rPr lang="en-US" sz="3000" dirty="0">
                <a:solidFill>
                  <a:srgbClr val="091C53"/>
                </a:solidFill>
                <a:latin typeface="Instrument Sans Semi Bold" pitchFamily="34" charset="0"/>
                <a:ea typeface="Instrument Sans Semi Bold" pitchFamily="34" charset="-122"/>
                <a:cs typeface="Instrument Sans Semi Bold" pitchFamily="34" charset="-120"/>
              </a:rPr>
              <a:t>Doraemon's Gadget Workshop: Teamwork &amp; Tech Magic!</a:t>
            </a:r>
            <a:endParaRPr lang="en-US" sz="3000" dirty="0"/>
          </a:p>
        </p:txBody>
      </p:sp>
      <p:sp>
        <p:nvSpPr>
          <p:cNvPr id="4" name="Text 1"/>
          <p:cNvSpPr/>
          <p:nvPr/>
        </p:nvSpPr>
        <p:spPr>
          <a:xfrm>
            <a:off x="540663" y="3070503"/>
            <a:ext cx="13549074" cy="494348"/>
          </a:xfrm>
          <a:prstGeom prst="rect">
            <a:avLst/>
          </a:prstGeom>
          <a:noFill/>
        </p:spPr>
        <p:txBody>
          <a:bodyPr wrap="square" lIns="0" tIns="0" rIns="0" bIns="0" rtlCol="0" anchor="t"/>
          <a:lstStyle/>
          <a:p>
            <a:pPr marL="0" indent="0" algn="l">
              <a:lnSpc>
                <a:spcPts val="19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Here at </a:t>
            </a:r>
            <a:r>
              <a:rPr lang="en-US" sz="1200" b="1" dirty="0">
                <a:solidFill>
                  <a:srgbClr val="1E3063"/>
                </a:solidFill>
                <a:latin typeface="Instrument Sans Medium" pitchFamily="34" charset="0"/>
                <a:ea typeface="Instrument Sans Medium" pitchFamily="34" charset="-122"/>
                <a:cs typeface="Instrument Sans Medium" pitchFamily="34" charset="-120"/>
              </a:rPr>
              <a:t>Doraemon's Tech Team</a:t>
            </a:r>
            <a:r>
              <a:rPr lang="en-US" sz="1200" dirty="0">
                <a:solidFill>
                  <a:srgbClr val="1E3063"/>
                </a:solidFill>
                <a:latin typeface="Instrument Sans Medium" pitchFamily="34" charset="0"/>
                <a:ea typeface="Instrument Sans Medium" pitchFamily="34" charset="-122"/>
                <a:cs typeface="Instrument Sans Medium" pitchFamily="34" charset="-120"/>
              </a:rPr>
              <a:t>, we embrace agile development with the enthusiasm of a robotic cat discovering a new gadget! We ensure successful project delivery through stellar code quality and super collaborative processes, just like Doraemon and friends working together to help Nobita.</a:t>
            </a:r>
            <a:endParaRPr lang="en-US" sz="1200" dirty="0"/>
          </a:p>
        </p:txBody>
      </p:sp>
      <p:sp>
        <p:nvSpPr>
          <p:cNvPr id="5" name="Shape 2"/>
          <p:cNvSpPr/>
          <p:nvPr/>
        </p:nvSpPr>
        <p:spPr>
          <a:xfrm>
            <a:off x="540663" y="5771793"/>
            <a:ext cx="13549074" cy="22860"/>
          </a:xfrm>
          <a:prstGeom prst="roundRect">
            <a:avLst>
              <a:gd name="adj" fmla="val 608260"/>
            </a:avLst>
          </a:prstGeom>
          <a:solidFill>
            <a:srgbClr val="B4CCE3"/>
          </a:solidFill>
        </p:spPr>
      </p:sp>
      <p:sp>
        <p:nvSpPr>
          <p:cNvPr id="6" name="Shape 3"/>
          <p:cNvSpPr/>
          <p:nvPr/>
        </p:nvSpPr>
        <p:spPr>
          <a:xfrm>
            <a:off x="3181112" y="5462885"/>
            <a:ext cx="22860" cy="308967"/>
          </a:xfrm>
          <a:prstGeom prst="roundRect">
            <a:avLst>
              <a:gd name="adj" fmla="val 608260"/>
            </a:avLst>
          </a:prstGeom>
          <a:solidFill>
            <a:srgbClr val="B4CCE3"/>
          </a:solidFill>
        </p:spPr>
      </p:sp>
      <p:sp>
        <p:nvSpPr>
          <p:cNvPr id="7" name="Shape 4"/>
          <p:cNvSpPr/>
          <p:nvPr/>
        </p:nvSpPr>
        <p:spPr>
          <a:xfrm>
            <a:off x="3134618" y="5713809"/>
            <a:ext cx="115848" cy="115848"/>
          </a:xfrm>
          <a:prstGeom prst="roundRect">
            <a:avLst>
              <a:gd name="adj" fmla="val 394655"/>
            </a:avLst>
          </a:prstGeom>
          <a:solidFill>
            <a:srgbClr val="84C1FA"/>
          </a:solidFill>
        </p:spPr>
      </p:sp>
      <p:sp>
        <p:nvSpPr>
          <p:cNvPr id="8" name="Text 5"/>
          <p:cNvSpPr/>
          <p:nvPr/>
        </p:nvSpPr>
        <p:spPr>
          <a:xfrm>
            <a:off x="1512808" y="3738563"/>
            <a:ext cx="3359468" cy="241340"/>
          </a:xfrm>
          <a:prstGeom prst="rect">
            <a:avLst/>
          </a:prstGeom>
          <a:noFill/>
        </p:spPr>
        <p:txBody>
          <a:bodyPr wrap="none" lIns="0" tIns="0" rIns="0" bIns="0" rtlCol="0" anchor="t"/>
          <a:lstStyle/>
          <a:p>
            <a:pPr marL="0" indent="0" algn="ctr">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The Time Machine of Version Control</a:t>
            </a:r>
            <a:endParaRPr lang="en-US" sz="1500" dirty="0"/>
          </a:p>
        </p:txBody>
      </p:sp>
      <p:sp>
        <p:nvSpPr>
          <p:cNvPr id="9" name="Text 6"/>
          <p:cNvSpPr/>
          <p:nvPr/>
        </p:nvSpPr>
        <p:spPr>
          <a:xfrm>
            <a:off x="695087" y="4072533"/>
            <a:ext cx="4994910" cy="1235869"/>
          </a:xfrm>
          <a:prstGeom prst="rect">
            <a:avLst/>
          </a:prstGeom>
          <a:noFill/>
        </p:spPr>
        <p:txBody>
          <a:bodyPr wrap="square" lIns="0" tIns="0" rIns="0" bIns="0" rtlCol="0" anchor="t"/>
          <a:lstStyle/>
          <a:p>
            <a:pPr marL="0" indent="0" algn="ctr">
              <a:lnSpc>
                <a:spcPts val="19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We harness the power of version control, much like Doraemon's </a:t>
            </a:r>
            <a:r>
              <a:rPr lang="en-US" sz="1200" b="1" dirty="0">
                <a:solidFill>
                  <a:srgbClr val="1E3063"/>
                </a:solidFill>
                <a:latin typeface="Instrument Sans Medium" pitchFamily="34" charset="0"/>
                <a:ea typeface="Instrument Sans Medium" pitchFamily="34" charset="-122"/>
                <a:cs typeface="Instrument Sans Medium" pitchFamily="34" charset="-120"/>
              </a:rPr>
              <a:t>Time Machine</a:t>
            </a:r>
            <a:r>
              <a:rPr lang="en-US" sz="1200" dirty="0">
                <a:solidFill>
                  <a:srgbClr val="1E3063"/>
                </a:solidFill>
                <a:latin typeface="Instrument Sans Medium" pitchFamily="34" charset="0"/>
                <a:ea typeface="Instrument Sans Medium" pitchFamily="34" charset="-122"/>
                <a:cs typeface="Instrument Sans Medium" pitchFamily="34" charset="-120"/>
              </a:rPr>
              <a:t>! Utilizing Git Pull Requests (PRs) and peer code reviews, we ensure every change is perfectly recorded and reviewed, preventing any temporal paradoxes in our code and keeping our team synchronized.</a:t>
            </a:r>
            <a:endParaRPr lang="en-US" sz="1200" dirty="0"/>
          </a:p>
        </p:txBody>
      </p:sp>
      <p:sp>
        <p:nvSpPr>
          <p:cNvPr id="10" name="Shape 7"/>
          <p:cNvSpPr/>
          <p:nvPr/>
        </p:nvSpPr>
        <p:spPr>
          <a:xfrm>
            <a:off x="5929551" y="5771733"/>
            <a:ext cx="22860" cy="308967"/>
          </a:xfrm>
          <a:prstGeom prst="roundRect">
            <a:avLst>
              <a:gd name="adj" fmla="val 608260"/>
            </a:avLst>
          </a:prstGeom>
          <a:solidFill>
            <a:srgbClr val="B4CCE3"/>
          </a:solidFill>
        </p:spPr>
      </p:sp>
      <p:sp>
        <p:nvSpPr>
          <p:cNvPr id="11" name="Shape 8"/>
          <p:cNvSpPr/>
          <p:nvPr/>
        </p:nvSpPr>
        <p:spPr>
          <a:xfrm>
            <a:off x="5883057" y="5713809"/>
            <a:ext cx="115848" cy="115848"/>
          </a:xfrm>
          <a:prstGeom prst="roundRect">
            <a:avLst>
              <a:gd name="adj" fmla="val 394655"/>
            </a:avLst>
          </a:prstGeom>
          <a:solidFill>
            <a:srgbClr val="84C1FA"/>
          </a:solidFill>
        </p:spPr>
      </p:sp>
      <p:sp>
        <p:nvSpPr>
          <p:cNvPr id="12" name="Text 9"/>
          <p:cNvSpPr/>
          <p:nvPr/>
        </p:nvSpPr>
        <p:spPr>
          <a:xfrm>
            <a:off x="4411742" y="6235184"/>
            <a:ext cx="3058478" cy="241340"/>
          </a:xfrm>
          <a:prstGeom prst="rect">
            <a:avLst/>
          </a:prstGeom>
          <a:noFill/>
        </p:spPr>
        <p:txBody>
          <a:bodyPr wrap="none" lIns="0" tIns="0" rIns="0" bIns="0" rtlCol="0" anchor="t"/>
          <a:lstStyle/>
          <a:p>
            <a:pPr marL="0" indent="0" algn="ctr">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Cross-Dimensional Contributions</a:t>
            </a:r>
            <a:endParaRPr lang="en-US" sz="1500" dirty="0"/>
          </a:p>
        </p:txBody>
      </p:sp>
      <p:sp>
        <p:nvSpPr>
          <p:cNvPr id="13" name="Text 10"/>
          <p:cNvSpPr/>
          <p:nvPr/>
        </p:nvSpPr>
        <p:spPr>
          <a:xfrm>
            <a:off x="3443526" y="6569154"/>
            <a:ext cx="4994910" cy="1235869"/>
          </a:xfrm>
          <a:prstGeom prst="rect">
            <a:avLst/>
          </a:prstGeom>
          <a:noFill/>
        </p:spPr>
        <p:txBody>
          <a:bodyPr wrap="square" lIns="0" tIns="0" rIns="0" bIns="0" rtlCol="0" anchor="t"/>
          <a:lstStyle/>
          <a:p>
            <a:pPr marL="0" indent="0" algn="ctr">
              <a:lnSpc>
                <a:spcPts val="19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Just as Doraemon can pull out any gadget from his pocket, our team members are multi-talented! Everyone contributes across front-end, back-end, and integration tasks, fostering full-stack skill development. It's like everyone has their own mini-pocket of helpful gadgets!</a:t>
            </a:r>
            <a:endParaRPr lang="en-US" sz="1200" dirty="0"/>
          </a:p>
        </p:txBody>
      </p:sp>
      <p:sp>
        <p:nvSpPr>
          <p:cNvPr id="14" name="Shape 11"/>
          <p:cNvSpPr/>
          <p:nvPr/>
        </p:nvSpPr>
        <p:spPr>
          <a:xfrm>
            <a:off x="8677989" y="5462885"/>
            <a:ext cx="22860" cy="308967"/>
          </a:xfrm>
          <a:prstGeom prst="roundRect">
            <a:avLst>
              <a:gd name="adj" fmla="val 608260"/>
            </a:avLst>
          </a:prstGeom>
          <a:solidFill>
            <a:srgbClr val="B4CCE3"/>
          </a:solidFill>
        </p:spPr>
      </p:sp>
      <p:sp>
        <p:nvSpPr>
          <p:cNvPr id="15" name="Shape 12"/>
          <p:cNvSpPr/>
          <p:nvPr/>
        </p:nvSpPr>
        <p:spPr>
          <a:xfrm>
            <a:off x="8631495" y="5713809"/>
            <a:ext cx="115848" cy="115848"/>
          </a:xfrm>
          <a:prstGeom prst="roundRect">
            <a:avLst>
              <a:gd name="adj" fmla="val 394655"/>
            </a:avLst>
          </a:prstGeom>
          <a:solidFill>
            <a:srgbClr val="84C1FA"/>
          </a:solidFill>
        </p:spPr>
      </p:sp>
      <p:sp>
        <p:nvSpPr>
          <p:cNvPr id="16" name="Text 13"/>
          <p:cNvSpPr/>
          <p:nvPr/>
        </p:nvSpPr>
        <p:spPr>
          <a:xfrm>
            <a:off x="7167920" y="3738563"/>
            <a:ext cx="3042880" cy="241340"/>
          </a:xfrm>
          <a:prstGeom prst="rect">
            <a:avLst/>
          </a:prstGeom>
          <a:noFill/>
        </p:spPr>
        <p:txBody>
          <a:bodyPr wrap="none" lIns="0" tIns="0" rIns="0" bIns="0" rtlCol="0" anchor="t"/>
          <a:lstStyle/>
          <a:p>
            <a:pPr marL="0" indent="0" algn="ctr">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Anywhere Door for API Standards</a:t>
            </a:r>
            <a:endParaRPr lang="en-US" sz="1500" dirty="0"/>
          </a:p>
        </p:txBody>
      </p:sp>
      <p:sp>
        <p:nvSpPr>
          <p:cNvPr id="17" name="Text 14"/>
          <p:cNvSpPr/>
          <p:nvPr/>
        </p:nvSpPr>
        <p:spPr>
          <a:xfrm>
            <a:off x="6191964" y="4072533"/>
            <a:ext cx="4994910" cy="1235869"/>
          </a:xfrm>
          <a:prstGeom prst="rect">
            <a:avLst/>
          </a:prstGeom>
          <a:noFill/>
        </p:spPr>
        <p:txBody>
          <a:bodyPr wrap="square" lIns="0" tIns="0" rIns="0" bIns="0" rtlCol="0" anchor="t"/>
          <a:lstStyle/>
          <a:p>
            <a:pPr marL="0" indent="0" algn="ctr">
              <a:lnSpc>
                <a:spcPts val="19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Our code quality and standards are as sturdy as Doraemon's robotic frame! We maintain consistent code formatting with Prettier, adhere to clear branch naming conventions, and use "Anywhere Door" level API documentation standards, making sure our connections are always seamless and accessible.</a:t>
            </a:r>
            <a:endParaRPr lang="en-US" sz="1200" dirty="0"/>
          </a:p>
        </p:txBody>
      </p:sp>
      <p:sp>
        <p:nvSpPr>
          <p:cNvPr id="18" name="Shape 15"/>
          <p:cNvSpPr/>
          <p:nvPr/>
        </p:nvSpPr>
        <p:spPr>
          <a:xfrm>
            <a:off x="11426428" y="5771733"/>
            <a:ext cx="22860" cy="308967"/>
          </a:xfrm>
          <a:prstGeom prst="roundRect">
            <a:avLst>
              <a:gd name="adj" fmla="val 608260"/>
            </a:avLst>
          </a:prstGeom>
          <a:solidFill>
            <a:srgbClr val="B4CCE3"/>
          </a:solidFill>
        </p:spPr>
      </p:sp>
      <p:sp>
        <p:nvSpPr>
          <p:cNvPr id="19" name="Shape 16"/>
          <p:cNvSpPr/>
          <p:nvPr/>
        </p:nvSpPr>
        <p:spPr>
          <a:xfrm>
            <a:off x="11379934" y="5713809"/>
            <a:ext cx="115848" cy="115848"/>
          </a:xfrm>
          <a:prstGeom prst="roundRect">
            <a:avLst>
              <a:gd name="adj" fmla="val 394655"/>
            </a:avLst>
          </a:prstGeom>
          <a:solidFill>
            <a:srgbClr val="84C1FA"/>
          </a:solidFill>
        </p:spPr>
      </p:sp>
      <p:sp>
        <p:nvSpPr>
          <p:cNvPr id="20" name="Text 17"/>
          <p:cNvSpPr/>
          <p:nvPr/>
        </p:nvSpPr>
        <p:spPr>
          <a:xfrm>
            <a:off x="9669423" y="6235184"/>
            <a:ext cx="3536752" cy="241340"/>
          </a:xfrm>
          <a:prstGeom prst="rect">
            <a:avLst/>
          </a:prstGeom>
          <a:noFill/>
        </p:spPr>
        <p:txBody>
          <a:bodyPr wrap="none" lIns="0" tIns="0" rIns="0" bIns="0" rtlCol="0" anchor="t"/>
          <a:lstStyle/>
          <a:p>
            <a:pPr marL="0" indent="0" algn="ctr">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Gadget-Powered Challenge Resolution</a:t>
            </a:r>
            <a:endParaRPr lang="en-US" sz="1500" dirty="0"/>
          </a:p>
        </p:txBody>
      </p:sp>
      <p:sp>
        <p:nvSpPr>
          <p:cNvPr id="21" name="Text 18"/>
          <p:cNvSpPr/>
          <p:nvPr/>
        </p:nvSpPr>
        <p:spPr>
          <a:xfrm>
            <a:off x="8940403" y="6569154"/>
            <a:ext cx="4994910" cy="1235869"/>
          </a:xfrm>
          <a:prstGeom prst="rect">
            <a:avLst/>
          </a:prstGeom>
          <a:noFill/>
        </p:spPr>
        <p:txBody>
          <a:bodyPr wrap="square" lIns="0" tIns="0" rIns="0" bIns="0" rtlCol="0" anchor="t"/>
          <a:lstStyle/>
          <a:p>
            <a:pPr marL="0" indent="0" algn="ctr">
              <a:lnSpc>
                <a:spcPts val="190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No challenge is too big for Doraemon's Tech Team! We've successfully navigated complex technical puzzles, including intricate comment thread logic, secure JWT token management, efficient image uploads, and even multi-theme persistence – finding the perfect gadget for every tricky situation!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759" y="431125"/>
            <a:ext cx="10711339" cy="490061"/>
          </a:xfrm>
          <a:prstGeom prst="rect">
            <a:avLst/>
          </a:prstGeom>
          <a:noFill/>
        </p:spPr>
        <p:txBody>
          <a:bodyPr wrap="none" lIns="0" tIns="0" rIns="0" bIns="0" rtlCol="0" anchor="t"/>
          <a:lstStyle/>
          <a:p>
            <a:pPr marL="0" indent="0" algn="l">
              <a:lnSpc>
                <a:spcPts val="3850"/>
              </a:lnSpc>
              <a:buNone/>
            </a:pPr>
            <a:r>
              <a:rPr lang="en-US" sz="3050" dirty="0">
                <a:solidFill>
                  <a:srgbClr val="091C53"/>
                </a:solidFill>
                <a:latin typeface="Instrument Sans Semi Bold" pitchFamily="34" charset="0"/>
                <a:ea typeface="Instrument Sans Semi Bold" pitchFamily="34" charset="-122"/>
                <a:cs typeface="Instrument Sans Semi Bold" pitchFamily="34" charset="-120"/>
              </a:rPr>
              <a:t>DoraBlog's Grand Adventures: Gadget-Powered Triumphs!</a:t>
            </a:r>
            <a:endParaRPr lang="en-US" sz="3050" dirty="0"/>
          </a:p>
        </p:txBody>
      </p:sp>
      <p:sp>
        <p:nvSpPr>
          <p:cNvPr id="3" name="Text 1"/>
          <p:cNvSpPr/>
          <p:nvPr/>
        </p:nvSpPr>
        <p:spPr>
          <a:xfrm>
            <a:off x="548759" y="1313140"/>
            <a:ext cx="4351973" cy="294084"/>
          </a:xfrm>
          <a:prstGeom prst="rect">
            <a:avLst/>
          </a:prstGeom>
          <a:noFill/>
        </p:spPr>
        <p:txBody>
          <a:bodyPr wrap="none" lIns="0" tIns="0" rIns="0" bIns="0" rtlCol="0" anchor="t"/>
          <a:lstStyle/>
          <a:p>
            <a:pPr marL="0" indent="0" algn="l">
              <a:lnSpc>
                <a:spcPts val="2300"/>
              </a:lnSpc>
              <a:buNone/>
            </a:pPr>
            <a:r>
              <a:rPr lang="en-US" sz="1850" dirty="0">
                <a:solidFill>
                  <a:srgbClr val="091C53"/>
                </a:solidFill>
                <a:latin typeface="Instrument Sans Semi Bold" pitchFamily="34" charset="0"/>
                <a:ea typeface="Instrument Sans Semi Bold" pitchFamily="34" charset="-122"/>
                <a:cs typeface="Instrument Sans Semi Bold" pitchFamily="34" charset="-120"/>
              </a:rPr>
              <a:t>Amazing Deliverables, Doraemon Style!</a:t>
            </a:r>
            <a:endParaRPr lang="en-US" sz="1850" dirty="0"/>
          </a:p>
        </p:txBody>
      </p:sp>
      <p:sp>
        <p:nvSpPr>
          <p:cNvPr id="4" name="Text 2"/>
          <p:cNvSpPr/>
          <p:nvPr/>
        </p:nvSpPr>
        <p:spPr>
          <a:xfrm>
            <a:off x="548759" y="1764030"/>
            <a:ext cx="6575227" cy="501729"/>
          </a:xfrm>
          <a:prstGeom prst="rect">
            <a:avLst/>
          </a:prstGeom>
          <a:noFill/>
        </p:spPr>
        <p:txBody>
          <a:bodyPr wrap="square" lIns="0" tIns="0" rIns="0" bIns="0" rtlCol="0" anchor="t"/>
          <a:lstStyle/>
          <a:p>
            <a:pPr marL="0" indent="0" algn="l">
              <a:lnSpc>
                <a:spcPts val="1950"/>
              </a:lnSpc>
              <a:buSzPct val="100000"/>
              <a:buNone/>
            </a:pPr>
            <a:r>
              <a:rPr lang="en-US" sz="1200" dirty="0">
                <a:solidFill>
                  <a:srgbClr val="1E3063"/>
                </a:solidFill>
                <a:latin typeface="Instrument Sans Medium" pitchFamily="34" charset="0"/>
                <a:ea typeface="Instrument Sans Medium" pitchFamily="34" charset="-122"/>
                <a:cs typeface="Instrument Sans Medium" pitchFamily="34" charset="-120"/>
              </a:rPr>
              <a:t>A fully functional blog platform with over 15 </a:t>
            </a:r>
            <a:r>
              <a:rPr lang="en-US" sz="1200" b="1" dirty="0">
                <a:solidFill>
                  <a:srgbClr val="1E3063"/>
                </a:solidFill>
                <a:latin typeface="Instrument Sans Medium" pitchFamily="34" charset="0"/>
                <a:ea typeface="Instrument Sans Medium" pitchFamily="34" charset="-122"/>
                <a:cs typeface="Instrument Sans Medium" pitchFamily="34" charset="-120"/>
              </a:rPr>
              <a:t>Anywhere Door</a:t>
            </a:r>
            <a:r>
              <a:rPr lang="en-US" sz="1200" dirty="0">
                <a:solidFill>
                  <a:srgbClr val="1E3063"/>
                </a:solidFill>
                <a:latin typeface="Instrument Sans Medium" pitchFamily="34" charset="0"/>
                <a:ea typeface="Instrument Sans Medium" pitchFamily="34" charset="-122"/>
                <a:cs typeface="Instrument Sans Medium" pitchFamily="34" charset="-120"/>
              </a:rPr>
              <a:t> API endpoints, connecting users to data in a flash!</a:t>
            </a:r>
            <a:endParaRPr lang="en-US" sz="1200" dirty="0"/>
          </a:p>
        </p:txBody>
      </p:sp>
      <p:sp>
        <p:nvSpPr>
          <p:cNvPr id="5" name="Text 3"/>
          <p:cNvSpPr/>
          <p:nvPr/>
        </p:nvSpPr>
        <p:spPr>
          <a:xfrm>
            <a:off x="548759" y="2320528"/>
            <a:ext cx="6575227" cy="501729"/>
          </a:xfrm>
          <a:prstGeom prst="rect">
            <a:avLst/>
          </a:prstGeom>
          <a:noFill/>
        </p:spPr>
        <p:txBody>
          <a:bodyPr wrap="square" lIns="0" tIns="0" rIns="0" bIns="0" rtlCol="0" anchor="t"/>
          <a:lstStyle/>
          <a:p>
            <a:pPr marL="342900" indent="-342900" algn="l">
              <a:lnSpc>
                <a:spcPts val="1950"/>
              </a:lnSpc>
              <a:buSzPct val="100000"/>
              <a:buChar char="•"/>
            </a:pPr>
            <a:r>
              <a:rPr lang="en-US" sz="1200" dirty="0">
                <a:solidFill>
                  <a:srgbClr val="1E3063"/>
                </a:solidFill>
                <a:latin typeface="Instrument Sans Medium" pitchFamily="34" charset="0"/>
                <a:ea typeface="Instrument Sans Medium" pitchFamily="34" charset="-122"/>
                <a:cs typeface="Instrument Sans Medium" pitchFamily="34" charset="-120"/>
              </a:rPr>
              <a:t>A sleek, responsive SvelteKit frontend for Noby and friends, and a dedicated Java admin client, like Doraemon's own personal control panel.</a:t>
            </a:r>
            <a:endParaRPr lang="en-US" sz="1200" dirty="0"/>
          </a:p>
        </p:txBody>
      </p:sp>
      <p:sp>
        <p:nvSpPr>
          <p:cNvPr id="6" name="Text 4"/>
          <p:cNvSpPr/>
          <p:nvPr/>
        </p:nvSpPr>
        <p:spPr>
          <a:xfrm>
            <a:off x="548759" y="2877026"/>
            <a:ext cx="6575227" cy="501729"/>
          </a:xfrm>
          <a:prstGeom prst="rect">
            <a:avLst/>
          </a:prstGeom>
          <a:noFill/>
        </p:spPr>
        <p:txBody>
          <a:bodyPr wrap="square" lIns="0" tIns="0" rIns="0" bIns="0" rtlCol="0" anchor="t"/>
          <a:lstStyle/>
          <a:p>
            <a:pPr marL="342900" indent="-342900" algn="l">
              <a:lnSpc>
                <a:spcPts val="1950"/>
              </a:lnSpc>
              <a:buSzPct val="100000"/>
              <a:buChar char="•"/>
            </a:pPr>
            <a:r>
              <a:rPr lang="en-US" sz="1200" dirty="0">
                <a:solidFill>
                  <a:srgbClr val="1E3063"/>
                </a:solidFill>
                <a:latin typeface="Instrument Sans Medium" pitchFamily="34" charset="0"/>
                <a:ea typeface="Instrument Sans Medium" pitchFamily="34" charset="-122"/>
                <a:cs typeface="Instrument Sans Medium" pitchFamily="34" charset="-120"/>
              </a:rPr>
              <a:t>Comprehensive technical documentation, including API blueprints and Entity Relationship Diagrams (ERD) – our secret guide to the Dora-verse of data.</a:t>
            </a:r>
            <a:endParaRPr lang="en-US" sz="1200" dirty="0"/>
          </a:p>
        </p:txBody>
      </p:sp>
      <p:sp>
        <p:nvSpPr>
          <p:cNvPr id="7" name="Text 5"/>
          <p:cNvSpPr/>
          <p:nvPr/>
        </p:nvSpPr>
        <p:spPr>
          <a:xfrm>
            <a:off x="783908" y="3555087"/>
            <a:ext cx="6340078" cy="626983"/>
          </a:xfrm>
          <a:prstGeom prst="rect">
            <a:avLst/>
          </a:prstGeom>
          <a:noFill/>
        </p:spPr>
        <p:txBody>
          <a:bodyPr wrap="square" lIns="0" tIns="0" rIns="0" bIns="0" rtlCol="0" anchor="t"/>
          <a:lstStyle/>
          <a:p>
            <a:pPr marL="0" indent="0" algn="l">
              <a:lnSpc>
                <a:spcPts val="2450"/>
              </a:lnSpc>
              <a:buNone/>
            </a:pPr>
            <a:r>
              <a:rPr lang="en-US" sz="1500" dirty="0">
                <a:solidFill>
                  <a:srgbClr val="1E3063"/>
                </a:solidFill>
                <a:latin typeface="Instrument Sans Medium" pitchFamily="34" charset="0"/>
                <a:ea typeface="Instrument Sans Medium" pitchFamily="34" charset="-122"/>
                <a:cs typeface="Instrument Sans Medium" pitchFamily="34" charset="-120"/>
              </a:rPr>
              <a:t>We didn't just build an application, we journeyed through the full-stack development lifecycle, powered by Doraemon's Tech Team!</a:t>
            </a:r>
            <a:endParaRPr lang="en-US" sz="1500" dirty="0"/>
          </a:p>
        </p:txBody>
      </p:sp>
      <p:sp>
        <p:nvSpPr>
          <p:cNvPr id="8" name="Shape 6"/>
          <p:cNvSpPr/>
          <p:nvPr/>
        </p:nvSpPr>
        <p:spPr>
          <a:xfrm>
            <a:off x="548759" y="3555087"/>
            <a:ext cx="22860" cy="626983"/>
          </a:xfrm>
          <a:prstGeom prst="rect">
            <a:avLst/>
          </a:prstGeom>
          <a:solidFill>
            <a:srgbClr val="84C1FA"/>
          </a:solidFill>
        </p:spPr>
      </p:sp>
      <p:sp>
        <p:nvSpPr>
          <p:cNvPr id="9" name="Text 7"/>
          <p:cNvSpPr/>
          <p:nvPr/>
        </p:nvSpPr>
        <p:spPr>
          <a:xfrm>
            <a:off x="7514034" y="1313140"/>
            <a:ext cx="3090148" cy="294084"/>
          </a:xfrm>
          <a:prstGeom prst="rect">
            <a:avLst/>
          </a:prstGeom>
          <a:noFill/>
        </p:spPr>
        <p:txBody>
          <a:bodyPr wrap="none" lIns="0" tIns="0" rIns="0" bIns="0" rtlCol="0" anchor="t"/>
          <a:lstStyle/>
          <a:p>
            <a:pPr marL="0" indent="0" algn="l">
              <a:lnSpc>
                <a:spcPts val="2300"/>
              </a:lnSpc>
              <a:buNone/>
            </a:pPr>
            <a:r>
              <a:rPr lang="en-US" sz="1850" dirty="0">
                <a:solidFill>
                  <a:srgbClr val="091C53"/>
                </a:solidFill>
                <a:latin typeface="Instrument Sans Semi Bold" pitchFamily="34" charset="0"/>
                <a:ea typeface="Instrument Sans Semi Bold" pitchFamily="34" charset="-122"/>
                <a:cs typeface="Instrument Sans Semi Bold" pitchFamily="34" charset="-120"/>
              </a:rPr>
              <a:t>Core Gadget Skills Acquired</a:t>
            </a:r>
            <a:endParaRPr lang="en-US" sz="1850" dirty="0"/>
          </a:p>
        </p:txBody>
      </p:sp>
      <p:sp>
        <p:nvSpPr>
          <p:cNvPr id="10" name="Shape 8"/>
          <p:cNvSpPr/>
          <p:nvPr/>
        </p:nvSpPr>
        <p:spPr>
          <a:xfrm>
            <a:off x="7514034" y="1861899"/>
            <a:ext cx="5962769" cy="195977"/>
          </a:xfrm>
          <a:prstGeom prst="roundRect">
            <a:avLst>
              <a:gd name="adj" fmla="val 72012"/>
            </a:avLst>
          </a:prstGeom>
          <a:solidFill>
            <a:srgbClr val="CEE6FD"/>
          </a:solidFill>
        </p:spPr>
      </p:sp>
      <p:sp>
        <p:nvSpPr>
          <p:cNvPr id="11" name="Shape 9"/>
          <p:cNvSpPr/>
          <p:nvPr/>
        </p:nvSpPr>
        <p:spPr>
          <a:xfrm>
            <a:off x="7514034" y="1861899"/>
            <a:ext cx="5962769" cy="195977"/>
          </a:xfrm>
          <a:prstGeom prst="roundRect">
            <a:avLst>
              <a:gd name="adj" fmla="val 72012"/>
            </a:avLst>
          </a:prstGeom>
          <a:solidFill>
            <a:srgbClr val="84C1FA"/>
          </a:solidFill>
        </p:spPr>
      </p:sp>
      <p:sp>
        <p:nvSpPr>
          <p:cNvPr id="12" name="Text 10"/>
          <p:cNvSpPr/>
          <p:nvPr/>
        </p:nvSpPr>
        <p:spPr>
          <a:xfrm>
            <a:off x="13594318" y="1861899"/>
            <a:ext cx="494943" cy="195977"/>
          </a:xfrm>
          <a:prstGeom prst="rect">
            <a:avLst/>
          </a:prstGeom>
          <a:noFill/>
        </p:spPr>
        <p:txBody>
          <a:bodyPr wrap="none" lIns="0" tIns="0" rIns="0" bIns="0" rtlCol="0" anchor="t"/>
          <a:lstStyle/>
          <a:p>
            <a:pPr marL="0" indent="0" algn="l">
              <a:lnSpc>
                <a:spcPts val="15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100%</a:t>
            </a:r>
            <a:endParaRPr lang="en-US" sz="1500" dirty="0"/>
          </a:p>
        </p:txBody>
      </p:sp>
      <p:sp>
        <p:nvSpPr>
          <p:cNvPr id="13" name="Text 11"/>
          <p:cNvSpPr/>
          <p:nvPr/>
        </p:nvSpPr>
        <p:spPr>
          <a:xfrm>
            <a:off x="7514034" y="2253734"/>
            <a:ext cx="1960007" cy="244912"/>
          </a:xfrm>
          <a:prstGeom prst="rect">
            <a:avLst/>
          </a:prstGeom>
          <a:noFill/>
        </p:spPr>
        <p:txBody>
          <a:bodyPr wrap="none" lIns="0" tIns="0" rIns="0" bIns="0" rtlCol="0" anchor="t"/>
          <a:lstStyle/>
          <a:p>
            <a:pPr marL="0" indent="0" algn="l">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Full-Stack Mastery</a:t>
            </a:r>
            <a:endParaRPr lang="en-US" sz="1500" dirty="0"/>
          </a:p>
        </p:txBody>
      </p:sp>
      <p:sp>
        <p:nvSpPr>
          <p:cNvPr id="14" name="Text 12"/>
          <p:cNvSpPr/>
          <p:nvPr/>
        </p:nvSpPr>
        <p:spPr>
          <a:xfrm>
            <a:off x="7514034" y="2655451"/>
            <a:ext cx="6575227" cy="501729"/>
          </a:xfrm>
          <a:prstGeom prst="rect">
            <a:avLst/>
          </a:prstGeom>
          <a:noFill/>
        </p:spPr>
        <p:txBody>
          <a:bodyPr wrap="square" lIns="0" tIns="0" rIns="0" bIns="0" rtlCol="0" anchor="t"/>
          <a:lstStyle/>
          <a:p>
            <a:pPr marL="0" indent="0" algn="l">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Mastered Node.js and SvelteKit to implement a decoupled frontend and backend architecture, just like Doraemon's multi-functional toolkit!</a:t>
            </a:r>
            <a:endParaRPr lang="en-US" sz="1200" dirty="0"/>
          </a:p>
        </p:txBody>
      </p:sp>
      <p:sp>
        <p:nvSpPr>
          <p:cNvPr id="15" name="Shape 13"/>
          <p:cNvSpPr/>
          <p:nvPr/>
        </p:nvSpPr>
        <p:spPr>
          <a:xfrm>
            <a:off x="7514034" y="3549134"/>
            <a:ext cx="6074926" cy="195977"/>
          </a:xfrm>
          <a:prstGeom prst="roundRect">
            <a:avLst>
              <a:gd name="adj" fmla="val 72012"/>
            </a:avLst>
          </a:prstGeom>
          <a:solidFill>
            <a:srgbClr val="CEE6FD"/>
          </a:solidFill>
        </p:spPr>
      </p:sp>
      <p:sp>
        <p:nvSpPr>
          <p:cNvPr id="16" name="Shape 14"/>
          <p:cNvSpPr/>
          <p:nvPr/>
        </p:nvSpPr>
        <p:spPr>
          <a:xfrm>
            <a:off x="7514034" y="3549134"/>
            <a:ext cx="5771078" cy="195977"/>
          </a:xfrm>
          <a:prstGeom prst="roundRect">
            <a:avLst>
              <a:gd name="adj" fmla="val 72012"/>
            </a:avLst>
          </a:prstGeom>
          <a:solidFill>
            <a:srgbClr val="84C1FA"/>
          </a:solidFill>
        </p:spPr>
      </p:sp>
      <p:sp>
        <p:nvSpPr>
          <p:cNvPr id="17" name="Text 15"/>
          <p:cNvSpPr/>
          <p:nvPr/>
        </p:nvSpPr>
        <p:spPr>
          <a:xfrm>
            <a:off x="13706475" y="3549134"/>
            <a:ext cx="382786" cy="195977"/>
          </a:xfrm>
          <a:prstGeom prst="rect">
            <a:avLst/>
          </a:prstGeom>
          <a:noFill/>
        </p:spPr>
        <p:txBody>
          <a:bodyPr wrap="none" lIns="0" tIns="0" rIns="0" bIns="0" rtlCol="0" anchor="t"/>
          <a:lstStyle/>
          <a:p>
            <a:pPr marL="0" indent="0" algn="l">
              <a:lnSpc>
                <a:spcPts val="15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95%</a:t>
            </a:r>
            <a:endParaRPr lang="en-US" sz="1500" dirty="0"/>
          </a:p>
        </p:txBody>
      </p:sp>
      <p:sp>
        <p:nvSpPr>
          <p:cNvPr id="18" name="Text 16"/>
          <p:cNvSpPr/>
          <p:nvPr/>
        </p:nvSpPr>
        <p:spPr>
          <a:xfrm>
            <a:off x="7514034" y="3940969"/>
            <a:ext cx="3059430" cy="244912"/>
          </a:xfrm>
          <a:prstGeom prst="rect">
            <a:avLst/>
          </a:prstGeom>
          <a:noFill/>
        </p:spPr>
        <p:txBody>
          <a:bodyPr wrap="none" lIns="0" tIns="0" rIns="0" bIns="0" rtlCol="0" anchor="t"/>
          <a:lstStyle/>
          <a:p>
            <a:pPr marL="0" indent="0" algn="l">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Agile &amp; Time Travel Collaboration</a:t>
            </a:r>
            <a:endParaRPr lang="en-US" sz="1500" dirty="0"/>
          </a:p>
        </p:txBody>
      </p:sp>
      <p:sp>
        <p:nvSpPr>
          <p:cNvPr id="19" name="Text 17"/>
          <p:cNvSpPr/>
          <p:nvPr/>
        </p:nvSpPr>
        <p:spPr>
          <a:xfrm>
            <a:off x="7514034" y="4342686"/>
            <a:ext cx="6575227" cy="501729"/>
          </a:xfrm>
          <a:prstGeom prst="rect">
            <a:avLst/>
          </a:prstGeom>
          <a:noFill/>
        </p:spPr>
        <p:txBody>
          <a:bodyPr wrap="square" lIns="0" tIns="0" rIns="0" bIns="0" rtlCol="0" anchor="t"/>
          <a:lstStyle/>
          <a:p>
            <a:pPr marL="0" indent="0" algn="l">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Utilized Git workflow and peer code reviews, ensuring our project evolves smoothly, much like a </a:t>
            </a:r>
            <a:r>
              <a:rPr lang="en-US" sz="1200" b="1" dirty="0">
                <a:solidFill>
                  <a:srgbClr val="1E3063"/>
                </a:solidFill>
                <a:latin typeface="Instrument Sans Medium" pitchFamily="34" charset="0"/>
                <a:ea typeface="Instrument Sans Medium" pitchFamily="34" charset="-122"/>
                <a:cs typeface="Instrument Sans Medium" pitchFamily="34" charset="-120"/>
              </a:rPr>
              <a:t>Time Machine</a:t>
            </a:r>
            <a:r>
              <a:rPr lang="en-US" sz="1200" dirty="0">
                <a:solidFill>
                  <a:srgbClr val="1E3063"/>
                </a:solidFill>
                <a:latin typeface="Instrument Sans Medium" pitchFamily="34" charset="0"/>
                <a:ea typeface="Instrument Sans Medium" pitchFamily="34" charset="-122"/>
                <a:cs typeface="Instrument Sans Medium" pitchFamily="34" charset="-120"/>
              </a:rPr>
              <a:t> for version control and teamwork!</a:t>
            </a:r>
            <a:endParaRPr lang="en-US" sz="1200" dirty="0"/>
          </a:p>
        </p:txBody>
      </p:sp>
      <p:sp>
        <p:nvSpPr>
          <p:cNvPr id="20" name="Shape 18"/>
          <p:cNvSpPr/>
          <p:nvPr/>
        </p:nvSpPr>
        <p:spPr>
          <a:xfrm>
            <a:off x="7514034" y="5236369"/>
            <a:ext cx="6050042" cy="195977"/>
          </a:xfrm>
          <a:prstGeom prst="roundRect">
            <a:avLst>
              <a:gd name="adj" fmla="val 72012"/>
            </a:avLst>
          </a:prstGeom>
          <a:solidFill>
            <a:srgbClr val="CEE6FD"/>
          </a:solidFill>
        </p:spPr>
      </p:sp>
      <p:sp>
        <p:nvSpPr>
          <p:cNvPr id="21" name="Shape 19"/>
          <p:cNvSpPr/>
          <p:nvPr/>
        </p:nvSpPr>
        <p:spPr>
          <a:xfrm>
            <a:off x="7514034" y="5236369"/>
            <a:ext cx="5444966" cy="195977"/>
          </a:xfrm>
          <a:prstGeom prst="roundRect">
            <a:avLst>
              <a:gd name="adj" fmla="val 72012"/>
            </a:avLst>
          </a:prstGeom>
          <a:solidFill>
            <a:srgbClr val="84C1FA"/>
          </a:solidFill>
        </p:spPr>
      </p:sp>
      <p:sp>
        <p:nvSpPr>
          <p:cNvPr id="22" name="Text 20"/>
          <p:cNvSpPr/>
          <p:nvPr/>
        </p:nvSpPr>
        <p:spPr>
          <a:xfrm>
            <a:off x="13681591" y="5236369"/>
            <a:ext cx="407670" cy="195977"/>
          </a:xfrm>
          <a:prstGeom prst="rect">
            <a:avLst/>
          </a:prstGeom>
          <a:noFill/>
        </p:spPr>
        <p:txBody>
          <a:bodyPr wrap="none" lIns="0" tIns="0" rIns="0" bIns="0" rtlCol="0" anchor="t"/>
          <a:lstStyle/>
          <a:p>
            <a:pPr marL="0" indent="0" algn="l">
              <a:lnSpc>
                <a:spcPts val="15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90%</a:t>
            </a:r>
            <a:endParaRPr lang="en-US" sz="1500" dirty="0"/>
          </a:p>
        </p:txBody>
      </p:sp>
      <p:sp>
        <p:nvSpPr>
          <p:cNvPr id="23" name="Text 21"/>
          <p:cNvSpPr/>
          <p:nvPr/>
        </p:nvSpPr>
        <p:spPr>
          <a:xfrm>
            <a:off x="7514034" y="5628203"/>
            <a:ext cx="2745105" cy="244912"/>
          </a:xfrm>
          <a:prstGeom prst="rect">
            <a:avLst/>
          </a:prstGeom>
          <a:noFill/>
        </p:spPr>
        <p:txBody>
          <a:bodyPr wrap="none" lIns="0" tIns="0" rIns="0" bIns="0" rtlCol="0" anchor="t"/>
          <a:lstStyle/>
          <a:p>
            <a:pPr marL="0" indent="0" algn="l">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Security Shield Best Practices</a:t>
            </a:r>
            <a:endParaRPr lang="en-US" sz="1500" dirty="0"/>
          </a:p>
        </p:txBody>
      </p:sp>
      <p:sp>
        <p:nvSpPr>
          <p:cNvPr id="24" name="Text 22"/>
          <p:cNvSpPr/>
          <p:nvPr/>
        </p:nvSpPr>
        <p:spPr>
          <a:xfrm>
            <a:off x="7514034" y="6029920"/>
            <a:ext cx="6575227" cy="501729"/>
          </a:xfrm>
          <a:prstGeom prst="rect">
            <a:avLst/>
          </a:prstGeom>
          <a:noFill/>
        </p:spPr>
        <p:txBody>
          <a:bodyPr wrap="square" lIns="0" tIns="0" rIns="0" bIns="0" rtlCol="0" anchor="t"/>
          <a:lstStyle/>
          <a:p>
            <a:pPr marL="0" indent="0" algn="l">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Proficiently used JWT authentication and Bcrypt hashing, building a strong security shield around DoraBlog's precious data.</a:t>
            </a:r>
            <a:endParaRPr lang="en-US" sz="1200" dirty="0"/>
          </a:p>
        </p:txBody>
      </p:sp>
      <p:sp>
        <p:nvSpPr>
          <p:cNvPr id="25" name="Shape 23"/>
          <p:cNvSpPr/>
          <p:nvPr/>
        </p:nvSpPr>
        <p:spPr>
          <a:xfrm>
            <a:off x="548759" y="6884313"/>
            <a:ext cx="13532882" cy="917138"/>
          </a:xfrm>
          <a:prstGeom prst="roundRect">
            <a:avLst>
              <a:gd name="adj" fmla="val 15388"/>
            </a:avLst>
          </a:prstGeom>
          <a:solidFill>
            <a:srgbClr val="B5DAFC"/>
          </a:solidFill>
        </p:spPr>
      </p:sp>
      <p:pic>
        <p:nvPicPr>
          <p:cNvPr id="26" name="Image 0" descr="preencoded.png"/>
          <p:cNvPicPr>
            <a:picLocks noChangeAspect="1"/>
          </p:cNvPicPr>
          <p:nvPr/>
        </p:nvPicPr>
        <p:blipFill>
          <a:blip r:embed="rId1"/>
          <a:stretch>
            <a:fillRect/>
          </a:stretch>
        </p:blipFill>
        <p:spPr>
          <a:xfrm>
            <a:off x="705564" y="7118271"/>
            <a:ext cx="195977" cy="156805"/>
          </a:xfrm>
          <a:prstGeom prst="rect">
            <a:avLst/>
          </a:prstGeom>
        </p:spPr>
      </p:pic>
      <p:sp>
        <p:nvSpPr>
          <p:cNvPr id="27" name="Text 24"/>
          <p:cNvSpPr/>
          <p:nvPr/>
        </p:nvSpPr>
        <p:spPr>
          <a:xfrm>
            <a:off x="1058347" y="7080290"/>
            <a:ext cx="12866489" cy="501729"/>
          </a:xfrm>
          <a:prstGeom prst="rect">
            <a:avLst/>
          </a:prstGeom>
          <a:noFill/>
        </p:spPr>
        <p:txBody>
          <a:bodyPr wrap="square" lIns="0" tIns="0" rIns="0" bIns="0" rtlCol="0" anchor="t"/>
          <a:lstStyle/>
          <a:p>
            <a:pPr marL="0" indent="0" algn="l">
              <a:lnSpc>
                <a:spcPts val="1950"/>
              </a:lnSpc>
              <a:buNone/>
            </a:pPr>
            <a:r>
              <a:rPr lang="en-US" sz="1200" dirty="0">
                <a:solidFill>
                  <a:srgbClr val="000000"/>
                </a:solidFill>
                <a:latin typeface="Instrument Sans Medium" pitchFamily="34" charset="0"/>
                <a:ea typeface="Instrument Sans Medium" pitchFamily="34" charset="-122"/>
                <a:cs typeface="Instrument Sans Medium" pitchFamily="34" charset="-120"/>
              </a:rPr>
              <a:t>Future Outlook: DoraBlog has boundless potential for expansion, easily integrating new features like email notifications, advanced analytics, and social sharing—imagine what other amazing gadgets we can integrate!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36157" y="1213366"/>
            <a:ext cx="11358086" cy="538996"/>
          </a:xfrm>
          <a:prstGeom prst="rect">
            <a:avLst/>
          </a:prstGeom>
          <a:noFill/>
        </p:spPr>
        <p:txBody>
          <a:bodyPr wrap="none" lIns="0" tIns="0" rIns="0" bIns="0" rtlCol="0" anchor="t"/>
          <a:lstStyle/>
          <a:p>
            <a:pPr marL="0" indent="0" algn="ctr">
              <a:lnSpc>
                <a:spcPts val="4200"/>
              </a:lnSpc>
              <a:buNone/>
            </a:pPr>
            <a:r>
              <a:rPr lang="en-US" sz="3350" dirty="0">
                <a:solidFill>
                  <a:srgbClr val="091C53"/>
                </a:solidFill>
                <a:latin typeface="Instrument Sans Semi Bold" pitchFamily="34" charset="0"/>
                <a:ea typeface="Instrument Sans Semi Bold" pitchFamily="34" charset="-122"/>
                <a:cs typeface="Instrument Sans Semi Bold" pitchFamily="34" charset="-120"/>
              </a:rPr>
              <a:t>Thank you for joining Doraemon's Tech Team Adventure!</a:t>
            </a:r>
            <a:endParaRPr lang="en-US" sz="3350" dirty="0"/>
          </a:p>
        </p:txBody>
      </p:sp>
      <p:sp>
        <p:nvSpPr>
          <p:cNvPr id="3" name="Text 1"/>
          <p:cNvSpPr/>
          <p:nvPr/>
        </p:nvSpPr>
        <p:spPr>
          <a:xfrm>
            <a:off x="603647" y="2097286"/>
            <a:ext cx="13423106" cy="689848"/>
          </a:xfrm>
          <a:prstGeom prst="rect">
            <a:avLst/>
          </a:prstGeom>
          <a:noFill/>
        </p:spPr>
        <p:txBody>
          <a:bodyPr wrap="square" lIns="0" tIns="0" rIns="0" bIns="0" rtlCol="0" anchor="t"/>
          <a:lstStyle/>
          <a:p>
            <a:pPr marL="0" indent="0" algn="ctr">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Noby and friends are now happy to answer any questions about our incredible DoraBlog project. Get ready for some gadget-powered insights!</a:t>
            </a:r>
            <a:endParaRPr lang="en-US" sz="1650" dirty="0"/>
          </a:p>
        </p:txBody>
      </p:sp>
      <p:pic>
        <p:nvPicPr>
          <p:cNvPr id="4" name="Image 0" descr="preencoded.png"/>
          <p:cNvPicPr>
            <a:picLocks noChangeAspect="1"/>
          </p:cNvPicPr>
          <p:nvPr/>
        </p:nvPicPr>
        <p:blipFill>
          <a:blip r:embed="rId1"/>
          <a:stretch>
            <a:fillRect/>
          </a:stretch>
        </p:blipFill>
        <p:spPr>
          <a:xfrm>
            <a:off x="611148" y="3093958"/>
            <a:ext cx="3248620" cy="2069663"/>
          </a:xfrm>
          <a:prstGeom prst="rect">
            <a:avLst/>
          </a:prstGeom>
        </p:spPr>
      </p:pic>
      <p:pic>
        <p:nvPicPr>
          <p:cNvPr id="5" name="Image 1" descr="preencoded.png"/>
          <p:cNvPicPr>
            <a:picLocks noChangeAspect="1"/>
          </p:cNvPicPr>
          <p:nvPr/>
        </p:nvPicPr>
        <p:blipFill>
          <a:blip r:embed="rId2"/>
          <a:stretch>
            <a:fillRect/>
          </a:stretch>
        </p:blipFill>
        <p:spPr>
          <a:xfrm>
            <a:off x="3997643" y="3093958"/>
            <a:ext cx="3248620" cy="2069663"/>
          </a:xfrm>
          <a:prstGeom prst="rect">
            <a:avLst/>
          </a:prstGeom>
        </p:spPr>
      </p:pic>
      <p:pic>
        <p:nvPicPr>
          <p:cNvPr id="6" name="Image 2" descr="preencoded.png"/>
          <p:cNvPicPr>
            <a:picLocks noChangeAspect="1"/>
          </p:cNvPicPr>
          <p:nvPr/>
        </p:nvPicPr>
        <p:blipFill>
          <a:blip r:embed="rId3"/>
          <a:stretch>
            <a:fillRect/>
          </a:stretch>
        </p:blipFill>
        <p:spPr>
          <a:xfrm>
            <a:off x="7384137" y="3093958"/>
            <a:ext cx="3248620" cy="2069663"/>
          </a:xfrm>
          <a:prstGeom prst="rect">
            <a:avLst/>
          </a:prstGeom>
        </p:spPr>
      </p:pic>
      <p:pic>
        <p:nvPicPr>
          <p:cNvPr id="7" name="Image 3" descr="preencoded.png"/>
          <p:cNvPicPr>
            <a:picLocks noChangeAspect="1"/>
          </p:cNvPicPr>
          <p:nvPr/>
        </p:nvPicPr>
        <p:blipFill>
          <a:blip r:embed="rId4"/>
          <a:stretch>
            <a:fillRect/>
          </a:stretch>
        </p:blipFill>
        <p:spPr>
          <a:xfrm>
            <a:off x="10770632" y="3093958"/>
            <a:ext cx="3248620" cy="2069663"/>
          </a:xfrm>
          <a:prstGeom prst="rect">
            <a:avLst/>
          </a:prstGeom>
        </p:spPr>
      </p:pic>
      <p:sp>
        <p:nvSpPr>
          <p:cNvPr id="8" name="Shape 2"/>
          <p:cNvSpPr/>
          <p:nvPr/>
        </p:nvSpPr>
        <p:spPr>
          <a:xfrm>
            <a:off x="603647" y="5470446"/>
            <a:ext cx="13423106" cy="1545669"/>
          </a:xfrm>
          <a:prstGeom prst="roundRect">
            <a:avLst>
              <a:gd name="adj" fmla="val 10043"/>
            </a:avLst>
          </a:prstGeom>
          <a:solidFill>
            <a:srgbClr val="CEE6FD"/>
          </a:solidFill>
        </p:spPr>
      </p:sp>
      <p:sp>
        <p:nvSpPr>
          <p:cNvPr id="9" name="Shape 3"/>
          <p:cNvSpPr/>
          <p:nvPr/>
        </p:nvSpPr>
        <p:spPr>
          <a:xfrm>
            <a:off x="603647" y="5470446"/>
            <a:ext cx="6711553" cy="1545669"/>
          </a:xfrm>
          <a:prstGeom prst="roundRect">
            <a:avLst>
              <a:gd name="adj" fmla="val 10043"/>
            </a:avLst>
          </a:prstGeom>
          <a:solidFill>
            <a:srgbClr val="CEE6FD"/>
          </a:solidFill>
        </p:spPr>
      </p:sp>
      <p:sp>
        <p:nvSpPr>
          <p:cNvPr id="10" name="Text 4"/>
          <p:cNvSpPr/>
          <p:nvPr/>
        </p:nvSpPr>
        <p:spPr>
          <a:xfrm>
            <a:off x="776049" y="5642848"/>
            <a:ext cx="4755475" cy="269438"/>
          </a:xfrm>
          <a:prstGeom prst="rect">
            <a:avLst/>
          </a:prstGeom>
          <a:noFill/>
        </p:spPr>
        <p:txBody>
          <a:bodyPr wrap="none" lIns="0" tIns="0" rIns="0" bIns="0" rtlCol="0" anchor="t"/>
          <a:lstStyle/>
          <a:p>
            <a:pPr marL="0" indent="0" algn="l">
              <a:lnSpc>
                <a:spcPts val="2100"/>
              </a:lnSpc>
              <a:buNone/>
            </a:pPr>
            <a:r>
              <a:rPr lang="en-US" sz="1650" dirty="0">
                <a:solidFill>
                  <a:srgbClr val="0066CC"/>
                </a:solidFill>
                <a:latin typeface="Instrument Sans Semi Bold" pitchFamily="34" charset="0"/>
                <a:ea typeface="Instrument Sans Semi Bold" pitchFamily="34" charset="-122"/>
                <a:cs typeface="Instrument Sans Semi Bold" pitchFamily="34" charset="-120"/>
              </a:rPr>
              <a:t>Gadget Blueprint Archives</a:t>
            </a:r>
            <a:r>
              <a:rPr lang="en-US" sz="1650" dirty="0">
                <a:solidFill>
                  <a:srgbClr val="1E3063"/>
                </a:solidFill>
                <a:latin typeface="Instrument Sans Semi Bold" pitchFamily="34" charset="0"/>
                <a:ea typeface="Instrument Sans Semi Bold" pitchFamily="34" charset="-122"/>
                <a:cs typeface="Instrument Sans Semi Bold" pitchFamily="34" charset="-120"/>
              </a:rPr>
              <a:t> (Project Repository)</a:t>
            </a:r>
            <a:endParaRPr lang="en-US" sz="1650" dirty="0"/>
          </a:p>
        </p:txBody>
      </p:sp>
      <p:sp>
        <p:nvSpPr>
          <p:cNvPr id="11" name="Text 5"/>
          <p:cNvSpPr/>
          <p:nvPr/>
        </p:nvSpPr>
        <p:spPr>
          <a:xfrm>
            <a:off x="776049" y="6015752"/>
            <a:ext cx="6366748" cy="582454"/>
          </a:xfrm>
          <a:prstGeom prst="rect">
            <a:avLst/>
          </a:prstGeom>
          <a:noFill/>
        </p:spPr>
        <p:txBody>
          <a:bodyPr wrap="square" lIns="0" tIns="0" rIns="0" bIns="0" rtlCol="0" anchor="t"/>
          <a:lstStyle/>
          <a:p>
            <a:pPr marL="0" indent="0" algn="l">
              <a:lnSpc>
                <a:spcPts val="215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Our project's very own </a:t>
            </a:r>
            <a:r>
              <a:rPr lang="en-US" sz="1350" b="1" dirty="0">
                <a:solidFill>
                  <a:srgbClr val="1E3063"/>
                </a:solidFill>
                <a:latin typeface="Instrument Sans Medium" pitchFamily="34" charset="0"/>
                <a:ea typeface="Instrument Sans Medium" pitchFamily="34" charset="-122"/>
                <a:cs typeface="Instrument Sans Medium" pitchFamily="34" charset="-120"/>
              </a:rPr>
              <a:t>Time Machine</a:t>
            </a:r>
            <a:r>
              <a:rPr lang="en-US" sz="1350" dirty="0">
                <a:solidFill>
                  <a:srgbClr val="1E3063"/>
                </a:solidFill>
                <a:latin typeface="Instrument Sans Medium" pitchFamily="34" charset="0"/>
                <a:ea typeface="Instrument Sans Medium" pitchFamily="34" charset="-122"/>
                <a:cs typeface="Instrument Sans Medium" pitchFamily="34" charset="-120"/>
              </a:rPr>
              <a:t> for version control: </a:t>
            </a:r>
            <a:r>
              <a:rPr lang="en-US" sz="1350" dirty="0">
                <a:solidFill>
                  <a:srgbClr val="1E3063"/>
                </a:solidFill>
                <a:highlight>
                  <a:srgbClr val="F2F2F2"/>
                </a:highlight>
                <a:latin typeface="Consolas" pitchFamily="34" charset="0"/>
                <a:ea typeface="Consolas" pitchFamily="34" charset="-122"/>
                <a:cs typeface="Consolas" pitchFamily="34" charset="-120"/>
              </a:rPr>
              <a:t>pgcit-final-project-Doraemon's Tech Team</a:t>
            </a:r>
            <a:endParaRPr lang="en-US" sz="1350" dirty="0"/>
          </a:p>
        </p:txBody>
      </p:sp>
      <p:sp>
        <p:nvSpPr>
          <p:cNvPr id="12" name="Shape 6"/>
          <p:cNvSpPr/>
          <p:nvPr/>
        </p:nvSpPr>
        <p:spPr>
          <a:xfrm>
            <a:off x="7315200" y="5470446"/>
            <a:ext cx="6711553" cy="1545669"/>
          </a:xfrm>
          <a:prstGeom prst="rect">
            <a:avLst/>
          </a:prstGeom>
          <a:solidFill>
            <a:srgbClr val="CEE6FD"/>
          </a:solidFill>
        </p:spPr>
      </p:sp>
      <p:sp>
        <p:nvSpPr>
          <p:cNvPr id="13" name="Shape 7"/>
          <p:cNvSpPr/>
          <p:nvPr/>
        </p:nvSpPr>
        <p:spPr>
          <a:xfrm>
            <a:off x="7315200" y="5470446"/>
            <a:ext cx="22860" cy="1545669"/>
          </a:xfrm>
          <a:prstGeom prst="roundRect">
            <a:avLst>
              <a:gd name="adj" fmla="val 679036"/>
            </a:avLst>
          </a:prstGeom>
          <a:solidFill>
            <a:srgbClr val="B4CCE3"/>
          </a:solidFill>
        </p:spPr>
      </p:sp>
      <p:sp>
        <p:nvSpPr>
          <p:cNvPr id="14" name="Text 8"/>
          <p:cNvSpPr/>
          <p:nvPr/>
        </p:nvSpPr>
        <p:spPr>
          <a:xfrm>
            <a:off x="7487602" y="5642848"/>
            <a:ext cx="4273391" cy="269438"/>
          </a:xfrm>
          <a:prstGeom prst="rect">
            <a:avLst/>
          </a:prstGeom>
          <a:noFill/>
        </p:spPr>
        <p:txBody>
          <a:bodyPr wrap="none" lIns="0" tIns="0" rIns="0" bIns="0" rtlCol="0" anchor="t"/>
          <a:lstStyle/>
          <a:p>
            <a:pPr marL="0" indent="0" algn="l">
              <a:lnSpc>
                <a:spcPts val="2100"/>
              </a:lnSpc>
              <a:buNone/>
            </a:pPr>
            <a:r>
              <a:rPr lang="en-US" sz="1650" dirty="0">
                <a:solidFill>
                  <a:srgbClr val="0066CC"/>
                </a:solidFill>
                <a:latin typeface="Instrument Sans Semi Bold" pitchFamily="34" charset="0"/>
                <a:ea typeface="Instrument Sans Semi Bold" pitchFamily="34" charset="-122"/>
                <a:cs typeface="Instrument Sans Semi Bold" pitchFamily="34" charset="-120"/>
              </a:rPr>
              <a:t>Core Gadgets &amp; Tools</a:t>
            </a:r>
            <a:r>
              <a:rPr lang="en-US" sz="1650" dirty="0">
                <a:solidFill>
                  <a:srgbClr val="1E3063"/>
                </a:solidFill>
                <a:latin typeface="Instrument Sans Semi Bold" pitchFamily="34" charset="0"/>
                <a:ea typeface="Instrument Sans Semi Bold" pitchFamily="34" charset="-122"/>
                <a:cs typeface="Instrument Sans Semi Bold" pitchFamily="34" charset="-120"/>
              </a:rPr>
              <a:t> (Core Technologies)</a:t>
            </a:r>
            <a:endParaRPr lang="en-US" sz="1650" dirty="0"/>
          </a:p>
        </p:txBody>
      </p:sp>
      <p:sp>
        <p:nvSpPr>
          <p:cNvPr id="15" name="Text 9"/>
          <p:cNvSpPr/>
          <p:nvPr/>
        </p:nvSpPr>
        <p:spPr>
          <a:xfrm>
            <a:off x="7487602" y="6015752"/>
            <a:ext cx="6366748" cy="827961"/>
          </a:xfrm>
          <a:prstGeom prst="rect">
            <a:avLst/>
          </a:prstGeom>
          <a:noFill/>
        </p:spPr>
        <p:txBody>
          <a:bodyPr wrap="square" lIns="0" tIns="0" rIns="0" bIns="0" rtlCol="0" anchor="t"/>
          <a:lstStyle/>
          <a:p>
            <a:pPr marL="0" indent="0" algn="l">
              <a:lnSpc>
                <a:spcPts val="2150"/>
              </a:lnSpc>
              <a:buNone/>
            </a:pPr>
            <a:r>
              <a:rPr lang="en-US" sz="1350" b="1" dirty="0">
                <a:solidFill>
                  <a:srgbClr val="1E3063"/>
                </a:solidFill>
                <a:latin typeface="Instrument Sans Medium" pitchFamily="34" charset="0"/>
                <a:ea typeface="Instrument Sans Medium" pitchFamily="34" charset="-122"/>
                <a:cs typeface="Instrument Sans Medium" pitchFamily="34" charset="-120"/>
              </a:rPr>
              <a:t>SvelteKit</a:t>
            </a:r>
            <a:r>
              <a:rPr lang="en-US" sz="1350" dirty="0">
                <a:solidFill>
                  <a:srgbClr val="1E3063"/>
                </a:solidFill>
                <a:latin typeface="Instrument Sans Medium" pitchFamily="34" charset="0"/>
                <a:ea typeface="Instrument Sans Medium" pitchFamily="34" charset="-122"/>
                <a:cs typeface="Instrument Sans Medium" pitchFamily="34" charset="-120"/>
              </a:rPr>
              <a:t> (our </a:t>
            </a:r>
            <a:r>
              <a:rPr lang="en-US" sz="1350" b="1" dirty="0">
                <a:solidFill>
                  <a:srgbClr val="1E3063"/>
                </a:solidFill>
                <a:latin typeface="Instrument Sans Medium" pitchFamily="34" charset="0"/>
                <a:ea typeface="Instrument Sans Medium" pitchFamily="34" charset="-122"/>
                <a:cs typeface="Instrument Sans Medium" pitchFamily="34" charset="-120"/>
              </a:rPr>
              <a:t>Anywhere Door</a:t>
            </a:r>
            <a:r>
              <a:rPr lang="en-US" sz="1350" dirty="0">
                <a:solidFill>
                  <a:srgbClr val="1E3063"/>
                </a:solidFill>
                <a:latin typeface="Instrument Sans Medium" pitchFamily="34" charset="0"/>
                <a:ea typeface="Instrument Sans Medium" pitchFamily="34" charset="-122"/>
                <a:cs typeface="Instrument Sans Medium" pitchFamily="34" charset="-120"/>
              </a:rPr>
              <a:t> for the frontend) • </a:t>
            </a:r>
            <a:r>
              <a:rPr lang="en-US" sz="1350" b="1" dirty="0">
                <a:solidFill>
                  <a:srgbClr val="1E3063"/>
                </a:solidFill>
                <a:latin typeface="Instrument Sans Medium" pitchFamily="34" charset="0"/>
                <a:ea typeface="Instrument Sans Medium" pitchFamily="34" charset="-122"/>
                <a:cs typeface="Instrument Sans Medium" pitchFamily="34" charset="-120"/>
              </a:rPr>
              <a:t>Node.js/Express</a:t>
            </a:r>
            <a:r>
              <a:rPr lang="en-US" sz="1350" dirty="0">
                <a:solidFill>
                  <a:srgbClr val="1E3063"/>
                </a:solidFill>
                <a:latin typeface="Instrument Sans Medium" pitchFamily="34" charset="0"/>
                <a:ea typeface="Instrument Sans Medium" pitchFamily="34" charset="-122"/>
                <a:cs typeface="Instrument Sans Medium" pitchFamily="34" charset="-120"/>
              </a:rPr>
              <a:t> (our backend </a:t>
            </a:r>
            <a:r>
              <a:rPr lang="en-US" sz="1350" b="1" dirty="0">
                <a:solidFill>
                  <a:srgbClr val="1E3063"/>
                </a:solidFill>
                <a:latin typeface="Instrument Sans Medium" pitchFamily="34" charset="0"/>
                <a:ea typeface="Instrument Sans Medium" pitchFamily="34" charset="-122"/>
                <a:cs typeface="Instrument Sans Medium" pitchFamily="34" charset="-120"/>
              </a:rPr>
              <a:t>Hopter</a:t>
            </a:r>
            <a:r>
              <a:rPr lang="en-US" sz="1350" dirty="0">
                <a:solidFill>
                  <a:srgbClr val="1E3063"/>
                </a:solidFill>
                <a:latin typeface="Instrument Sans Medium" pitchFamily="34" charset="0"/>
                <a:ea typeface="Instrument Sans Medium" pitchFamily="34" charset="-122"/>
                <a:cs typeface="Instrument Sans Medium" pitchFamily="34" charset="-120"/>
              </a:rPr>
              <a:t>) • </a:t>
            </a:r>
            <a:r>
              <a:rPr lang="en-US" sz="1350" b="1" dirty="0">
                <a:solidFill>
                  <a:srgbClr val="1E3063"/>
                </a:solidFill>
                <a:latin typeface="Instrument Sans Medium" pitchFamily="34" charset="0"/>
                <a:ea typeface="Instrument Sans Medium" pitchFamily="34" charset="-122"/>
                <a:cs typeface="Instrument Sans Medium" pitchFamily="34" charset="-120"/>
              </a:rPr>
              <a:t>SQLite</a:t>
            </a:r>
            <a:r>
              <a:rPr lang="en-US" sz="1350" dirty="0">
                <a:solidFill>
                  <a:srgbClr val="1E3063"/>
                </a:solidFill>
                <a:latin typeface="Instrument Sans Medium" pitchFamily="34" charset="0"/>
                <a:ea typeface="Instrument Sans Medium" pitchFamily="34" charset="-122"/>
                <a:cs typeface="Instrument Sans Medium" pitchFamily="34" charset="-120"/>
              </a:rPr>
              <a:t> (our data </a:t>
            </a:r>
            <a:r>
              <a:rPr lang="en-US" sz="1350" b="1" dirty="0">
                <a:solidFill>
                  <a:srgbClr val="1E3063"/>
                </a:solidFill>
                <a:latin typeface="Instrument Sans Medium" pitchFamily="34" charset="0"/>
                <a:ea typeface="Instrument Sans Medium" pitchFamily="34" charset="-122"/>
                <a:cs typeface="Instrument Sans Medium" pitchFamily="34" charset="-120"/>
              </a:rPr>
              <a:t>Memory Bread</a:t>
            </a:r>
            <a:r>
              <a:rPr lang="en-US" sz="1350" dirty="0">
                <a:solidFill>
                  <a:srgbClr val="1E3063"/>
                </a:solidFill>
                <a:latin typeface="Instrument Sans Medium" pitchFamily="34" charset="0"/>
                <a:ea typeface="Instrument Sans Medium" pitchFamily="34" charset="-122"/>
                <a:cs typeface="Instrument Sans Medium" pitchFamily="34" charset="-120"/>
              </a:rPr>
              <a:t>) • </a:t>
            </a:r>
            <a:r>
              <a:rPr lang="en-US" sz="1350" b="1" dirty="0">
                <a:solidFill>
                  <a:srgbClr val="1E3063"/>
                </a:solidFill>
                <a:latin typeface="Instrument Sans Medium" pitchFamily="34" charset="0"/>
                <a:ea typeface="Instrument Sans Medium" pitchFamily="34" charset="-122"/>
                <a:cs typeface="Instrument Sans Medium" pitchFamily="34" charset="-120"/>
              </a:rPr>
              <a:t>JWT</a:t>
            </a:r>
            <a:r>
              <a:rPr lang="en-US" sz="1350" dirty="0">
                <a:solidFill>
                  <a:srgbClr val="1E3063"/>
                </a:solidFill>
                <a:latin typeface="Instrument Sans Medium" pitchFamily="34" charset="0"/>
                <a:ea typeface="Instrument Sans Medium" pitchFamily="34" charset="-122"/>
                <a:cs typeface="Instrument Sans Medium" pitchFamily="34" charset="-120"/>
              </a:rPr>
              <a:t> (our secure </a:t>
            </a:r>
            <a:r>
              <a:rPr lang="en-US" sz="1350" b="1" dirty="0">
                <a:solidFill>
                  <a:srgbClr val="1E3063"/>
                </a:solidFill>
                <a:latin typeface="Instrument Sans Medium" pitchFamily="34" charset="0"/>
                <a:ea typeface="Instrument Sans Medium" pitchFamily="34" charset="-122"/>
                <a:cs typeface="Instrument Sans Medium" pitchFamily="34" charset="-120"/>
              </a:rPr>
              <a:t>Invisible Cape</a:t>
            </a:r>
            <a:r>
              <a:rPr lang="en-US" sz="1350" dirty="0">
                <a:solidFill>
                  <a:srgbClr val="1E3063"/>
                </a:solidFill>
                <a:latin typeface="Instrument Sans Medium" pitchFamily="34" charset="0"/>
                <a:ea typeface="Instrument Sans Medium" pitchFamily="34" charset="-122"/>
                <a:cs typeface="Instrument Sans Medium" pitchFamily="34" charset="-120"/>
              </a:rPr>
              <a:t>) • </a:t>
            </a:r>
            <a:r>
              <a:rPr lang="en-US" sz="1350" b="1" dirty="0">
                <a:solidFill>
                  <a:srgbClr val="1E3063"/>
                </a:solidFill>
                <a:latin typeface="Instrument Sans Medium" pitchFamily="34" charset="0"/>
                <a:ea typeface="Instrument Sans Medium" pitchFamily="34" charset="-122"/>
                <a:cs typeface="Instrument Sans Medium" pitchFamily="34" charset="-120"/>
              </a:rPr>
              <a:t>Java Swing</a:t>
            </a:r>
            <a:r>
              <a:rPr lang="en-US" sz="1350" dirty="0">
                <a:solidFill>
                  <a:srgbClr val="1E3063"/>
                </a:solidFill>
                <a:latin typeface="Instrument Sans Medium" pitchFamily="34" charset="0"/>
                <a:ea typeface="Instrument Sans Medium" pitchFamily="34" charset="-122"/>
                <a:cs typeface="Instrument Sans Medium" pitchFamily="34" charset="-120"/>
              </a:rPr>
              <a:t> (our handy admin </a:t>
            </a:r>
            <a:r>
              <a:rPr lang="en-US" sz="1350" b="1" dirty="0">
                <a:solidFill>
                  <a:srgbClr val="1E3063"/>
                </a:solidFill>
                <a:latin typeface="Instrument Sans Medium" pitchFamily="34" charset="0"/>
                <a:ea typeface="Instrument Sans Medium" pitchFamily="34" charset="-122"/>
                <a:cs typeface="Instrument Sans Medium" pitchFamily="34" charset="-120"/>
              </a:rPr>
              <a:t>Big Light</a:t>
            </a:r>
            <a:r>
              <a:rPr lang="en-US" sz="1350" dirty="0">
                <a:solidFill>
                  <a:srgbClr val="1E3063"/>
                </a:solidFill>
                <a:latin typeface="Instrument Sans Medium" pitchFamily="34" charset="0"/>
                <a:ea typeface="Instrument Sans Medium" pitchFamily="34" charset="-122"/>
                <a:cs typeface="Instrument Sans Medium" pitchFamily="34" charset="-120"/>
              </a:rPr>
              <a: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9369</Words>
  <Application>WPS 文字</Application>
  <PresentationFormat>On-screen Show (16:9)</PresentationFormat>
  <Paragraphs>217</Paragraphs>
  <Slides>13</Slides>
  <Notes>11</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13</vt:i4>
      </vt:variant>
    </vt:vector>
  </HeadingPairs>
  <TitlesOfParts>
    <vt:vector size="38" baseType="lpstr">
      <vt:lpstr>Arial</vt:lpstr>
      <vt:lpstr>宋体</vt:lpstr>
      <vt:lpstr>Wingdings</vt:lpstr>
      <vt:lpstr>Instrument Sans Semi Bold</vt:lpstr>
      <vt:lpstr>Instrument Sans Semi Bold</vt:lpstr>
      <vt:lpstr>Instrument Sans Semi Bold</vt:lpstr>
      <vt:lpstr>Instrument Sans Medium</vt:lpstr>
      <vt:lpstr>Instrument Sans Medium</vt:lpstr>
      <vt:lpstr>Instrument Sans Medium</vt:lpstr>
      <vt:lpstr>汉仪旗黑KW</vt:lpstr>
      <vt:lpstr>Consolas</vt:lpstr>
      <vt:lpstr>苹方-简</vt:lpstr>
      <vt:lpstr>Consolas</vt:lpstr>
      <vt:lpstr>Consolas</vt:lpstr>
      <vt:lpstr>Calibri</vt:lpstr>
      <vt:lpstr>Helvetica Neue</vt:lpstr>
      <vt:lpstr>微软雅黑</vt:lpstr>
      <vt:lpstr>汉仪旗黑</vt:lpstr>
      <vt:lpstr>宋体</vt:lpstr>
      <vt:lpstr>Arial Unicode MS</vt:lpstr>
      <vt:lpstr>等线</vt:lpstr>
      <vt:lpstr>汉仪中等线KW</vt:lpstr>
      <vt:lpstr>汉仪书宋二KW</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WPS_1629808247</cp:lastModifiedBy>
  <cp:revision>6</cp:revision>
  <dcterms:created xsi:type="dcterms:W3CDTF">2025-11-06T03:47:11Z</dcterms:created>
  <dcterms:modified xsi:type="dcterms:W3CDTF">2025-11-06T03:47:11Z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1C9AE57A1FCB21EB5B460B69A1700C7B_43</vt:lpwstr>
  </property>
  <property fmtid="{D5CDD505-2E9C-101B-9397-08002B2CF9AE}" pid="3" name="KSOProductBuildVer">
    <vt:lpwstr>2052-12.1.22218.22218</vt:lpwstr>
  </property>
</Properties>
</file>