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4630400" cy="8229600"/>
  <p:notesSz cx="8229600" cy="14630400"/>
  <p:embeddedFontLst>
    <p:embeddedFont>
      <p:font typeface="Instrument Sans Semi Bold"/>
      <p:regular r:id="rId18"/>
    </p:embeddedFont>
    <p:embeddedFont>
      <p:font typeface="Instrument Sans Semi Bold"/>
      <p:regular r:id="rId19"/>
    </p:embeddedFont>
    <p:embeddedFont>
      <p:font typeface="Instrument Sans Semi Bold"/>
      <p:regular r:id="rId20"/>
    </p:embeddedFont>
    <p:embeddedFont>
      <p:font typeface="Instrument Sans Semi Bold"/>
      <p:regular r:id="rId21"/>
    </p:embeddedFont>
    <p:embeddedFont>
      <p:font typeface="Instrument Sans Medium"/>
      <p:regular r:id="rId22"/>
    </p:embeddedFont>
    <p:embeddedFont>
      <p:font typeface="Instrument Sans Medium"/>
      <p:regular r:id="rId23"/>
    </p:embeddedFont>
    <p:embeddedFont>
      <p:font typeface="Instrument Sans Medium"/>
      <p:regular r:id="rId24"/>
    </p:embeddedFont>
    <p:embeddedFont>
      <p:font typeface="Instrument Sans Medium"/>
      <p:regular r:id="rId25"/>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font" Target="fonts/font7.fntdata"/><Relationship Id="rId25" Type="http://schemas.openxmlformats.org/officeDocument/2006/relationships/font" Target="fonts/font8.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leader&amp;architecture: Leo Mo-yung
UI &amp; developer: Yushun Shi
Developer&amp;test: Xuan Zeng
Developer&amp;test: Zhongwei Zhang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3-1.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4-1.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5-1.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6-1.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7-1.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8-1.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9-1.pn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0-1.pn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1-1.pn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2-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image" Target="../media/image-6-4.png"/><Relationship Id="rId5" Type="http://schemas.openxmlformats.org/officeDocument/2006/relationships/image" Target="../media/image-6-5.svg"/><Relationship Id="rId6" Type="http://schemas.openxmlformats.org/officeDocument/2006/relationships/image" Target="../media/image-6-6.png"/><Relationship Id="rId7" Type="http://schemas.openxmlformats.org/officeDocument/2006/relationships/image" Target="../media/image-6-7.svg"/><Relationship Id="rId8" Type="http://schemas.openxmlformats.org/officeDocument/2006/relationships/image" Target="../media/image-6-8.png"/><Relationship Id="rId9" Type="http://schemas.openxmlformats.org/officeDocument/2006/relationships/image" Target="../media/image-6-9.svg"/><Relationship Id="rId10" Type="http://schemas.openxmlformats.org/officeDocument/2006/relationships/slideLayout" Target="../slideLayouts/slideLayout7.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0.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2.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69680" y="0"/>
            <a:ext cx="5760720" cy="8229600"/>
          </a:xfrm>
          <a:prstGeom prst="rect">
            <a:avLst/>
          </a:prstGeom>
        </p:spPr>
      </p:pic>
      <p:sp>
        <p:nvSpPr>
          <p:cNvPr id="3" name="Text 0"/>
          <p:cNvSpPr/>
          <p:nvPr/>
        </p:nvSpPr>
        <p:spPr>
          <a:xfrm>
            <a:off x="793790" y="2474714"/>
            <a:ext cx="7556421" cy="2835116"/>
          </a:xfrm>
          <a:prstGeom prst="rect">
            <a:avLst/>
          </a:prstGeom>
          <a:noFill/>
          <a:ln/>
        </p:spPr>
        <p:txBody>
          <a:bodyPr wrap="square" lIns="0" tIns="0" rIns="0" bIns="0" rtlCol="0" anchor="t"/>
          <a:lstStyle/>
          <a:p>
            <a:pPr algn="l" indent="0" marL="0">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DoraBlog: Unleashing Gadget-Powered Storytelling - Final Project Presentation</a:t>
            </a:r>
            <a:endParaRPr lang="en-US" sz="4450" dirty="0"/>
          </a:p>
        </p:txBody>
      </p:sp>
      <p:sp>
        <p:nvSpPr>
          <p:cNvPr id="4" name="Text 1"/>
          <p:cNvSpPr/>
          <p:nvPr/>
        </p:nvSpPr>
        <p:spPr>
          <a:xfrm>
            <a:off x="793790" y="5400556"/>
            <a:ext cx="4394835" cy="354330"/>
          </a:xfrm>
          <a:prstGeom prst="rect">
            <a:avLst/>
          </a:prstGeom>
          <a:noFill/>
          <a:ln/>
        </p:spPr>
        <p:txBody>
          <a:bodyPr wrap="none" lIns="0" tIns="0" rIns="0" bIns="0" rtlCol="0" anchor="t"/>
          <a:lstStyle/>
          <a:p>
            <a:pPr algn="l" indent="0" marL="0">
              <a:lnSpc>
                <a:spcPts val="2750"/>
              </a:lnSpc>
              <a:buNone/>
            </a:pPr>
            <a:r>
              <a:rPr lang="en-US" sz="2200" dirty="0">
                <a:solidFill>
                  <a:srgbClr val="091C53"/>
                </a:solidFill>
                <a:latin typeface="Instrument Sans Semi Bold" pitchFamily="34" charset="0"/>
                <a:ea typeface="Instrument Sans Semi Bold" pitchFamily="34" charset="-122"/>
                <a:cs typeface="Instrument Sans Semi Bold" pitchFamily="34" charset="-120"/>
              </a:rPr>
              <a:t>Presented by Team Blue Cat Four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69680" y="0"/>
            <a:ext cx="5760720" cy="8229600"/>
          </a:xfrm>
          <a:prstGeom prst="rect">
            <a:avLst/>
          </a:prstGeom>
        </p:spPr>
      </p:pic>
      <p:sp>
        <p:nvSpPr>
          <p:cNvPr id="3" name="Text 0"/>
          <p:cNvSpPr/>
          <p:nvPr/>
        </p:nvSpPr>
        <p:spPr>
          <a:xfrm>
            <a:off x="793790" y="2481739"/>
            <a:ext cx="5670590" cy="708779"/>
          </a:xfrm>
          <a:prstGeom prst="rect">
            <a:avLst/>
          </a:prstGeom>
          <a:noFill/>
          <a:ln/>
        </p:spPr>
        <p:txBody>
          <a:bodyPr wrap="none" lIns="0" tIns="0" rIns="0" bIns="0" rtlCol="0" anchor="t"/>
          <a:lstStyle/>
          <a:p>
            <a:pPr algn="l" indent="0" marL="0">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Team members</a:t>
            </a:r>
            <a:endParaRPr lang="en-US" sz="4450" dirty="0"/>
          </a:p>
        </p:txBody>
      </p:sp>
      <p:sp>
        <p:nvSpPr>
          <p:cNvPr id="4" name="Text 1"/>
          <p:cNvSpPr/>
          <p:nvPr/>
        </p:nvSpPr>
        <p:spPr>
          <a:xfrm>
            <a:off x="793790" y="3530679"/>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Team leader &amp; architecture: Leo Mo-yung</a:t>
            </a:r>
            <a:endParaRPr lang="en-US" sz="1750" dirty="0"/>
          </a:p>
        </p:txBody>
      </p:sp>
      <p:sp>
        <p:nvSpPr>
          <p:cNvPr id="5" name="Text 2"/>
          <p:cNvSpPr/>
          <p:nvPr/>
        </p:nvSpPr>
        <p:spPr>
          <a:xfrm>
            <a:off x="793790" y="4148733"/>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UI &amp; developer: Yushun Shi</a:t>
            </a:r>
            <a:endParaRPr lang="en-US" sz="1750" dirty="0"/>
          </a:p>
        </p:txBody>
      </p:sp>
      <p:sp>
        <p:nvSpPr>
          <p:cNvPr id="6" name="Text 3"/>
          <p:cNvSpPr/>
          <p:nvPr/>
        </p:nvSpPr>
        <p:spPr>
          <a:xfrm>
            <a:off x="793790" y="4766786"/>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Developer &amp; test: Xuan Zeng</a:t>
            </a:r>
            <a:endParaRPr lang="en-US" sz="1750" dirty="0"/>
          </a:p>
        </p:txBody>
      </p:sp>
      <p:sp>
        <p:nvSpPr>
          <p:cNvPr id="7" name="Text 4"/>
          <p:cNvSpPr/>
          <p:nvPr/>
        </p:nvSpPr>
        <p:spPr>
          <a:xfrm>
            <a:off x="793790" y="5384840"/>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Developer &amp; test: Zhongwei Zhang</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760720" cy="8229600"/>
          </a:xfrm>
          <a:prstGeom prst="rect">
            <a:avLst/>
          </a:prstGeom>
        </p:spPr>
      </p:pic>
      <p:sp>
        <p:nvSpPr>
          <p:cNvPr id="3" name="Text 0"/>
          <p:cNvSpPr/>
          <p:nvPr/>
        </p:nvSpPr>
        <p:spPr>
          <a:xfrm>
            <a:off x="6280190" y="2155746"/>
            <a:ext cx="7556421" cy="2126337"/>
          </a:xfrm>
          <a:prstGeom prst="rect">
            <a:avLst/>
          </a:prstGeom>
          <a:noFill/>
          <a:ln/>
        </p:spPr>
        <p:txBody>
          <a:bodyPr wrap="square" lIns="0" tIns="0" rIns="0" bIns="0" rtlCol="0" anchor="t"/>
          <a:lstStyle/>
          <a:p>
            <a:pPr algn="l" indent="0" marL="0">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DoraBlog: Unveiling Doraemon's Blogging Wonderland!</a:t>
            </a:r>
            <a:endParaRPr lang="en-US" sz="4450" dirty="0"/>
          </a:p>
        </p:txBody>
      </p:sp>
      <p:sp>
        <p:nvSpPr>
          <p:cNvPr id="4" name="Text 1"/>
          <p:cNvSpPr/>
          <p:nvPr/>
        </p:nvSpPr>
        <p:spPr>
          <a:xfrm>
            <a:off x="6280190" y="4622244"/>
            <a:ext cx="7556421" cy="1451610"/>
          </a:xfrm>
          <a:prstGeom prst="rect">
            <a:avLst/>
          </a:prstGeom>
          <a:noFill/>
          <a:ln/>
        </p:spPr>
        <p:txBody>
          <a:bodyPr wrap="square" lIns="0" tIns="0" rIns="0" bIns="0" rtlCol="0" anchor="t"/>
          <a:lstStyle/>
          <a:p>
            <a:pPr algn="l" indent="0" marL="0">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Discover a revolutionary platform where classic Doraemon gadgets transform blogging into an imaginative adventure. Share your stories with extraordinary tools, making every post a magical experience, powered by innovation and creativity.</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69680" y="0"/>
            <a:ext cx="5760720" cy="8229600"/>
          </a:xfrm>
          <a:prstGeom prst="rect">
            <a:avLst/>
          </a:prstGeom>
        </p:spPr>
      </p:pic>
      <p:sp>
        <p:nvSpPr>
          <p:cNvPr id="3" name="Text 0"/>
          <p:cNvSpPr/>
          <p:nvPr/>
        </p:nvSpPr>
        <p:spPr>
          <a:xfrm>
            <a:off x="525304" y="436959"/>
            <a:ext cx="8093393" cy="938213"/>
          </a:xfrm>
          <a:prstGeom prst="rect">
            <a:avLst/>
          </a:prstGeom>
          <a:noFill/>
          <a:ln/>
        </p:spPr>
        <p:txBody>
          <a:bodyPr wrap="square" lIns="0" tIns="0" rIns="0" bIns="0" rtlCol="0" anchor="t"/>
          <a:lstStyle/>
          <a:p>
            <a:pPr algn="l" indent="0" marL="0">
              <a:lnSpc>
                <a:spcPts val="3650"/>
              </a:lnSpc>
              <a:buNone/>
            </a:pPr>
            <a:r>
              <a:rPr lang="en-US" sz="2950" dirty="0">
                <a:solidFill>
                  <a:srgbClr val="091C53"/>
                </a:solidFill>
                <a:latin typeface="Instrument Sans Semi Bold" pitchFamily="34" charset="0"/>
                <a:ea typeface="Instrument Sans Semi Bold" pitchFamily="34" charset="-122"/>
                <a:cs typeface="Instrument Sans Semi Bold" pitchFamily="34" charset="-120"/>
              </a:rPr>
              <a:t>DoraBlog: Unveiling Doraemon's Blogging Wonderland!</a:t>
            </a:r>
            <a:endParaRPr lang="en-US" sz="2950" dirty="0"/>
          </a:p>
        </p:txBody>
      </p:sp>
      <p:sp>
        <p:nvSpPr>
          <p:cNvPr id="4" name="Shape 1"/>
          <p:cNvSpPr/>
          <p:nvPr/>
        </p:nvSpPr>
        <p:spPr>
          <a:xfrm>
            <a:off x="525304" y="1600200"/>
            <a:ext cx="8093393" cy="1375529"/>
          </a:xfrm>
          <a:prstGeom prst="roundRect">
            <a:avLst>
              <a:gd name="adj" fmla="val 5318"/>
            </a:avLst>
          </a:prstGeom>
          <a:solidFill>
            <a:srgbClr val="FFFFFF"/>
          </a:solidFill>
          <a:ln w="15240">
            <a:solidFill>
              <a:srgbClr val="B4CCE3"/>
            </a:solidFill>
            <a:prstDash val="solid"/>
          </a:ln>
        </p:spPr>
      </p:sp>
      <p:sp>
        <p:nvSpPr>
          <p:cNvPr id="5" name="Shape 2"/>
          <p:cNvSpPr/>
          <p:nvPr/>
        </p:nvSpPr>
        <p:spPr>
          <a:xfrm>
            <a:off x="510064" y="1600200"/>
            <a:ext cx="60960" cy="1375529"/>
          </a:xfrm>
          <a:prstGeom prst="roundRect">
            <a:avLst>
              <a:gd name="adj" fmla="val 221595"/>
            </a:avLst>
          </a:prstGeom>
          <a:solidFill>
            <a:srgbClr val="84C1FA"/>
          </a:solidFill>
          <a:ln/>
        </p:spPr>
      </p:sp>
      <p:sp>
        <p:nvSpPr>
          <p:cNvPr id="6" name="Text 3"/>
          <p:cNvSpPr/>
          <p:nvPr/>
        </p:nvSpPr>
        <p:spPr>
          <a:xfrm>
            <a:off x="736283" y="1765459"/>
            <a:ext cx="3590687" cy="234553"/>
          </a:xfrm>
          <a:prstGeom prst="rect">
            <a:avLst/>
          </a:prstGeom>
          <a:noFill/>
          <a:ln/>
        </p:spPr>
        <p:txBody>
          <a:bodyPr wrap="none" lIns="0" tIns="0" rIns="0" bIns="0" rtlCol="0" anchor="t"/>
          <a:lstStyle/>
          <a:p>
            <a:pPr algn="l" indent="0" marL="0">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Doraemon's Everywhere Pocket Platform</a:t>
            </a:r>
            <a:endParaRPr lang="en-US" sz="1450" dirty="0"/>
          </a:p>
        </p:txBody>
      </p:sp>
      <p:sp>
        <p:nvSpPr>
          <p:cNvPr id="7" name="Text 4"/>
          <p:cNvSpPr/>
          <p:nvPr/>
        </p:nvSpPr>
        <p:spPr>
          <a:xfrm>
            <a:off x="736283" y="2090023"/>
            <a:ext cx="7717155" cy="720447"/>
          </a:xfrm>
          <a:prstGeom prst="rect">
            <a:avLst/>
          </a:prstGeom>
          <a:noFill/>
          <a:ln/>
        </p:spPr>
        <p:txBody>
          <a:bodyPr wrap="square" lIns="0" tIns="0" rIns="0" bIns="0" rtlCol="0" anchor="t"/>
          <a:lstStyle/>
          <a:p>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We've engineered a complete full-stack blogging platform, like Doraemon's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Everywhere Pocket</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featuring a user-friendly front-end interface, a robust back-end service, and an independent management system for seamless operations.</a:t>
            </a:r>
            <a:endParaRPr lang="en-US" sz="1150" dirty="0"/>
          </a:p>
        </p:txBody>
      </p:sp>
      <p:sp>
        <p:nvSpPr>
          <p:cNvPr id="8" name="Shape 5"/>
          <p:cNvSpPr/>
          <p:nvPr/>
        </p:nvSpPr>
        <p:spPr>
          <a:xfrm>
            <a:off x="525304" y="3125748"/>
            <a:ext cx="8093393" cy="1615678"/>
          </a:xfrm>
          <a:prstGeom prst="roundRect">
            <a:avLst>
              <a:gd name="adj" fmla="val 4528"/>
            </a:avLst>
          </a:prstGeom>
          <a:solidFill>
            <a:srgbClr val="FFFFFF"/>
          </a:solidFill>
          <a:ln w="15240">
            <a:solidFill>
              <a:srgbClr val="B4CCE3"/>
            </a:solidFill>
            <a:prstDash val="solid"/>
          </a:ln>
        </p:spPr>
      </p:sp>
      <p:sp>
        <p:nvSpPr>
          <p:cNvPr id="9" name="Shape 6"/>
          <p:cNvSpPr/>
          <p:nvPr/>
        </p:nvSpPr>
        <p:spPr>
          <a:xfrm>
            <a:off x="510064" y="3125748"/>
            <a:ext cx="60960" cy="1615678"/>
          </a:xfrm>
          <a:prstGeom prst="roundRect">
            <a:avLst>
              <a:gd name="adj" fmla="val 221595"/>
            </a:avLst>
          </a:prstGeom>
          <a:solidFill>
            <a:srgbClr val="84C1FA"/>
          </a:solidFill>
          <a:ln/>
        </p:spPr>
      </p:sp>
      <p:sp>
        <p:nvSpPr>
          <p:cNvPr id="10" name="Text 7"/>
          <p:cNvSpPr/>
          <p:nvPr/>
        </p:nvSpPr>
        <p:spPr>
          <a:xfrm>
            <a:off x="736283" y="3291007"/>
            <a:ext cx="2791658" cy="234553"/>
          </a:xfrm>
          <a:prstGeom prst="rect">
            <a:avLst/>
          </a:prstGeom>
          <a:noFill/>
          <a:ln/>
        </p:spPr>
        <p:txBody>
          <a:bodyPr wrap="none" lIns="0" tIns="0" rIns="0" bIns="0" rtlCol="0" anchor="t"/>
          <a:lstStyle/>
          <a:p>
            <a:pPr algn="l" indent="0" marL="0">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Gadget-Powered Core Features</a:t>
            </a:r>
            <a:endParaRPr lang="en-US" sz="1450" dirty="0"/>
          </a:p>
        </p:txBody>
      </p:sp>
      <p:sp>
        <p:nvSpPr>
          <p:cNvPr id="11" name="Text 8"/>
          <p:cNvSpPr/>
          <p:nvPr/>
        </p:nvSpPr>
        <p:spPr>
          <a:xfrm>
            <a:off x="736283" y="3615571"/>
            <a:ext cx="7717155" cy="960596"/>
          </a:xfrm>
          <a:prstGeom prst="rect">
            <a:avLst/>
          </a:prstGeom>
          <a:noFill/>
          <a:ln/>
        </p:spPr>
        <p:txBody>
          <a:bodyPr wrap="square" lIns="0" tIns="0" rIns="0" bIns="0" rtlCol="0" anchor="t"/>
          <a:lstStyle/>
          <a:p>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Experience super-powered features: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Identification Camera</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for user registration/authentication,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Word-Processor Pencil</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for rich-text article creation, a hierarchical comment system (like a tiny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Thought-Reading Microphone</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network),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Detective Hat</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for article search &amp; discovery, and fun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Mood Changer</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like/unlike functionality.</a:t>
            </a:r>
            <a:endParaRPr lang="en-US" sz="1150" dirty="0"/>
          </a:p>
        </p:txBody>
      </p:sp>
      <p:sp>
        <p:nvSpPr>
          <p:cNvPr id="12" name="Shape 9"/>
          <p:cNvSpPr/>
          <p:nvPr/>
        </p:nvSpPr>
        <p:spPr>
          <a:xfrm>
            <a:off x="525304" y="4891445"/>
            <a:ext cx="8093393" cy="1375529"/>
          </a:xfrm>
          <a:prstGeom prst="roundRect">
            <a:avLst>
              <a:gd name="adj" fmla="val 5318"/>
            </a:avLst>
          </a:prstGeom>
          <a:solidFill>
            <a:srgbClr val="FFFFFF"/>
          </a:solidFill>
          <a:ln w="15240">
            <a:solidFill>
              <a:srgbClr val="B4CCE3"/>
            </a:solidFill>
            <a:prstDash val="solid"/>
          </a:ln>
        </p:spPr>
      </p:sp>
      <p:sp>
        <p:nvSpPr>
          <p:cNvPr id="13" name="Shape 10"/>
          <p:cNvSpPr/>
          <p:nvPr/>
        </p:nvSpPr>
        <p:spPr>
          <a:xfrm>
            <a:off x="510064" y="4891445"/>
            <a:ext cx="60960" cy="1375529"/>
          </a:xfrm>
          <a:prstGeom prst="roundRect">
            <a:avLst>
              <a:gd name="adj" fmla="val 221595"/>
            </a:avLst>
          </a:prstGeom>
          <a:solidFill>
            <a:srgbClr val="84C1FA"/>
          </a:solidFill>
          <a:ln/>
        </p:spPr>
      </p:sp>
      <p:sp>
        <p:nvSpPr>
          <p:cNvPr id="14" name="Text 11"/>
          <p:cNvSpPr/>
          <p:nvPr/>
        </p:nvSpPr>
        <p:spPr>
          <a:xfrm>
            <a:off x="736283" y="5056703"/>
            <a:ext cx="2639616" cy="234553"/>
          </a:xfrm>
          <a:prstGeom prst="rect">
            <a:avLst/>
          </a:prstGeom>
          <a:noFill/>
          <a:ln/>
        </p:spPr>
        <p:txBody>
          <a:bodyPr wrap="none" lIns="0" tIns="0" rIns="0" bIns="0" rtlCol="0" anchor="t"/>
          <a:lstStyle/>
          <a:p>
            <a:pPr algn="l" indent="0" marL="0">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Future-Proof User Experience</a:t>
            </a:r>
            <a:endParaRPr lang="en-US" sz="1450" dirty="0"/>
          </a:p>
        </p:txBody>
      </p:sp>
      <p:sp>
        <p:nvSpPr>
          <p:cNvPr id="15" name="Text 12"/>
          <p:cNvSpPr/>
          <p:nvPr/>
        </p:nvSpPr>
        <p:spPr>
          <a:xfrm>
            <a:off x="736283" y="5381268"/>
            <a:ext cx="7717155" cy="720447"/>
          </a:xfrm>
          <a:prstGeom prst="rect">
            <a:avLst/>
          </a:prstGeom>
          <a:noFill/>
          <a:ln/>
        </p:spPr>
        <p:txBody>
          <a:bodyPr wrap="square" lIns="0" tIns="0" rIns="0" bIns="0" rtlCol="0" anchor="t"/>
          <a:lstStyle/>
          <a:p>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Enhance your blog with multi-theme options (light/dark/Doraemon blue, using a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Color-Changing Cloak</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metaphor), a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Truth Mirror</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-like password strength indicator, and daily motivational quotes from our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Motivation Machine</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a:t>
            </a:r>
            <a:endParaRPr lang="en-US" sz="1150" dirty="0"/>
          </a:p>
        </p:txBody>
      </p:sp>
      <p:sp>
        <p:nvSpPr>
          <p:cNvPr id="16" name="Shape 13"/>
          <p:cNvSpPr/>
          <p:nvPr/>
        </p:nvSpPr>
        <p:spPr>
          <a:xfrm>
            <a:off x="525304" y="6416993"/>
            <a:ext cx="8093393" cy="1375529"/>
          </a:xfrm>
          <a:prstGeom prst="roundRect">
            <a:avLst>
              <a:gd name="adj" fmla="val 5318"/>
            </a:avLst>
          </a:prstGeom>
          <a:solidFill>
            <a:srgbClr val="FFFFFF"/>
          </a:solidFill>
          <a:ln w="15240">
            <a:solidFill>
              <a:srgbClr val="B4CCE3"/>
            </a:solidFill>
            <a:prstDash val="solid"/>
          </a:ln>
        </p:spPr>
      </p:sp>
      <p:sp>
        <p:nvSpPr>
          <p:cNvPr id="17" name="Shape 14"/>
          <p:cNvSpPr/>
          <p:nvPr/>
        </p:nvSpPr>
        <p:spPr>
          <a:xfrm>
            <a:off x="510064" y="6416993"/>
            <a:ext cx="60960" cy="1375529"/>
          </a:xfrm>
          <a:prstGeom prst="roundRect">
            <a:avLst>
              <a:gd name="adj" fmla="val 221595"/>
            </a:avLst>
          </a:prstGeom>
          <a:solidFill>
            <a:srgbClr val="84C1FA"/>
          </a:solidFill>
          <a:ln/>
        </p:spPr>
      </p:sp>
      <p:sp>
        <p:nvSpPr>
          <p:cNvPr id="18" name="Text 15"/>
          <p:cNvSpPr/>
          <p:nvPr/>
        </p:nvSpPr>
        <p:spPr>
          <a:xfrm>
            <a:off x="736283" y="6582251"/>
            <a:ext cx="2765584" cy="234553"/>
          </a:xfrm>
          <a:prstGeom prst="rect">
            <a:avLst/>
          </a:prstGeom>
          <a:noFill/>
          <a:ln/>
        </p:spPr>
        <p:txBody>
          <a:bodyPr wrap="none" lIns="0" tIns="0" rIns="0" bIns="0" rtlCol="0" anchor="t"/>
          <a:lstStyle/>
          <a:p>
            <a:pPr algn="l" indent="0" marL="0">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Advanced Gadgetry for Admins</a:t>
            </a:r>
            <a:endParaRPr lang="en-US" sz="1450" dirty="0"/>
          </a:p>
        </p:txBody>
      </p:sp>
      <p:sp>
        <p:nvSpPr>
          <p:cNvPr id="19" name="Text 16"/>
          <p:cNvSpPr/>
          <p:nvPr/>
        </p:nvSpPr>
        <p:spPr>
          <a:xfrm>
            <a:off x="736283" y="6906816"/>
            <a:ext cx="7717155" cy="720447"/>
          </a:xfrm>
          <a:prstGeom prst="rect">
            <a:avLst/>
          </a:prstGeom>
          <a:noFill/>
          <a:ln/>
        </p:spPr>
        <p:txBody>
          <a:bodyPr wrap="square" lIns="0" tIns="0" rIns="0" bIns="0" rtlCol="0" anchor="t"/>
          <a:lstStyle/>
          <a:p>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Unleash powerful features: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Categorization Chips</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for tag-based article organization,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Friendship Caller</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 for related article recommendations, and a dedicated Java administrator dashboard, acting as our very own </a:t>
            </a:r>
            <a:pPr algn="l" indent="0" marL="0">
              <a:lnSpc>
                <a:spcPts val="1850"/>
              </a:lnSpc>
              <a:buNone/>
            </a:pPr>
            <a:r>
              <a:rPr lang="en-US" sz="1150" b="1" dirty="0">
                <a:solidFill>
                  <a:srgbClr val="1E3063"/>
                </a:solidFill>
                <a:latin typeface="Instrument Sans Medium" pitchFamily="34" charset="0"/>
                <a:ea typeface="Instrument Sans Medium" pitchFamily="34" charset="-122"/>
                <a:cs typeface="Instrument Sans Medium" pitchFamily="34" charset="-120"/>
              </a:rPr>
              <a:t>Control Panel of the Future</a:t>
            </a:r>
            <a:pPr algn="l" indent="0" marL="0">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96835" y="311825"/>
            <a:ext cx="6663809" cy="354330"/>
          </a:xfrm>
          <a:prstGeom prst="rect">
            <a:avLst/>
          </a:prstGeom>
          <a:noFill/>
          <a:ln/>
        </p:spPr>
        <p:txBody>
          <a:bodyPr wrap="none" lIns="0" tIns="0" rIns="0" bIns="0" rtlCol="0" anchor="t"/>
          <a:lstStyle/>
          <a:p>
            <a:pPr algn="l" indent="0" marL="0">
              <a:lnSpc>
                <a:spcPts val="2750"/>
              </a:lnSpc>
              <a:buNone/>
            </a:pPr>
            <a:r>
              <a:rPr lang="en-US" sz="2200" dirty="0">
                <a:solidFill>
                  <a:srgbClr val="091C53"/>
                </a:solidFill>
                <a:latin typeface="Instrument Sans Semi Bold" pitchFamily="34" charset="0"/>
                <a:ea typeface="Instrument Sans Semi Bold" pitchFamily="34" charset="-122"/>
                <a:cs typeface="Instrument Sans Semi Bold" pitchFamily="34" charset="-120"/>
              </a:rPr>
              <a:t>DoraBlog's Gadget Blueprint: System Architecture</a:t>
            </a:r>
            <a:endParaRPr lang="en-US" sz="2200" dirty="0"/>
          </a:p>
        </p:txBody>
      </p:sp>
      <p:pic>
        <p:nvPicPr>
          <p:cNvPr id="3" name="Image 0" descr="preencoded.png">    </p:cNvPr>
          <p:cNvPicPr>
            <a:picLocks noChangeAspect="1"/>
          </p:cNvPicPr>
          <p:nvPr/>
        </p:nvPicPr>
        <p:blipFill>
          <a:blip r:embed="rId1"/>
          <a:stretch>
            <a:fillRect/>
          </a:stretch>
        </p:blipFill>
        <p:spPr>
          <a:xfrm>
            <a:off x="2579965" y="892969"/>
            <a:ext cx="9470350" cy="7517725"/>
          </a:xfrm>
          <a:prstGeom prst="rect">
            <a:avLst/>
          </a:prstGeom>
        </p:spPr>
      </p:pic>
      <p:sp>
        <p:nvSpPr>
          <p:cNvPr id="4" name="Text 1"/>
          <p:cNvSpPr/>
          <p:nvPr/>
        </p:nvSpPr>
        <p:spPr>
          <a:xfrm>
            <a:off x="6451724" y="3645224"/>
            <a:ext cx="1701893" cy="1945761"/>
          </a:xfrm>
          <a:prstGeom prst="rect">
            <a:avLst/>
          </a:prstGeom>
          <a:noFill/>
          <a:ln/>
        </p:spPr>
        <p:txBody>
          <a:bodyPr wrap="square" lIns="0" tIns="0" rIns="0" bIns="0" rtlCol="0" anchor="t"/>
          <a:lstStyle/>
          <a:p>
            <a:pPr algn="ctr" indent="0" marL="0">
              <a:lnSpc>
                <a:spcPts val="1650"/>
              </a:lnSpc>
              <a:buNone/>
            </a:pPr>
            <a:r>
              <a:rPr lang="en-US" sz="1350" dirty="0">
                <a:solidFill>
                  <a:srgbClr val="000000"/>
                </a:solidFill>
                <a:latin typeface="Instrument Sans Semi Bold" pitchFamily="34" charset="0"/>
                <a:ea typeface="Instrument Sans Semi Bold" pitchFamily="34" charset="-122"/>
                <a:cs typeface="Instrument Sans Semi Bold" pitchFamily="34" charset="-120"/>
              </a:rPr>
              <a:t>DoraBlog's Super-Powered Gadget Workflow!</a:t>
            </a:r>
            <a:endParaRPr lang="en-US" sz="1350" dirty="0"/>
          </a:p>
        </p:txBody>
      </p:sp>
      <p:sp>
        <p:nvSpPr>
          <p:cNvPr id="5" name="Text 2"/>
          <p:cNvSpPr/>
          <p:nvPr/>
        </p:nvSpPr>
        <p:spPr>
          <a:xfrm>
            <a:off x="8125943" y="1575582"/>
            <a:ext cx="2531869" cy="778305"/>
          </a:xfrm>
          <a:prstGeom prst="rect">
            <a:avLst/>
          </a:prstGeom>
          <a:noFill/>
          <a:ln/>
        </p:spPr>
        <p:txBody>
          <a:bodyPr wrap="square" lIns="0" tIns="0" rIns="0" bIns="0" rtlCol="0" anchor="t"/>
          <a:lstStyle/>
          <a:p>
            <a:pPr algn="ctr" indent="0" marL="0">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Anywhere Door UI</a:t>
            </a:r>
            <a:endParaRPr lang="en-US" sz="1350" dirty="0"/>
          </a:p>
        </p:txBody>
      </p:sp>
      <p:sp>
        <p:nvSpPr>
          <p:cNvPr id="6" name="Text 3"/>
          <p:cNvSpPr/>
          <p:nvPr/>
        </p:nvSpPr>
        <p:spPr>
          <a:xfrm>
            <a:off x="8125943" y="2464579"/>
            <a:ext cx="2531869" cy="311322"/>
          </a:xfrm>
          <a:prstGeom prst="rect">
            <a:avLst/>
          </a:prstGeom>
          <a:noFill/>
          <a:ln/>
        </p:spPr>
        <p:txBody>
          <a:bodyPr wrap="none" lIns="0" tIns="0" rIns="0" bIns="0" rtlCol="0" anchor="t"/>
          <a:lstStyle/>
          <a:p>
            <a:pPr algn="ctr" indent="0" marL="0">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SvelteKit &amp; Vite</a:t>
            </a:r>
            <a:endParaRPr lang="en-US" sz="1050" dirty="0"/>
          </a:p>
        </p:txBody>
      </p:sp>
      <p:sp>
        <p:nvSpPr>
          <p:cNvPr id="7" name="Text 4"/>
          <p:cNvSpPr/>
          <p:nvPr/>
        </p:nvSpPr>
        <p:spPr>
          <a:xfrm>
            <a:off x="3905803" y="1575582"/>
            <a:ext cx="2531868" cy="778305"/>
          </a:xfrm>
          <a:prstGeom prst="rect">
            <a:avLst/>
          </a:prstGeom>
          <a:noFill/>
          <a:ln/>
        </p:spPr>
        <p:txBody>
          <a:bodyPr wrap="square" lIns="0" tIns="0" rIns="0" bIns="0" rtlCol="0" anchor="t"/>
          <a:lstStyle/>
          <a:p>
            <a:pPr algn="ctr" indent="0" marL="0">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Time Machine Admin Console</a:t>
            </a:r>
            <a:endParaRPr lang="en-US" sz="1350" dirty="0"/>
          </a:p>
        </p:txBody>
      </p:sp>
      <p:sp>
        <p:nvSpPr>
          <p:cNvPr id="8" name="Text 5"/>
          <p:cNvSpPr/>
          <p:nvPr/>
        </p:nvSpPr>
        <p:spPr>
          <a:xfrm>
            <a:off x="3905803" y="2464579"/>
            <a:ext cx="2531868" cy="311322"/>
          </a:xfrm>
          <a:prstGeom prst="rect">
            <a:avLst/>
          </a:prstGeom>
          <a:noFill/>
          <a:ln/>
        </p:spPr>
        <p:txBody>
          <a:bodyPr wrap="none" lIns="0" tIns="0" rIns="0" bIns="0" rtlCol="0" anchor="t"/>
          <a:lstStyle/>
          <a:p>
            <a:pPr algn="ctr" indent="0" marL="0">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Java Client &amp; Jackson</a:t>
            </a:r>
            <a:endParaRPr lang="en-US" sz="1050" dirty="0"/>
          </a:p>
        </p:txBody>
      </p:sp>
      <p:sp>
        <p:nvSpPr>
          <p:cNvPr id="9" name="Text 6"/>
          <p:cNvSpPr/>
          <p:nvPr/>
        </p:nvSpPr>
        <p:spPr>
          <a:xfrm>
            <a:off x="3905803" y="6515223"/>
            <a:ext cx="2531868" cy="778305"/>
          </a:xfrm>
          <a:prstGeom prst="rect">
            <a:avLst/>
          </a:prstGeom>
          <a:noFill/>
          <a:ln/>
        </p:spPr>
        <p:txBody>
          <a:bodyPr wrap="square" lIns="0" tIns="0" rIns="0" bIns="0" rtlCol="0" anchor="t"/>
          <a:lstStyle/>
          <a:p>
            <a:pPr algn="ctr" indent="0" marL="0">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Secret Identity Badges</a:t>
            </a:r>
            <a:endParaRPr lang="en-US" sz="1350" dirty="0"/>
          </a:p>
        </p:txBody>
      </p:sp>
      <p:sp>
        <p:nvSpPr>
          <p:cNvPr id="10" name="Text 7"/>
          <p:cNvSpPr/>
          <p:nvPr/>
        </p:nvSpPr>
        <p:spPr>
          <a:xfrm>
            <a:off x="3905803" y="7404219"/>
            <a:ext cx="2531868" cy="311322"/>
          </a:xfrm>
          <a:prstGeom prst="rect">
            <a:avLst/>
          </a:prstGeom>
          <a:noFill/>
          <a:ln/>
        </p:spPr>
        <p:txBody>
          <a:bodyPr wrap="none" lIns="0" tIns="0" rIns="0" bIns="0" rtlCol="0" anchor="t"/>
          <a:lstStyle/>
          <a:p>
            <a:pPr algn="ctr" indent="0" marL="0">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JWT Authentication</a:t>
            </a:r>
            <a:endParaRPr lang="en-US" sz="1050" dirty="0"/>
          </a:p>
        </p:txBody>
      </p:sp>
      <p:sp>
        <p:nvSpPr>
          <p:cNvPr id="11" name="Text 8"/>
          <p:cNvSpPr/>
          <p:nvPr/>
        </p:nvSpPr>
        <p:spPr>
          <a:xfrm>
            <a:off x="8125943" y="6359562"/>
            <a:ext cx="2531869" cy="778305"/>
          </a:xfrm>
          <a:prstGeom prst="rect">
            <a:avLst/>
          </a:prstGeom>
          <a:noFill/>
          <a:ln/>
        </p:spPr>
        <p:txBody>
          <a:bodyPr wrap="square" lIns="0" tIns="0" rIns="0" bIns="0" rtlCol="0" anchor="t"/>
          <a:lstStyle/>
          <a:p>
            <a:pPr algn="ctr" indent="0" marL="0">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Gadget Control Center</a:t>
            </a:r>
            <a:endParaRPr lang="en-US" sz="1350" dirty="0"/>
          </a:p>
        </p:txBody>
      </p:sp>
      <p:sp>
        <p:nvSpPr>
          <p:cNvPr id="12" name="Text 9"/>
          <p:cNvSpPr/>
          <p:nvPr/>
        </p:nvSpPr>
        <p:spPr>
          <a:xfrm>
            <a:off x="8125943" y="7248558"/>
            <a:ext cx="2531869" cy="622644"/>
          </a:xfrm>
          <a:prstGeom prst="rect">
            <a:avLst/>
          </a:prstGeom>
          <a:noFill/>
          <a:ln/>
        </p:spPr>
        <p:txBody>
          <a:bodyPr wrap="square" lIns="0" tIns="0" rIns="0" bIns="0" rtlCol="0" anchor="t"/>
          <a:lstStyle/>
          <a:p>
            <a:pPr algn="ctr" indent="0" marL="0">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Node.js &amp; Express Logic</a:t>
            </a:r>
            <a:endParaRPr lang="en-US" sz="1050" dirty="0"/>
          </a:p>
        </p:txBody>
      </p:sp>
      <p:sp>
        <p:nvSpPr>
          <p:cNvPr id="13" name="Text 10"/>
          <p:cNvSpPr/>
          <p:nvPr/>
        </p:nvSpPr>
        <p:spPr>
          <a:xfrm>
            <a:off x="9039154" y="4010811"/>
            <a:ext cx="2587214" cy="778305"/>
          </a:xfrm>
          <a:prstGeom prst="rect">
            <a:avLst/>
          </a:prstGeom>
          <a:noFill/>
          <a:ln/>
        </p:spPr>
        <p:txBody>
          <a:bodyPr wrap="square" lIns="0" tIns="0" rIns="0" bIns="0" rtlCol="0" anchor="t"/>
          <a:lstStyle/>
          <a:p>
            <a:pPr algn="ctr" indent="0" marL="0">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Future-Proof Communication</a:t>
            </a:r>
            <a:endParaRPr lang="en-US" sz="1350" dirty="0"/>
          </a:p>
        </p:txBody>
      </p:sp>
      <p:sp>
        <p:nvSpPr>
          <p:cNvPr id="14" name="Text 11"/>
          <p:cNvSpPr/>
          <p:nvPr/>
        </p:nvSpPr>
        <p:spPr>
          <a:xfrm>
            <a:off x="9039154" y="4899808"/>
            <a:ext cx="2587214" cy="311322"/>
          </a:xfrm>
          <a:prstGeom prst="rect">
            <a:avLst/>
          </a:prstGeom>
          <a:noFill/>
          <a:ln/>
        </p:spPr>
        <p:txBody>
          <a:bodyPr wrap="none" lIns="0" tIns="0" rIns="0" bIns="0" rtlCol="0" anchor="t"/>
          <a:lstStyle/>
          <a:p>
            <a:pPr algn="ctr" indent="0" marL="0">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RESTful API Calls</a:t>
            </a:r>
            <a:endParaRPr lang="en-US" sz="1050" dirty="0"/>
          </a:p>
        </p:txBody>
      </p:sp>
      <p:sp>
        <p:nvSpPr>
          <p:cNvPr id="15" name="Text 12"/>
          <p:cNvSpPr/>
          <p:nvPr/>
        </p:nvSpPr>
        <p:spPr>
          <a:xfrm>
            <a:off x="2978756" y="4024647"/>
            <a:ext cx="2587214" cy="778305"/>
          </a:xfrm>
          <a:prstGeom prst="rect">
            <a:avLst/>
          </a:prstGeom>
          <a:noFill/>
          <a:ln/>
        </p:spPr>
        <p:txBody>
          <a:bodyPr wrap="square" lIns="0" tIns="0" rIns="0" bIns="0" rtlCol="0" anchor="t"/>
          <a:lstStyle/>
          <a:p>
            <a:pPr algn="ctr" indent="0" marL="0">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4D Pocket Storage</a:t>
            </a:r>
            <a:endParaRPr lang="en-US" sz="1350" dirty="0"/>
          </a:p>
        </p:txBody>
      </p:sp>
      <p:sp>
        <p:nvSpPr>
          <p:cNvPr id="16" name="Text 13"/>
          <p:cNvSpPr/>
          <p:nvPr/>
        </p:nvSpPr>
        <p:spPr>
          <a:xfrm>
            <a:off x="2978756" y="4913645"/>
            <a:ext cx="2587214" cy="311321"/>
          </a:xfrm>
          <a:prstGeom prst="rect">
            <a:avLst/>
          </a:prstGeom>
          <a:noFill/>
          <a:ln/>
        </p:spPr>
        <p:txBody>
          <a:bodyPr wrap="none" lIns="0" tIns="0" rIns="0" bIns="0" rtlCol="0" anchor="t"/>
          <a:lstStyle/>
          <a:p>
            <a:pPr algn="ctr" indent="0" marL="0">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SQLite Database</a:t>
            </a:r>
            <a:endParaRPr lang="en-US" sz="1050" dirty="0"/>
          </a:p>
        </p:txBody>
      </p:sp>
      <p:sp>
        <p:nvSpPr>
          <p:cNvPr id="17" name="Text 14"/>
          <p:cNvSpPr/>
          <p:nvPr/>
        </p:nvSpPr>
        <p:spPr>
          <a:xfrm>
            <a:off x="396835" y="8651558"/>
            <a:ext cx="2106097" cy="212646"/>
          </a:xfrm>
          <a:prstGeom prst="rect">
            <a:avLst/>
          </a:prstGeom>
          <a:noFill/>
          <a:ln/>
        </p:spPr>
        <p:txBody>
          <a:bodyPr wrap="none" lIns="0" tIns="0" rIns="0" bIns="0" rtlCol="0" anchor="t"/>
          <a:lstStyle/>
          <a:p>
            <a:pPr algn="l" indent="0" marL="0">
              <a:lnSpc>
                <a:spcPts val="1650"/>
              </a:lnSpc>
              <a:buNone/>
            </a:pPr>
            <a:r>
              <a:rPr lang="en-US" sz="1300" dirty="0">
                <a:solidFill>
                  <a:srgbClr val="091C53"/>
                </a:solidFill>
                <a:latin typeface="Instrument Sans Semi Bold" pitchFamily="34" charset="0"/>
                <a:ea typeface="Instrument Sans Semi Bold" pitchFamily="34" charset="-122"/>
                <a:cs typeface="Instrument Sans Semi Bold" pitchFamily="34" charset="-120"/>
              </a:rPr>
              <a:t>Essential Gadgets &amp; Tools!</a:t>
            </a:r>
            <a:endParaRPr lang="en-US" sz="1300" dirty="0"/>
          </a:p>
        </p:txBody>
      </p:sp>
      <p:sp>
        <p:nvSpPr>
          <p:cNvPr id="18" name="Text 15"/>
          <p:cNvSpPr/>
          <p:nvPr/>
        </p:nvSpPr>
        <p:spPr>
          <a:xfrm>
            <a:off x="396835" y="8977551"/>
            <a:ext cx="6780014" cy="362903"/>
          </a:xfrm>
          <a:prstGeom prst="rect">
            <a:avLst/>
          </a:prstGeom>
          <a:noFill/>
          <a:ln/>
        </p:spPr>
        <p:txBody>
          <a:bodyPr wrap="square" lIns="0" tIns="0" rIns="0" bIns="0" rtlCol="0" anchor="t"/>
          <a:lstStyle/>
          <a:p>
            <a:pPr algn="l" marL="342900" indent="-342900">
              <a:lnSpc>
                <a:spcPts val="1400"/>
              </a:lnSpc>
              <a:buSzPct val="100000"/>
              <a:buChar char="•"/>
            </a:pPr>
            <a:r>
              <a:rPr lang="en-US" sz="850" b="1" dirty="0">
                <a:solidFill>
                  <a:srgbClr val="1E3063"/>
                </a:solidFill>
                <a:latin typeface="Instrument Sans Medium" pitchFamily="34" charset="0"/>
                <a:ea typeface="Instrument Sans Medium" pitchFamily="34" charset="-122"/>
                <a:cs typeface="Instrument Sans Medium" pitchFamily="34" charset="-120"/>
              </a:rPr>
              <a:t>Anywhere Door Frontend:</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SvelteKit</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(speedy as a rocket!),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Vite</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(quick build-up),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TinyMCE</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(message pen for rich text),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Responsive Design</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(fits any situation, like Doraemon's adaptability!).</a:t>
            </a:r>
            <a:endParaRPr lang="en-US" sz="850" dirty="0"/>
          </a:p>
        </p:txBody>
      </p:sp>
      <p:sp>
        <p:nvSpPr>
          <p:cNvPr id="19" name="Text 16"/>
          <p:cNvSpPr/>
          <p:nvPr/>
        </p:nvSpPr>
        <p:spPr>
          <a:xfrm>
            <a:off x="396835" y="9380101"/>
            <a:ext cx="6780014" cy="362903"/>
          </a:xfrm>
          <a:prstGeom prst="rect">
            <a:avLst/>
          </a:prstGeom>
          <a:noFill/>
          <a:ln/>
        </p:spPr>
        <p:txBody>
          <a:bodyPr wrap="square" lIns="0" tIns="0" rIns="0" bIns="0" rtlCol="0" anchor="t"/>
          <a:lstStyle/>
          <a:p>
            <a:pPr algn="l" marL="342900" indent="-342900">
              <a:lnSpc>
                <a:spcPts val="1400"/>
              </a:lnSpc>
              <a:buSzPct val="100000"/>
              <a:buChar char="•"/>
            </a:pPr>
            <a:r>
              <a:rPr lang="en-US" sz="850" b="1" dirty="0">
                <a:solidFill>
                  <a:srgbClr val="1E3063"/>
                </a:solidFill>
                <a:latin typeface="Instrument Sans Medium" pitchFamily="34" charset="0"/>
                <a:ea typeface="Instrument Sans Medium" pitchFamily="34" charset="-122"/>
                <a:cs typeface="Instrument Sans Medium" pitchFamily="34" charset="-120"/>
              </a:rPr>
              <a:t>Gadget Control Center (Backend):</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Node.js</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(our energy source),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Express</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(fast travel routes),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RESTful API</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(Anywhere Door endpoints!),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SQLite Database</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(our 4D Pocket for memories!).</a:t>
            </a:r>
            <a:endParaRPr lang="en-US" sz="850" dirty="0"/>
          </a:p>
        </p:txBody>
      </p:sp>
      <p:sp>
        <p:nvSpPr>
          <p:cNvPr id="20" name="Text 17"/>
          <p:cNvSpPr/>
          <p:nvPr/>
        </p:nvSpPr>
        <p:spPr>
          <a:xfrm>
            <a:off x="396835" y="9782651"/>
            <a:ext cx="6780014" cy="362903"/>
          </a:xfrm>
          <a:prstGeom prst="rect">
            <a:avLst/>
          </a:prstGeom>
          <a:noFill/>
          <a:ln/>
        </p:spPr>
        <p:txBody>
          <a:bodyPr wrap="square" lIns="0" tIns="0" rIns="0" bIns="0" rtlCol="0" anchor="t"/>
          <a:lstStyle/>
          <a:p>
            <a:pPr algn="l" marL="342900" indent="-342900">
              <a:lnSpc>
                <a:spcPts val="1400"/>
              </a:lnSpc>
              <a:buSzPct val="100000"/>
              <a:buChar char="•"/>
            </a:pPr>
            <a:r>
              <a:rPr lang="en-US" sz="850" b="1" dirty="0">
                <a:solidFill>
                  <a:srgbClr val="1E3063"/>
                </a:solidFill>
                <a:latin typeface="Instrument Sans Medium" pitchFamily="34" charset="0"/>
                <a:ea typeface="Instrument Sans Medium" pitchFamily="34" charset="-122"/>
                <a:cs typeface="Instrument Sans Medium" pitchFamily="34" charset="-120"/>
              </a:rPr>
              <a:t>Time Machine Admin Console:</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Java Swing</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(sturdy control panel),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Jackson</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(gadget translator for JSON),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HTTP Client</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(time-travel communication!).</a:t>
            </a:r>
            <a:endParaRPr lang="en-US" sz="850" dirty="0"/>
          </a:p>
        </p:txBody>
      </p:sp>
      <p:sp>
        <p:nvSpPr>
          <p:cNvPr id="21" name="Text 18"/>
          <p:cNvSpPr/>
          <p:nvPr/>
        </p:nvSpPr>
        <p:spPr>
          <a:xfrm>
            <a:off x="7461171" y="8651558"/>
            <a:ext cx="4006453" cy="212646"/>
          </a:xfrm>
          <a:prstGeom prst="rect">
            <a:avLst/>
          </a:prstGeom>
          <a:noFill/>
          <a:ln/>
        </p:spPr>
        <p:txBody>
          <a:bodyPr wrap="none" lIns="0" tIns="0" rIns="0" bIns="0" rtlCol="0" anchor="t"/>
          <a:lstStyle/>
          <a:p>
            <a:pPr algn="l" indent="0" marL="0">
              <a:lnSpc>
                <a:spcPts val="1650"/>
              </a:lnSpc>
              <a:buNone/>
            </a:pPr>
            <a:r>
              <a:rPr lang="en-US" sz="1300" dirty="0">
                <a:solidFill>
                  <a:srgbClr val="091C53"/>
                </a:solidFill>
                <a:latin typeface="Instrument Sans Semi Bold" pitchFamily="34" charset="0"/>
                <a:ea typeface="Instrument Sans Semi Bold" pitchFamily="34" charset="-122"/>
                <a:cs typeface="Instrument Sans Semi Bold" pitchFamily="34" charset="-120"/>
              </a:rPr>
              <a:t>Doraemon's Safety Protocols &amp; Blueprint Creation!</a:t>
            </a:r>
            <a:endParaRPr lang="en-US" sz="1300" dirty="0"/>
          </a:p>
        </p:txBody>
      </p:sp>
      <p:sp>
        <p:nvSpPr>
          <p:cNvPr id="22" name="Text 19"/>
          <p:cNvSpPr/>
          <p:nvPr/>
        </p:nvSpPr>
        <p:spPr>
          <a:xfrm>
            <a:off x="7461171" y="8977551"/>
            <a:ext cx="6780014" cy="362903"/>
          </a:xfrm>
          <a:prstGeom prst="rect">
            <a:avLst/>
          </a:prstGeom>
          <a:noFill/>
          <a:ln/>
        </p:spPr>
        <p:txBody>
          <a:bodyPr wrap="square" lIns="0" tIns="0" rIns="0" bIns="0" rtlCol="0" anchor="t"/>
          <a:lstStyle/>
          <a:p>
            <a:pPr algn="l" marL="342900" indent="-342900">
              <a:lnSpc>
                <a:spcPts val="1400"/>
              </a:lnSpc>
              <a:buSzPct val="100000"/>
              <a:buChar char="•"/>
            </a:pPr>
            <a:r>
              <a:rPr lang="en-US" sz="850" b="1" dirty="0">
                <a:solidFill>
                  <a:srgbClr val="1E3063"/>
                </a:solidFill>
                <a:latin typeface="Instrument Sans Medium" pitchFamily="34" charset="0"/>
                <a:ea typeface="Instrument Sans Medium" pitchFamily="34" charset="-122"/>
                <a:cs typeface="Instrument Sans Medium" pitchFamily="34" charset="-120"/>
              </a:rPr>
              <a:t>Secret Identity Badges:</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Bcrypt Password Hashing</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(super secure code lock),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JWT Token Authentication</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(personal ID pass),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CORS Configuration</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(friendship ring for connections!).</a:t>
            </a:r>
            <a:endParaRPr lang="en-US" sz="850" dirty="0"/>
          </a:p>
        </p:txBody>
      </p:sp>
      <p:sp>
        <p:nvSpPr>
          <p:cNvPr id="23" name="Text 20"/>
          <p:cNvSpPr/>
          <p:nvPr/>
        </p:nvSpPr>
        <p:spPr>
          <a:xfrm>
            <a:off x="7461171" y="9380101"/>
            <a:ext cx="6780014" cy="362903"/>
          </a:xfrm>
          <a:prstGeom prst="rect">
            <a:avLst/>
          </a:prstGeom>
          <a:noFill/>
          <a:ln/>
        </p:spPr>
        <p:txBody>
          <a:bodyPr wrap="square" lIns="0" tIns="0" rIns="0" bIns="0" rtlCol="0" anchor="t"/>
          <a:lstStyle/>
          <a:p>
            <a:pPr algn="l" marL="342900" indent="-342900">
              <a:lnSpc>
                <a:spcPts val="1400"/>
              </a:lnSpc>
              <a:buSzPct val="100000"/>
              <a:buChar char="•"/>
            </a:pPr>
            <a:r>
              <a:rPr lang="en-US" sz="850" b="1" dirty="0">
                <a:solidFill>
                  <a:srgbClr val="1E3063"/>
                </a:solidFill>
                <a:latin typeface="Instrument Sans Medium" pitchFamily="34" charset="0"/>
                <a:ea typeface="Instrument Sans Medium" pitchFamily="34" charset="-122"/>
                <a:cs typeface="Instrument Sans Medium" pitchFamily="34" charset="-120"/>
              </a:rPr>
              <a:t>Blueprint Quality Tools:</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Git</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(Time Machine for version control &amp; PR workflow),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Prettier</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(neat-freak for code formatting), </a:t>
            </a:r>
            <a:pPr algn="l" indent="0" marL="0">
              <a:lnSpc>
                <a:spcPts val="1400"/>
              </a:lnSpc>
              <a:buNone/>
            </a:pPr>
            <a:r>
              <a:rPr lang="en-US" sz="850" b="1" dirty="0">
                <a:solidFill>
                  <a:srgbClr val="1E3063"/>
                </a:solidFill>
                <a:latin typeface="Instrument Sans Medium" pitchFamily="34" charset="0"/>
                <a:ea typeface="Instrument Sans Medium" pitchFamily="34" charset="-122"/>
                <a:cs typeface="Instrument Sans Medium" pitchFamily="34" charset="-120"/>
              </a:rPr>
              <a:t>ESLint</a:t>
            </a:r>
            <a:pPr algn="l" indent="0" marL="0">
              <a:lnSpc>
                <a:spcPts val="1400"/>
              </a:lnSpc>
              <a:buNone/>
            </a:pPr>
            <a:r>
              <a:rPr lang="en-US" sz="850" dirty="0">
                <a:solidFill>
                  <a:srgbClr val="1E3063"/>
                </a:solidFill>
                <a:latin typeface="Instrument Sans Medium" pitchFamily="34" charset="0"/>
                <a:ea typeface="Instrument Sans Medium" pitchFamily="34" charset="-122"/>
                <a:cs typeface="Instrument Sans Medium" pitchFamily="34" charset="-120"/>
              </a:rPr>
              <a:t> (check-up robot for code quality!).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760720" cy="8229600"/>
          </a:xfrm>
          <a:prstGeom prst="rect">
            <a:avLst/>
          </a:prstGeom>
        </p:spPr>
      </p:pic>
      <p:sp>
        <p:nvSpPr>
          <p:cNvPr id="3" name="Text 0"/>
          <p:cNvSpPr/>
          <p:nvPr/>
        </p:nvSpPr>
        <p:spPr>
          <a:xfrm>
            <a:off x="5935742" y="559475"/>
            <a:ext cx="8245316" cy="802481"/>
          </a:xfrm>
          <a:prstGeom prst="rect">
            <a:avLst/>
          </a:prstGeom>
          <a:noFill/>
          <a:ln/>
        </p:spPr>
        <p:txBody>
          <a:bodyPr wrap="square" lIns="0" tIns="0" rIns="0" bIns="0" rtlCol="0" anchor="t"/>
          <a:lstStyle/>
          <a:p>
            <a:pPr algn="l" indent="0" marL="0">
              <a:lnSpc>
                <a:spcPts val="3150"/>
              </a:lnSpc>
              <a:buNone/>
            </a:pPr>
            <a:r>
              <a:rPr lang="en-US" sz="2500" dirty="0">
                <a:solidFill>
                  <a:srgbClr val="091C53"/>
                </a:solidFill>
                <a:latin typeface="Instrument Sans Semi Bold" pitchFamily="34" charset="0"/>
                <a:ea typeface="Instrument Sans Semi Bold" pitchFamily="34" charset="-122"/>
                <a:cs typeface="Instrument Sans Semi Bold" pitchFamily="34" charset="-120"/>
              </a:rPr>
              <a:t>Doraemon's Core Gadgets for an Excellent User Experience</a:t>
            </a:r>
            <a:endParaRPr lang="en-US" sz="25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935742" y="1554480"/>
            <a:ext cx="385167" cy="385167"/>
          </a:xfrm>
          <a:prstGeom prst="rect">
            <a:avLst/>
          </a:prstGeom>
        </p:spPr>
      </p:pic>
      <p:sp>
        <p:nvSpPr>
          <p:cNvPr id="5" name="Text 1"/>
          <p:cNvSpPr/>
          <p:nvPr/>
        </p:nvSpPr>
        <p:spPr>
          <a:xfrm>
            <a:off x="5935742" y="2100024"/>
            <a:ext cx="2471976" cy="200620"/>
          </a:xfrm>
          <a:prstGeom prst="rect">
            <a:avLst/>
          </a:prstGeom>
          <a:noFill/>
          <a:ln/>
        </p:spPr>
        <p:txBody>
          <a:bodyPr wrap="none" lIns="0" tIns="0" rIns="0" bIns="0" rtlCol="0" anchor="t"/>
          <a:lstStyle/>
          <a:p>
            <a:pPr algn="l" indent="0" marL="0">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Gadget-Proof User Management</a:t>
            </a:r>
            <a:endParaRPr lang="en-US" sz="1250" dirty="0"/>
          </a:p>
        </p:txBody>
      </p:sp>
      <p:sp>
        <p:nvSpPr>
          <p:cNvPr id="6" name="Text 2"/>
          <p:cNvSpPr/>
          <p:nvPr/>
        </p:nvSpPr>
        <p:spPr>
          <a:xfrm>
            <a:off x="5935742" y="2377678"/>
            <a:ext cx="8245316" cy="410527"/>
          </a:xfrm>
          <a:prstGeom prst="rect">
            <a:avLst/>
          </a:prstGeom>
          <a:noFill/>
          <a:ln/>
        </p:spPr>
        <p:txBody>
          <a:bodyPr wrap="square" lIns="0" tIns="0" rIns="0" bIns="0" rtlCol="0" anchor="t"/>
          <a:lstStyle/>
          <a:p>
            <a:pPr algn="l" indent="0" marL="0">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With security as tight as Doraemon's secret pocket, we feature gadget-proof registration, robust password validation, customizable profiles (choose your favorite robotic cat avatar!), and persistent session authentication – keeping your data safe and sound.</a:t>
            </a:r>
            <a:endParaRPr lang="en-US" sz="1000" dirty="0"/>
          </a:p>
        </p:txBody>
      </p:sp>
      <p:pic>
        <p:nvPicPr>
          <p:cNvPr id="7"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935742" y="3044904"/>
            <a:ext cx="385167" cy="385167"/>
          </a:xfrm>
          <a:prstGeom prst="rect">
            <a:avLst/>
          </a:prstGeom>
        </p:spPr>
      </p:pic>
      <p:sp>
        <p:nvSpPr>
          <p:cNvPr id="8" name="Text 3"/>
          <p:cNvSpPr/>
          <p:nvPr/>
        </p:nvSpPr>
        <p:spPr>
          <a:xfrm>
            <a:off x="5935742" y="3590449"/>
            <a:ext cx="2708434" cy="200620"/>
          </a:xfrm>
          <a:prstGeom prst="rect">
            <a:avLst/>
          </a:prstGeom>
          <a:noFill/>
          <a:ln/>
        </p:spPr>
        <p:txBody>
          <a:bodyPr wrap="none" lIns="0" tIns="0" rIns="0" bIns="0" rtlCol="0" anchor="t"/>
          <a:lstStyle/>
          <a:p>
            <a:pPr algn="l" indent="0" marL="0">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"Copying Toaster" Content Creation</a:t>
            </a:r>
            <a:endParaRPr lang="en-US" sz="1250" dirty="0"/>
          </a:p>
        </p:txBody>
      </p:sp>
      <p:sp>
        <p:nvSpPr>
          <p:cNvPr id="9" name="Text 4"/>
          <p:cNvSpPr/>
          <p:nvPr/>
        </p:nvSpPr>
        <p:spPr>
          <a:xfrm>
            <a:off x="5935742" y="3868103"/>
            <a:ext cx="8245316" cy="615791"/>
          </a:xfrm>
          <a:prstGeom prst="rect">
            <a:avLst/>
          </a:prstGeom>
          <a:noFill/>
          <a:ln/>
        </p:spPr>
        <p:txBody>
          <a:bodyPr wrap="square" lIns="0" tIns="0" rIns="0" bIns="0" rtlCol="0" anchor="t"/>
          <a:lstStyle/>
          <a:p>
            <a:pPr algn="l" indent="0" marL="0">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Unleash your inner inventor with our full-featured rich text editor, as versatile as a "Copying Toaster"! It includes seamless image uploads, smart article tagging for organization (keeping your ideas tidy, just like Doraemon's pocket), and smooth draft-to-publish workflows for your brilliant posts.</a:t>
            </a:r>
            <a:endParaRPr lang="en-US" sz="1000" dirty="0"/>
          </a:p>
        </p:txBody>
      </p:sp>
      <p:pic>
        <p:nvPicPr>
          <p:cNvPr id="10"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35742" y="4740593"/>
            <a:ext cx="385167" cy="385167"/>
          </a:xfrm>
          <a:prstGeom prst="rect">
            <a:avLst/>
          </a:prstGeom>
        </p:spPr>
      </p:pic>
      <p:sp>
        <p:nvSpPr>
          <p:cNvPr id="11" name="Text 5"/>
          <p:cNvSpPr/>
          <p:nvPr/>
        </p:nvSpPr>
        <p:spPr>
          <a:xfrm>
            <a:off x="5935742" y="5286137"/>
            <a:ext cx="2637949" cy="200620"/>
          </a:xfrm>
          <a:prstGeom prst="rect">
            <a:avLst/>
          </a:prstGeom>
          <a:noFill/>
          <a:ln/>
        </p:spPr>
        <p:txBody>
          <a:bodyPr wrap="none" lIns="0" tIns="0" rIns="0" bIns="0" rtlCol="0" anchor="t"/>
          <a:lstStyle/>
          <a:p>
            <a:pPr algn="l" indent="0" marL="0">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"Anywhere Door" Social Interaction</a:t>
            </a:r>
            <a:endParaRPr lang="en-US" sz="1250" dirty="0"/>
          </a:p>
        </p:txBody>
      </p:sp>
      <p:sp>
        <p:nvSpPr>
          <p:cNvPr id="12" name="Text 6"/>
          <p:cNvSpPr/>
          <p:nvPr/>
        </p:nvSpPr>
        <p:spPr>
          <a:xfrm>
            <a:off x="5935742" y="5563791"/>
            <a:ext cx="8245316" cy="410527"/>
          </a:xfrm>
          <a:prstGeom prst="rect">
            <a:avLst/>
          </a:prstGeom>
          <a:noFill/>
          <a:ln/>
        </p:spPr>
        <p:txBody>
          <a:bodyPr wrap="square" lIns="0" tIns="0" rIns="0" bIns="0" rtlCol="0" anchor="t"/>
          <a:lstStyle/>
          <a:p>
            <a:pPr algn="l" indent="0" marL="0">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Connect with fellow adventurers using our multi-level comment threads (like opening an "Anywhere Door" to conversation!), intuitive like/unlike functionality, and user profiles that proudly display all your published articles. It's like a virtual gathering with Nobita and friends!</a:t>
            </a:r>
            <a:endParaRPr lang="en-US" sz="1000" dirty="0"/>
          </a:p>
        </p:txBody>
      </p:sp>
      <p:pic>
        <p:nvPicPr>
          <p:cNvPr id="13"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935742" y="6231017"/>
            <a:ext cx="385167" cy="385167"/>
          </a:xfrm>
          <a:prstGeom prst="rect">
            <a:avLst/>
          </a:prstGeom>
        </p:spPr>
      </p:pic>
      <p:sp>
        <p:nvSpPr>
          <p:cNvPr id="14" name="Text 7"/>
          <p:cNvSpPr/>
          <p:nvPr/>
        </p:nvSpPr>
        <p:spPr>
          <a:xfrm>
            <a:off x="5935742" y="6776561"/>
            <a:ext cx="2324814" cy="200620"/>
          </a:xfrm>
          <a:prstGeom prst="rect">
            <a:avLst/>
          </a:prstGeom>
          <a:noFill/>
          <a:ln/>
        </p:spPr>
        <p:txBody>
          <a:bodyPr wrap="none" lIns="0" tIns="0" rIns="0" bIns="0" rtlCol="0" anchor="t"/>
          <a:lstStyle/>
          <a:p>
            <a:pPr algn="l" indent="0" marL="0">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"Searchlight" Article Discovery</a:t>
            </a:r>
            <a:endParaRPr lang="en-US" sz="1250" dirty="0"/>
          </a:p>
        </p:txBody>
      </p:sp>
      <p:sp>
        <p:nvSpPr>
          <p:cNvPr id="15" name="Text 8"/>
          <p:cNvSpPr/>
          <p:nvPr/>
        </p:nvSpPr>
        <p:spPr>
          <a:xfrm>
            <a:off x="5935742" y="7054215"/>
            <a:ext cx="8245316" cy="615791"/>
          </a:xfrm>
          <a:prstGeom prst="rect">
            <a:avLst/>
          </a:prstGeom>
          <a:noFill/>
          <a:ln/>
        </p:spPr>
        <p:txBody>
          <a:bodyPr wrap="square" lIns="0" tIns="0" rIns="0" bIns="0" rtlCol="0" anchor="t"/>
          <a:lstStyle/>
          <a:p>
            <a:pPr algn="l" indent="0" marL="0">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Find your next great read with ease using our powerful "Searchlight" tools! Supports keyword search across titles, content, and authors, provides smart related article recommendations, and offers flexible tag-based filtering to guide you through the universe of DoraBlog posts.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74370" y="685562"/>
            <a:ext cx="6719888" cy="602099"/>
          </a:xfrm>
          <a:prstGeom prst="rect">
            <a:avLst/>
          </a:prstGeom>
          <a:noFill/>
          <a:ln/>
        </p:spPr>
        <p:txBody>
          <a:bodyPr wrap="none" lIns="0" tIns="0" rIns="0" bIns="0" rtlCol="0" anchor="t"/>
          <a:lstStyle/>
          <a:p>
            <a:pPr algn="l" indent="0" marL="0">
              <a:lnSpc>
                <a:spcPts val="4700"/>
              </a:lnSpc>
              <a:buNone/>
            </a:pPr>
            <a:r>
              <a:rPr lang="en-US" sz="3750" dirty="0">
                <a:solidFill>
                  <a:srgbClr val="091C53"/>
                </a:solidFill>
                <a:latin typeface="Instrument Sans Semi Bold" pitchFamily="34" charset="0"/>
                <a:ea typeface="Instrument Sans Semi Bold" pitchFamily="34" charset="-122"/>
                <a:cs typeface="Instrument Sans Semi Bold" pitchFamily="34" charset="-120"/>
              </a:rPr>
              <a:t>Comments components(Leo)</a:t>
            </a:r>
            <a:endParaRPr lang="en-US" sz="3750" dirty="0"/>
          </a:p>
        </p:txBody>
      </p:sp>
      <p:pic>
        <p:nvPicPr>
          <p:cNvPr id="3" name="Image 0" descr="preencoded.png">    </p:cNvPr>
          <p:cNvPicPr>
            <a:picLocks noChangeAspect="1"/>
          </p:cNvPicPr>
          <p:nvPr/>
        </p:nvPicPr>
        <p:blipFill>
          <a:blip r:embed="rId1"/>
          <a:stretch>
            <a:fillRect/>
          </a:stretch>
        </p:blipFill>
        <p:spPr>
          <a:xfrm>
            <a:off x="674370" y="1793319"/>
            <a:ext cx="4023003" cy="4357330"/>
          </a:xfrm>
          <a:prstGeom prst="rect">
            <a:avLst/>
          </a:prstGeom>
        </p:spPr>
      </p:pic>
      <p:sp>
        <p:nvSpPr>
          <p:cNvPr id="4" name="Text 1"/>
          <p:cNvSpPr/>
          <p:nvPr/>
        </p:nvSpPr>
        <p:spPr>
          <a:xfrm>
            <a:off x="674370" y="6367343"/>
            <a:ext cx="2408515" cy="300990"/>
          </a:xfrm>
          <a:prstGeom prst="rect">
            <a:avLst/>
          </a:prstGeom>
          <a:noFill/>
          <a:ln/>
        </p:spPr>
        <p:txBody>
          <a:bodyPr wrap="none" lIns="0" tIns="0" rIns="0" bIns="0" rtlCol="0" anchor="t"/>
          <a:lstStyle/>
          <a:p>
            <a:pPr algn="l" indent="0" marL="0">
              <a:lnSpc>
                <a:spcPts val="235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Graphic UI</a:t>
            </a:r>
            <a:endParaRPr lang="en-US" sz="1850" dirty="0"/>
          </a:p>
        </p:txBody>
      </p:sp>
      <p:sp>
        <p:nvSpPr>
          <p:cNvPr id="5" name="Text 2"/>
          <p:cNvSpPr/>
          <p:nvPr/>
        </p:nvSpPr>
        <p:spPr>
          <a:xfrm>
            <a:off x="674370" y="6860977"/>
            <a:ext cx="6405801" cy="308134"/>
          </a:xfrm>
          <a:prstGeom prst="rect">
            <a:avLst/>
          </a:prstGeom>
          <a:noFill/>
          <a:ln/>
        </p:spPr>
        <p:txBody>
          <a:bodyPr wrap="none" lIns="0" tIns="0" rIns="0" bIns="0" rtlCol="0" anchor="t"/>
          <a:lstStyle/>
          <a:p>
            <a:pPr algn="l" indent="0" marL="0">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CommentsList → CommentItem : svelte:self</a:t>
            </a:r>
            <a:endParaRPr lang="en-US" sz="1500" dirty="0"/>
          </a:p>
        </p:txBody>
      </p:sp>
      <p:pic>
        <p:nvPicPr>
          <p:cNvPr id="6" name="Image 1" descr="preencoded.png">    </p:cNvPr>
          <p:cNvPicPr>
            <a:picLocks noChangeAspect="1"/>
          </p:cNvPicPr>
          <p:nvPr/>
        </p:nvPicPr>
        <p:blipFill>
          <a:blip r:embed="rId2"/>
          <a:stretch>
            <a:fillRect/>
          </a:stretch>
        </p:blipFill>
        <p:spPr>
          <a:xfrm>
            <a:off x="7557849" y="1793319"/>
            <a:ext cx="2846665" cy="4558784"/>
          </a:xfrm>
          <a:prstGeom prst="rect">
            <a:avLst/>
          </a:prstGeom>
        </p:spPr>
      </p:pic>
      <p:sp>
        <p:nvSpPr>
          <p:cNvPr id="7" name="Text 3"/>
          <p:cNvSpPr/>
          <p:nvPr/>
        </p:nvSpPr>
        <p:spPr>
          <a:xfrm>
            <a:off x="7557849" y="6568797"/>
            <a:ext cx="2408515" cy="300990"/>
          </a:xfrm>
          <a:prstGeom prst="rect">
            <a:avLst/>
          </a:prstGeom>
          <a:noFill/>
          <a:ln/>
        </p:spPr>
        <p:txBody>
          <a:bodyPr wrap="none" lIns="0" tIns="0" rIns="0" bIns="0" rtlCol="0" anchor="t"/>
          <a:lstStyle/>
          <a:p>
            <a:pPr algn="l" indent="0" marL="0">
              <a:lnSpc>
                <a:spcPts val="235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API response</a:t>
            </a:r>
            <a:endParaRPr lang="en-US" sz="1850" dirty="0"/>
          </a:p>
        </p:txBody>
      </p:sp>
      <p:sp>
        <p:nvSpPr>
          <p:cNvPr id="8" name="Text 4"/>
          <p:cNvSpPr/>
          <p:nvPr/>
        </p:nvSpPr>
        <p:spPr>
          <a:xfrm>
            <a:off x="7557849" y="7062430"/>
            <a:ext cx="6405801" cy="308134"/>
          </a:xfrm>
          <a:prstGeom prst="rect">
            <a:avLst/>
          </a:prstGeom>
          <a:noFill/>
          <a:ln/>
        </p:spPr>
        <p:txBody>
          <a:bodyPr wrap="none" lIns="0" tIns="0" rIns="0" bIns="0" rtlCol="0" anchor="t"/>
          <a:lstStyle/>
          <a:p>
            <a:pPr algn="l" indent="0" marL="0">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parentCommentId &amp; childrenComments contribute to different depth</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993458"/>
            <a:ext cx="8487608" cy="708779"/>
          </a:xfrm>
          <a:prstGeom prst="rect">
            <a:avLst/>
          </a:prstGeom>
          <a:noFill/>
          <a:ln/>
        </p:spPr>
        <p:txBody>
          <a:bodyPr wrap="none" lIns="0" tIns="0" rIns="0" bIns="0" rtlCol="0" anchor="t"/>
          <a:lstStyle/>
          <a:p>
            <a:pPr algn="l" indent="0" marL="0">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JAVA management system(Leo)</a:t>
            </a:r>
            <a:endParaRPr lang="en-US" sz="4450" dirty="0"/>
          </a:p>
        </p:txBody>
      </p:sp>
      <p:sp>
        <p:nvSpPr>
          <p:cNvPr id="3" name="Text 1"/>
          <p:cNvSpPr/>
          <p:nvPr/>
        </p:nvSpPr>
        <p:spPr>
          <a:xfrm>
            <a:off x="793790" y="2246471"/>
            <a:ext cx="6244709" cy="1088708"/>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Main file: User(pojos), AdminFrame(view), AdminController, UserModel(TableModel &amp; observer), API</a:t>
            </a:r>
            <a:endParaRPr lang="en-US" sz="1750" dirty="0"/>
          </a:p>
        </p:txBody>
      </p:sp>
      <p:sp>
        <p:nvSpPr>
          <p:cNvPr id="4" name="Text 2"/>
          <p:cNvSpPr/>
          <p:nvPr/>
        </p:nvSpPr>
        <p:spPr>
          <a:xfrm>
            <a:off x="793790" y="3414474"/>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AdminFrame with BorderLayout</a:t>
            </a:r>
            <a:endParaRPr lang="en-US" sz="1750" dirty="0"/>
          </a:p>
        </p:txBody>
      </p:sp>
      <p:sp>
        <p:nvSpPr>
          <p:cNvPr id="5" name="Text 3"/>
          <p:cNvSpPr/>
          <p:nvPr/>
        </p:nvSpPr>
        <p:spPr>
          <a:xfrm>
            <a:off x="793790" y="3856672"/>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AdminController deals with click action</a:t>
            </a:r>
            <a:endParaRPr lang="en-US" sz="1750" dirty="0"/>
          </a:p>
        </p:txBody>
      </p:sp>
      <p:sp>
        <p:nvSpPr>
          <p:cNvPr id="6" name="Text 4"/>
          <p:cNvSpPr/>
          <p:nvPr/>
        </p:nvSpPr>
        <p:spPr>
          <a:xfrm>
            <a:off x="793790" y="4298871"/>
            <a:ext cx="6244709" cy="725805"/>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UserModel extends AbstractTableModel, notify observer (adapter and observer)</a:t>
            </a:r>
            <a:endParaRPr lang="en-US" sz="1750" dirty="0"/>
          </a:p>
        </p:txBody>
      </p:sp>
      <p:sp>
        <p:nvSpPr>
          <p:cNvPr id="7" name="Text 5"/>
          <p:cNvSpPr/>
          <p:nvPr/>
        </p:nvSpPr>
        <p:spPr>
          <a:xfrm>
            <a:off x="793790" y="5228749"/>
            <a:ext cx="6244709" cy="362903"/>
          </a:xfrm>
          <a:prstGeom prst="rect">
            <a:avLst/>
          </a:prstGeom>
          <a:noFill/>
          <a:ln/>
        </p:spPr>
        <p:txBody>
          <a:bodyPr wrap="none" lIns="0" tIns="0" rIns="0" bIns="0" rtlCol="0" anchor="t"/>
          <a:lstStyle/>
          <a:p>
            <a:pPr algn="l" indent="0" marL="0">
              <a:lnSpc>
                <a:spcPts val="2850"/>
              </a:lnSpc>
              <a:buNone/>
            </a:pPr>
            <a:endParaRPr lang="en-US" sz="1750" dirty="0"/>
          </a:p>
        </p:txBody>
      </p:sp>
      <p:pic>
        <p:nvPicPr>
          <p:cNvPr id="8" name="Image 0" descr="preencoded.png">    </p:cNvPr>
          <p:cNvPicPr>
            <a:picLocks noChangeAspect="1"/>
          </p:cNvPicPr>
          <p:nvPr/>
        </p:nvPicPr>
        <p:blipFill>
          <a:blip r:embed="rId1"/>
          <a:stretch>
            <a:fillRect/>
          </a:stretch>
        </p:blipFill>
        <p:spPr>
          <a:xfrm>
            <a:off x="7599521" y="2297549"/>
            <a:ext cx="6244709" cy="46834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027753"/>
          </a:xfrm>
          <a:prstGeom prst="rect">
            <a:avLst/>
          </a:prstGeom>
        </p:spPr>
      </p:pic>
      <p:sp>
        <p:nvSpPr>
          <p:cNvPr id="3" name="Text 0"/>
          <p:cNvSpPr/>
          <p:nvPr/>
        </p:nvSpPr>
        <p:spPr>
          <a:xfrm>
            <a:off x="540663" y="2356009"/>
            <a:ext cx="10242947" cy="482798"/>
          </a:xfrm>
          <a:prstGeom prst="rect">
            <a:avLst/>
          </a:prstGeom>
          <a:noFill/>
          <a:ln/>
        </p:spPr>
        <p:txBody>
          <a:bodyPr wrap="none" lIns="0" tIns="0" rIns="0" bIns="0" rtlCol="0" anchor="t"/>
          <a:lstStyle/>
          <a:p>
            <a:pPr algn="l" indent="0" marL="0">
              <a:lnSpc>
                <a:spcPts val="3800"/>
              </a:lnSpc>
              <a:buNone/>
            </a:pPr>
            <a:r>
              <a:rPr lang="en-US" sz="3000" dirty="0">
                <a:solidFill>
                  <a:srgbClr val="091C53"/>
                </a:solidFill>
                <a:latin typeface="Instrument Sans Semi Bold" pitchFamily="34" charset="0"/>
                <a:ea typeface="Instrument Sans Semi Bold" pitchFamily="34" charset="-122"/>
                <a:cs typeface="Instrument Sans Semi Bold" pitchFamily="34" charset="-120"/>
              </a:rPr>
              <a:t>Doraemon's Gadget Workshop: Teamwork &amp; Tech Magic!</a:t>
            </a:r>
            <a:endParaRPr lang="en-US" sz="3000" dirty="0"/>
          </a:p>
        </p:txBody>
      </p:sp>
      <p:sp>
        <p:nvSpPr>
          <p:cNvPr id="4" name="Text 1"/>
          <p:cNvSpPr/>
          <p:nvPr/>
        </p:nvSpPr>
        <p:spPr>
          <a:xfrm>
            <a:off x="540663" y="3070503"/>
            <a:ext cx="13549074" cy="494348"/>
          </a:xfrm>
          <a:prstGeom prst="rect">
            <a:avLst/>
          </a:prstGeom>
          <a:noFill/>
          <a:ln/>
        </p:spPr>
        <p:txBody>
          <a:bodyPr wrap="square" lIns="0" tIns="0" rIns="0" bIns="0" rtlCol="0" anchor="t"/>
          <a:lstStyle/>
          <a:p>
            <a:pPr algn="l"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Here at </a:t>
            </a:r>
            <a:pPr algn="l" indent="0" marL="0">
              <a:lnSpc>
                <a:spcPts val="1900"/>
              </a:lnSpc>
              <a:buNone/>
            </a:pPr>
            <a:r>
              <a:rPr lang="en-US" sz="1200" b="1" dirty="0">
                <a:solidFill>
                  <a:srgbClr val="1E3063"/>
                </a:solidFill>
                <a:latin typeface="Instrument Sans Medium" pitchFamily="34" charset="0"/>
                <a:ea typeface="Instrument Sans Medium" pitchFamily="34" charset="-122"/>
                <a:cs typeface="Instrument Sans Medium" pitchFamily="34" charset="-120"/>
              </a:rPr>
              <a:t>Doraemon's Tech Team</a:t>
            </a:r>
            <a:pPr algn="l"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 we embrace agile development with the enthusiasm of a robotic cat discovering a new gadget! We ensure successful project delivery through stellar code quality and super collaborative processes, just like Doraemon and friends working together to help Nobita.</a:t>
            </a:r>
            <a:endParaRPr lang="en-US" sz="1200" dirty="0"/>
          </a:p>
        </p:txBody>
      </p:sp>
      <p:sp>
        <p:nvSpPr>
          <p:cNvPr id="5" name="Shape 2"/>
          <p:cNvSpPr/>
          <p:nvPr/>
        </p:nvSpPr>
        <p:spPr>
          <a:xfrm>
            <a:off x="540663" y="5771793"/>
            <a:ext cx="13549074" cy="22860"/>
          </a:xfrm>
          <a:prstGeom prst="roundRect">
            <a:avLst>
              <a:gd name="adj" fmla="val 608260"/>
            </a:avLst>
          </a:prstGeom>
          <a:solidFill>
            <a:srgbClr val="B4CCE3"/>
          </a:solidFill>
          <a:ln/>
        </p:spPr>
      </p:sp>
      <p:sp>
        <p:nvSpPr>
          <p:cNvPr id="6" name="Shape 3"/>
          <p:cNvSpPr/>
          <p:nvPr/>
        </p:nvSpPr>
        <p:spPr>
          <a:xfrm>
            <a:off x="3181112" y="5462885"/>
            <a:ext cx="22860" cy="308967"/>
          </a:xfrm>
          <a:prstGeom prst="roundRect">
            <a:avLst>
              <a:gd name="adj" fmla="val 608260"/>
            </a:avLst>
          </a:prstGeom>
          <a:solidFill>
            <a:srgbClr val="B4CCE3"/>
          </a:solidFill>
          <a:ln/>
        </p:spPr>
      </p:sp>
      <p:sp>
        <p:nvSpPr>
          <p:cNvPr id="7" name="Shape 4"/>
          <p:cNvSpPr/>
          <p:nvPr/>
        </p:nvSpPr>
        <p:spPr>
          <a:xfrm>
            <a:off x="3134618" y="5713809"/>
            <a:ext cx="115848" cy="115848"/>
          </a:xfrm>
          <a:prstGeom prst="roundRect">
            <a:avLst>
              <a:gd name="adj" fmla="val 394655"/>
            </a:avLst>
          </a:prstGeom>
          <a:solidFill>
            <a:srgbClr val="84C1FA"/>
          </a:solidFill>
          <a:ln/>
        </p:spPr>
      </p:sp>
      <p:sp>
        <p:nvSpPr>
          <p:cNvPr id="8" name="Text 5"/>
          <p:cNvSpPr/>
          <p:nvPr/>
        </p:nvSpPr>
        <p:spPr>
          <a:xfrm>
            <a:off x="1512808" y="3738563"/>
            <a:ext cx="3359468" cy="241340"/>
          </a:xfrm>
          <a:prstGeom prst="rect">
            <a:avLst/>
          </a:prstGeom>
          <a:noFill/>
          <a:ln/>
        </p:spPr>
        <p:txBody>
          <a:bodyPr wrap="none" lIns="0" tIns="0" rIns="0" bIns="0" rtlCol="0" anchor="t"/>
          <a:lstStyle/>
          <a:p>
            <a:pPr algn="ctr"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The Time Machine of Version Control</a:t>
            </a:r>
            <a:endParaRPr lang="en-US" sz="1500" dirty="0"/>
          </a:p>
        </p:txBody>
      </p:sp>
      <p:sp>
        <p:nvSpPr>
          <p:cNvPr id="9" name="Text 6"/>
          <p:cNvSpPr/>
          <p:nvPr/>
        </p:nvSpPr>
        <p:spPr>
          <a:xfrm>
            <a:off x="695087" y="4072533"/>
            <a:ext cx="4994910" cy="1235869"/>
          </a:xfrm>
          <a:prstGeom prst="rect">
            <a:avLst/>
          </a:prstGeom>
          <a:noFill/>
          <a:ln/>
        </p:spPr>
        <p:txBody>
          <a:bodyPr wrap="square" lIns="0" tIns="0" rIns="0" bIns="0" rtlCol="0" anchor="t"/>
          <a:lstStyle/>
          <a:p>
            <a:pPr algn="ctr"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We harness the power of version control, much like Doraemon's </a:t>
            </a:r>
            <a:pPr algn="ctr" indent="0" marL="0">
              <a:lnSpc>
                <a:spcPts val="1900"/>
              </a:lnSpc>
              <a:buNone/>
            </a:pPr>
            <a:r>
              <a:rPr lang="en-US" sz="1200" b="1" dirty="0">
                <a:solidFill>
                  <a:srgbClr val="1E3063"/>
                </a:solidFill>
                <a:latin typeface="Instrument Sans Medium" pitchFamily="34" charset="0"/>
                <a:ea typeface="Instrument Sans Medium" pitchFamily="34" charset="-122"/>
                <a:cs typeface="Instrument Sans Medium" pitchFamily="34" charset="-120"/>
              </a:rPr>
              <a:t>Time Machine</a:t>
            </a:r>
            <a:pPr algn="ctr"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 Utilizing Git Pull Requests (PRs) and peer code reviews, we ensure every change is perfectly recorded and reviewed, preventing any temporal paradoxes in our code and keeping our team synchronized.</a:t>
            </a:r>
            <a:endParaRPr lang="en-US" sz="1200" dirty="0"/>
          </a:p>
        </p:txBody>
      </p:sp>
      <p:sp>
        <p:nvSpPr>
          <p:cNvPr id="10" name="Shape 7"/>
          <p:cNvSpPr/>
          <p:nvPr/>
        </p:nvSpPr>
        <p:spPr>
          <a:xfrm>
            <a:off x="5929551" y="5771733"/>
            <a:ext cx="22860" cy="308967"/>
          </a:xfrm>
          <a:prstGeom prst="roundRect">
            <a:avLst>
              <a:gd name="adj" fmla="val 608260"/>
            </a:avLst>
          </a:prstGeom>
          <a:solidFill>
            <a:srgbClr val="B4CCE3"/>
          </a:solidFill>
          <a:ln/>
        </p:spPr>
      </p:sp>
      <p:sp>
        <p:nvSpPr>
          <p:cNvPr id="11" name="Shape 8"/>
          <p:cNvSpPr/>
          <p:nvPr/>
        </p:nvSpPr>
        <p:spPr>
          <a:xfrm>
            <a:off x="5883057" y="5713809"/>
            <a:ext cx="115848" cy="115848"/>
          </a:xfrm>
          <a:prstGeom prst="roundRect">
            <a:avLst>
              <a:gd name="adj" fmla="val 394655"/>
            </a:avLst>
          </a:prstGeom>
          <a:solidFill>
            <a:srgbClr val="84C1FA"/>
          </a:solidFill>
          <a:ln/>
        </p:spPr>
      </p:sp>
      <p:sp>
        <p:nvSpPr>
          <p:cNvPr id="12" name="Text 9"/>
          <p:cNvSpPr/>
          <p:nvPr/>
        </p:nvSpPr>
        <p:spPr>
          <a:xfrm>
            <a:off x="4411742" y="6235184"/>
            <a:ext cx="3058478" cy="241340"/>
          </a:xfrm>
          <a:prstGeom prst="rect">
            <a:avLst/>
          </a:prstGeom>
          <a:noFill/>
          <a:ln/>
        </p:spPr>
        <p:txBody>
          <a:bodyPr wrap="none" lIns="0" tIns="0" rIns="0" bIns="0" rtlCol="0" anchor="t"/>
          <a:lstStyle/>
          <a:p>
            <a:pPr algn="ctr"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Cross-Dimensional Contributions</a:t>
            </a:r>
            <a:endParaRPr lang="en-US" sz="1500" dirty="0"/>
          </a:p>
        </p:txBody>
      </p:sp>
      <p:sp>
        <p:nvSpPr>
          <p:cNvPr id="13" name="Text 10"/>
          <p:cNvSpPr/>
          <p:nvPr/>
        </p:nvSpPr>
        <p:spPr>
          <a:xfrm>
            <a:off x="3443526" y="6569154"/>
            <a:ext cx="4994910" cy="1235869"/>
          </a:xfrm>
          <a:prstGeom prst="rect">
            <a:avLst/>
          </a:prstGeom>
          <a:noFill/>
          <a:ln/>
        </p:spPr>
        <p:txBody>
          <a:bodyPr wrap="square" lIns="0" tIns="0" rIns="0" bIns="0" rtlCol="0" anchor="t"/>
          <a:lstStyle/>
          <a:p>
            <a:pPr algn="ctr"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Just as Doraemon can pull out any gadget from his pocket, our team members are multi-talented! Everyone contributes across front-end, back-end, and integration tasks, fostering full-stack skill development. It's like everyone has their own mini-pocket of helpful gadgets!</a:t>
            </a:r>
            <a:endParaRPr lang="en-US" sz="1200" dirty="0"/>
          </a:p>
        </p:txBody>
      </p:sp>
      <p:sp>
        <p:nvSpPr>
          <p:cNvPr id="14" name="Shape 11"/>
          <p:cNvSpPr/>
          <p:nvPr/>
        </p:nvSpPr>
        <p:spPr>
          <a:xfrm>
            <a:off x="8677989" y="5462885"/>
            <a:ext cx="22860" cy="308967"/>
          </a:xfrm>
          <a:prstGeom prst="roundRect">
            <a:avLst>
              <a:gd name="adj" fmla="val 608260"/>
            </a:avLst>
          </a:prstGeom>
          <a:solidFill>
            <a:srgbClr val="B4CCE3"/>
          </a:solidFill>
          <a:ln/>
        </p:spPr>
      </p:sp>
      <p:sp>
        <p:nvSpPr>
          <p:cNvPr id="15" name="Shape 12"/>
          <p:cNvSpPr/>
          <p:nvPr/>
        </p:nvSpPr>
        <p:spPr>
          <a:xfrm>
            <a:off x="8631495" y="5713809"/>
            <a:ext cx="115848" cy="115848"/>
          </a:xfrm>
          <a:prstGeom prst="roundRect">
            <a:avLst>
              <a:gd name="adj" fmla="val 394655"/>
            </a:avLst>
          </a:prstGeom>
          <a:solidFill>
            <a:srgbClr val="84C1FA"/>
          </a:solidFill>
          <a:ln/>
        </p:spPr>
      </p:sp>
      <p:sp>
        <p:nvSpPr>
          <p:cNvPr id="16" name="Text 13"/>
          <p:cNvSpPr/>
          <p:nvPr/>
        </p:nvSpPr>
        <p:spPr>
          <a:xfrm>
            <a:off x="7167920" y="3738563"/>
            <a:ext cx="3042880" cy="241340"/>
          </a:xfrm>
          <a:prstGeom prst="rect">
            <a:avLst/>
          </a:prstGeom>
          <a:noFill/>
          <a:ln/>
        </p:spPr>
        <p:txBody>
          <a:bodyPr wrap="none" lIns="0" tIns="0" rIns="0" bIns="0" rtlCol="0" anchor="t"/>
          <a:lstStyle/>
          <a:p>
            <a:pPr algn="ctr"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Anywhere Door for API Standards</a:t>
            </a:r>
            <a:endParaRPr lang="en-US" sz="1500" dirty="0"/>
          </a:p>
        </p:txBody>
      </p:sp>
      <p:sp>
        <p:nvSpPr>
          <p:cNvPr id="17" name="Text 14"/>
          <p:cNvSpPr/>
          <p:nvPr/>
        </p:nvSpPr>
        <p:spPr>
          <a:xfrm>
            <a:off x="6191964" y="4072533"/>
            <a:ext cx="4994910" cy="1235869"/>
          </a:xfrm>
          <a:prstGeom prst="rect">
            <a:avLst/>
          </a:prstGeom>
          <a:noFill/>
          <a:ln/>
        </p:spPr>
        <p:txBody>
          <a:bodyPr wrap="square" lIns="0" tIns="0" rIns="0" bIns="0" rtlCol="0" anchor="t"/>
          <a:lstStyle/>
          <a:p>
            <a:pPr algn="ctr"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Our code quality and standards are as sturdy as Doraemon's robotic frame! We maintain consistent code formatting with Prettier, adhere to clear branch naming conventions, and use "Anywhere Door" level API documentation standards, making sure our connections are always seamless and accessible.</a:t>
            </a:r>
            <a:endParaRPr lang="en-US" sz="1200" dirty="0"/>
          </a:p>
        </p:txBody>
      </p:sp>
      <p:sp>
        <p:nvSpPr>
          <p:cNvPr id="18" name="Shape 15"/>
          <p:cNvSpPr/>
          <p:nvPr/>
        </p:nvSpPr>
        <p:spPr>
          <a:xfrm>
            <a:off x="11426428" y="5771733"/>
            <a:ext cx="22860" cy="308967"/>
          </a:xfrm>
          <a:prstGeom prst="roundRect">
            <a:avLst>
              <a:gd name="adj" fmla="val 608260"/>
            </a:avLst>
          </a:prstGeom>
          <a:solidFill>
            <a:srgbClr val="B4CCE3"/>
          </a:solidFill>
          <a:ln/>
        </p:spPr>
      </p:sp>
      <p:sp>
        <p:nvSpPr>
          <p:cNvPr id="19" name="Shape 16"/>
          <p:cNvSpPr/>
          <p:nvPr/>
        </p:nvSpPr>
        <p:spPr>
          <a:xfrm>
            <a:off x="11379934" y="5713809"/>
            <a:ext cx="115848" cy="115848"/>
          </a:xfrm>
          <a:prstGeom prst="roundRect">
            <a:avLst>
              <a:gd name="adj" fmla="val 394655"/>
            </a:avLst>
          </a:prstGeom>
          <a:solidFill>
            <a:srgbClr val="84C1FA"/>
          </a:solidFill>
          <a:ln/>
        </p:spPr>
      </p:sp>
      <p:sp>
        <p:nvSpPr>
          <p:cNvPr id="20" name="Text 17"/>
          <p:cNvSpPr/>
          <p:nvPr/>
        </p:nvSpPr>
        <p:spPr>
          <a:xfrm>
            <a:off x="9669423" y="6235184"/>
            <a:ext cx="3536752" cy="241340"/>
          </a:xfrm>
          <a:prstGeom prst="rect">
            <a:avLst/>
          </a:prstGeom>
          <a:noFill/>
          <a:ln/>
        </p:spPr>
        <p:txBody>
          <a:bodyPr wrap="none" lIns="0" tIns="0" rIns="0" bIns="0" rtlCol="0" anchor="t"/>
          <a:lstStyle/>
          <a:p>
            <a:pPr algn="ctr"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Gadget-Powered Challenge Resolution</a:t>
            </a:r>
            <a:endParaRPr lang="en-US" sz="1500" dirty="0"/>
          </a:p>
        </p:txBody>
      </p:sp>
      <p:sp>
        <p:nvSpPr>
          <p:cNvPr id="21" name="Text 18"/>
          <p:cNvSpPr/>
          <p:nvPr/>
        </p:nvSpPr>
        <p:spPr>
          <a:xfrm>
            <a:off x="8940403" y="6569154"/>
            <a:ext cx="4994910" cy="1235869"/>
          </a:xfrm>
          <a:prstGeom prst="rect">
            <a:avLst/>
          </a:prstGeom>
          <a:noFill/>
          <a:ln/>
        </p:spPr>
        <p:txBody>
          <a:bodyPr wrap="square" lIns="0" tIns="0" rIns="0" bIns="0" rtlCol="0" anchor="t"/>
          <a:lstStyle/>
          <a:p>
            <a:pPr algn="ctr" indent="0" marL="0">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No challenge is too big for Doraemon's Tech Team! We've successfully navigated complex technical puzzles, including intricate comment thread logic, secure JWT token management, efficient image uploads, and even multi-theme persistence – finding the perfect gadget for every tricky situation!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759" y="431125"/>
            <a:ext cx="10711339" cy="490061"/>
          </a:xfrm>
          <a:prstGeom prst="rect">
            <a:avLst/>
          </a:prstGeom>
          <a:noFill/>
          <a:ln/>
        </p:spPr>
        <p:txBody>
          <a:bodyPr wrap="none" lIns="0" tIns="0" rIns="0" bIns="0" rtlCol="0" anchor="t"/>
          <a:lstStyle/>
          <a:p>
            <a:pPr algn="l" indent="0" marL="0">
              <a:lnSpc>
                <a:spcPts val="3850"/>
              </a:lnSpc>
              <a:buNone/>
            </a:pPr>
            <a:r>
              <a:rPr lang="en-US" sz="3050" dirty="0">
                <a:solidFill>
                  <a:srgbClr val="091C53"/>
                </a:solidFill>
                <a:latin typeface="Instrument Sans Semi Bold" pitchFamily="34" charset="0"/>
                <a:ea typeface="Instrument Sans Semi Bold" pitchFamily="34" charset="-122"/>
                <a:cs typeface="Instrument Sans Semi Bold" pitchFamily="34" charset="-120"/>
              </a:rPr>
              <a:t>DoraBlog's Grand Adventures: Gadget-Powered Triumphs!</a:t>
            </a:r>
            <a:endParaRPr lang="en-US" sz="3050" dirty="0"/>
          </a:p>
        </p:txBody>
      </p:sp>
      <p:sp>
        <p:nvSpPr>
          <p:cNvPr id="3" name="Text 1"/>
          <p:cNvSpPr/>
          <p:nvPr/>
        </p:nvSpPr>
        <p:spPr>
          <a:xfrm>
            <a:off x="548759" y="1313140"/>
            <a:ext cx="4351973" cy="294084"/>
          </a:xfrm>
          <a:prstGeom prst="rect">
            <a:avLst/>
          </a:prstGeom>
          <a:noFill/>
          <a:ln/>
        </p:spPr>
        <p:txBody>
          <a:bodyPr wrap="none" lIns="0" tIns="0" rIns="0" bIns="0" rtlCol="0" anchor="t"/>
          <a:lstStyle/>
          <a:p>
            <a:pPr algn="l" indent="0" marL="0">
              <a:lnSpc>
                <a:spcPts val="230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Amazing Deliverables, Doraemon Style!</a:t>
            </a:r>
            <a:endParaRPr lang="en-US" sz="1850" dirty="0"/>
          </a:p>
        </p:txBody>
      </p:sp>
      <p:sp>
        <p:nvSpPr>
          <p:cNvPr id="4" name="Text 2"/>
          <p:cNvSpPr/>
          <p:nvPr/>
        </p:nvSpPr>
        <p:spPr>
          <a:xfrm>
            <a:off x="548759" y="1764030"/>
            <a:ext cx="6575227" cy="501729"/>
          </a:xfrm>
          <a:prstGeom prst="rect">
            <a:avLst/>
          </a:prstGeom>
          <a:noFill/>
          <a:ln/>
        </p:spPr>
        <p:txBody>
          <a:bodyPr wrap="square" lIns="0" tIns="0" rIns="0" bIns="0" rtlCol="0" anchor="t"/>
          <a:lstStyle/>
          <a:p>
            <a:pPr algn="l" marL="342900" indent="-342900">
              <a:lnSpc>
                <a:spcPts val="1950"/>
              </a:lnSpc>
              <a:buSzPct val="100000"/>
              <a:buChar char="•"/>
            </a:pPr>
            <a:r>
              <a:rPr lang="en-US" sz="1200" dirty="0">
                <a:solidFill>
                  <a:srgbClr val="1E3063"/>
                </a:solidFill>
                <a:latin typeface="Instrument Sans Medium" pitchFamily="34" charset="0"/>
                <a:ea typeface="Instrument Sans Medium" pitchFamily="34" charset="-122"/>
                <a:cs typeface="Instrument Sans Medium" pitchFamily="34" charset="-120"/>
              </a:rPr>
              <a:t>A fully functional blog platform with over 15 </a:t>
            </a:r>
            <a:pPr algn="l" indent="0" marL="0">
              <a:lnSpc>
                <a:spcPts val="1950"/>
              </a:lnSpc>
              <a:buNone/>
            </a:pPr>
            <a:r>
              <a:rPr lang="en-US" sz="1200" b="1" dirty="0">
                <a:solidFill>
                  <a:srgbClr val="1E3063"/>
                </a:solidFill>
                <a:latin typeface="Instrument Sans Medium" pitchFamily="34" charset="0"/>
                <a:ea typeface="Instrument Sans Medium" pitchFamily="34" charset="-122"/>
                <a:cs typeface="Instrument Sans Medium" pitchFamily="34" charset="-120"/>
              </a:rPr>
              <a:t>Anywhere Door</a:t>
            </a:r>
            <a:pPr algn="l" indent="0" marL="0">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 API endpoints, connecting users to data in a flash!</a:t>
            </a:r>
            <a:endParaRPr lang="en-US" sz="1200" dirty="0"/>
          </a:p>
        </p:txBody>
      </p:sp>
      <p:sp>
        <p:nvSpPr>
          <p:cNvPr id="5" name="Text 3"/>
          <p:cNvSpPr/>
          <p:nvPr/>
        </p:nvSpPr>
        <p:spPr>
          <a:xfrm>
            <a:off x="548759" y="2320528"/>
            <a:ext cx="6575227" cy="501729"/>
          </a:xfrm>
          <a:prstGeom prst="rect">
            <a:avLst/>
          </a:prstGeom>
          <a:noFill/>
          <a:ln/>
        </p:spPr>
        <p:txBody>
          <a:bodyPr wrap="square" lIns="0" tIns="0" rIns="0" bIns="0" rtlCol="0" anchor="t"/>
          <a:lstStyle/>
          <a:p>
            <a:pPr algn="l" marL="342900" indent="-342900">
              <a:lnSpc>
                <a:spcPts val="1950"/>
              </a:lnSpc>
              <a:buSzPct val="100000"/>
              <a:buChar char="•"/>
            </a:pPr>
            <a:r>
              <a:rPr lang="en-US" sz="1200" dirty="0">
                <a:solidFill>
                  <a:srgbClr val="1E3063"/>
                </a:solidFill>
                <a:latin typeface="Instrument Sans Medium" pitchFamily="34" charset="0"/>
                <a:ea typeface="Instrument Sans Medium" pitchFamily="34" charset="-122"/>
                <a:cs typeface="Instrument Sans Medium" pitchFamily="34" charset="-120"/>
              </a:rPr>
              <a:t>A sleek, responsive SvelteKit frontend for Noby and friends, and a dedicated Java admin client, like Doraemon's own personal control panel.</a:t>
            </a:r>
            <a:endParaRPr lang="en-US" sz="1200" dirty="0"/>
          </a:p>
        </p:txBody>
      </p:sp>
      <p:sp>
        <p:nvSpPr>
          <p:cNvPr id="6" name="Text 4"/>
          <p:cNvSpPr/>
          <p:nvPr/>
        </p:nvSpPr>
        <p:spPr>
          <a:xfrm>
            <a:off x="548759" y="2877026"/>
            <a:ext cx="6575227" cy="501729"/>
          </a:xfrm>
          <a:prstGeom prst="rect">
            <a:avLst/>
          </a:prstGeom>
          <a:noFill/>
          <a:ln/>
        </p:spPr>
        <p:txBody>
          <a:bodyPr wrap="square" lIns="0" tIns="0" rIns="0" bIns="0" rtlCol="0" anchor="t"/>
          <a:lstStyle/>
          <a:p>
            <a:pPr algn="l" marL="342900" indent="-342900">
              <a:lnSpc>
                <a:spcPts val="1950"/>
              </a:lnSpc>
              <a:buSzPct val="100000"/>
              <a:buChar char="•"/>
            </a:pPr>
            <a:r>
              <a:rPr lang="en-US" sz="1200" dirty="0">
                <a:solidFill>
                  <a:srgbClr val="1E3063"/>
                </a:solidFill>
                <a:latin typeface="Instrument Sans Medium" pitchFamily="34" charset="0"/>
                <a:ea typeface="Instrument Sans Medium" pitchFamily="34" charset="-122"/>
                <a:cs typeface="Instrument Sans Medium" pitchFamily="34" charset="-120"/>
              </a:rPr>
              <a:t>Comprehensive technical documentation, including API blueprints and Entity Relationship Diagrams (ERD) – our secret guide to the Dora-verse of data.</a:t>
            </a:r>
            <a:endParaRPr lang="en-US" sz="1200" dirty="0"/>
          </a:p>
        </p:txBody>
      </p:sp>
      <p:sp>
        <p:nvSpPr>
          <p:cNvPr id="7" name="Text 5"/>
          <p:cNvSpPr/>
          <p:nvPr/>
        </p:nvSpPr>
        <p:spPr>
          <a:xfrm>
            <a:off x="783908" y="3555087"/>
            <a:ext cx="6340078" cy="626983"/>
          </a:xfrm>
          <a:prstGeom prst="rect">
            <a:avLst/>
          </a:prstGeom>
          <a:noFill/>
          <a:ln/>
        </p:spPr>
        <p:txBody>
          <a:bodyPr wrap="square" lIns="0" tIns="0" rIns="0" bIns="0" rtlCol="0" anchor="t"/>
          <a:lstStyle/>
          <a:p>
            <a:pPr algn="l" indent="0" marL="0">
              <a:lnSpc>
                <a:spcPts val="245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We didn't just build an application, we journeyed through the full-stack development lifecycle, powered by Doraemon's Tech Team!</a:t>
            </a:r>
            <a:endParaRPr lang="en-US" sz="1500" dirty="0"/>
          </a:p>
        </p:txBody>
      </p:sp>
      <p:sp>
        <p:nvSpPr>
          <p:cNvPr id="8" name="Shape 6"/>
          <p:cNvSpPr/>
          <p:nvPr/>
        </p:nvSpPr>
        <p:spPr>
          <a:xfrm>
            <a:off x="548759" y="3555087"/>
            <a:ext cx="22860" cy="626983"/>
          </a:xfrm>
          <a:prstGeom prst="rect">
            <a:avLst/>
          </a:prstGeom>
          <a:solidFill>
            <a:srgbClr val="84C1FA"/>
          </a:solidFill>
          <a:ln/>
        </p:spPr>
      </p:sp>
      <p:sp>
        <p:nvSpPr>
          <p:cNvPr id="9" name="Text 7"/>
          <p:cNvSpPr/>
          <p:nvPr/>
        </p:nvSpPr>
        <p:spPr>
          <a:xfrm>
            <a:off x="7514034" y="1313140"/>
            <a:ext cx="3090148" cy="294084"/>
          </a:xfrm>
          <a:prstGeom prst="rect">
            <a:avLst/>
          </a:prstGeom>
          <a:noFill/>
          <a:ln/>
        </p:spPr>
        <p:txBody>
          <a:bodyPr wrap="none" lIns="0" tIns="0" rIns="0" bIns="0" rtlCol="0" anchor="t"/>
          <a:lstStyle/>
          <a:p>
            <a:pPr algn="l" indent="0" marL="0">
              <a:lnSpc>
                <a:spcPts val="230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Core Gadget Skills Acquired</a:t>
            </a:r>
            <a:endParaRPr lang="en-US" sz="1850" dirty="0"/>
          </a:p>
        </p:txBody>
      </p:sp>
      <p:sp>
        <p:nvSpPr>
          <p:cNvPr id="10" name="Shape 8"/>
          <p:cNvSpPr/>
          <p:nvPr/>
        </p:nvSpPr>
        <p:spPr>
          <a:xfrm>
            <a:off x="7514034" y="1861899"/>
            <a:ext cx="5962769" cy="195977"/>
          </a:xfrm>
          <a:prstGeom prst="roundRect">
            <a:avLst>
              <a:gd name="adj" fmla="val 72012"/>
            </a:avLst>
          </a:prstGeom>
          <a:solidFill>
            <a:srgbClr val="CEE6FD"/>
          </a:solidFill>
          <a:ln/>
        </p:spPr>
      </p:sp>
      <p:sp>
        <p:nvSpPr>
          <p:cNvPr id="11" name="Shape 9"/>
          <p:cNvSpPr/>
          <p:nvPr/>
        </p:nvSpPr>
        <p:spPr>
          <a:xfrm>
            <a:off x="7514034" y="1861899"/>
            <a:ext cx="5962769" cy="195977"/>
          </a:xfrm>
          <a:prstGeom prst="roundRect">
            <a:avLst>
              <a:gd name="adj" fmla="val 72012"/>
            </a:avLst>
          </a:prstGeom>
          <a:solidFill>
            <a:srgbClr val="84C1FA"/>
          </a:solidFill>
          <a:ln/>
        </p:spPr>
      </p:sp>
      <p:sp>
        <p:nvSpPr>
          <p:cNvPr id="12" name="Text 10"/>
          <p:cNvSpPr/>
          <p:nvPr/>
        </p:nvSpPr>
        <p:spPr>
          <a:xfrm>
            <a:off x="13594318" y="1861899"/>
            <a:ext cx="494943" cy="195977"/>
          </a:xfrm>
          <a:prstGeom prst="rect">
            <a:avLst/>
          </a:prstGeom>
          <a:noFill/>
          <a:ln/>
        </p:spPr>
        <p:txBody>
          <a:bodyPr wrap="none" lIns="0" tIns="0" rIns="0" bIns="0" rtlCol="0" anchor="t"/>
          <a:lstStyle/>
          <a:p>
            <a:pPr algn="l" indent="0" marL="0">
              <a:lnSpc>
                <a:spcPts val="15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100%</a:t>
            </a:r>
            <a:endParaRPr lang="en-US" sz="1500" dirty="0"/>
          </a:p>
        </p:txBody>
      </p:sp>
      <p:sp>
        <p:nvSpPr>
          <p:cNvPr id="13" name="Text 11"/>
          <p:cNvSpPr/>
          <p:nvPr/>
        </p:nvSpPr>
        <p:spPr>
          <a:xfrm>
            <a:off x="7514034" y="2253734"/>
            <a:ext cx="1960007" cy="244912"/>
          </a:xfrm>
          <a:prstGeom prst="rect">
            <a:avLst/>
          </a:prstGeom>
          <a:noFill/>
          <a:ln/>
        </p:spPr>
        <p:txBody>
          <a:bodyPr wrap="none" lIns="0" tIns="0" rIns="0" bIns="0" rtlCol="0" anchor="t"/>
          <a:lstStyle/>
          <a:p>
            <a:pPr algn="l"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Full-Stack Mastery</a:t>
            </a:r>
            <a:endParaRPr lang="en-US" sz="1500" dirty="0"/>
          </a:p>
        </p:txBody>
      </p:sp>
      <p:sp>
        <p:nvSpPr>
          <p:cNvPr id="14" name="Text 12"/>
          <p:cNvSpPr/>
          <p:nvPr/>
        </p:nvSpPr>
        <p:spPr>
          <a:xfrm>
            <a:off x="7514034" y="2655451"/>
            <a:ext cx="6575227" cy="501729"/>
          </a:xfrm>
          <a:prstGeom prst="rect">
            <a:avLst/>
          </a:prstGeom>
          <a:noFill/>
          <a:ln/>
        </p:spPr>
        <p:txBody>
          <a:bodyPr wrap="square" lIns="0" tIns="0" rIns="0" bIns="0" rtlCol="0" anchor="t"/>
          <a:lstStyle/>
          <a:p>
            <a:pPr algn="l" indent="0" marL="0">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Mastered Node.js and SvelteKit to implement a decoupled frontend and backend architecture, just like Doraemon's multi-functional toolkit!</a:t>
            </a:r>
            <a:endParaRPr lang="en-US" sz="1200" dirty="0"/>
          </a:p>
        </p:txBody>
      </p:sp>
      <p:sp>
        <p:nvSpPr>
          <p:cNvPr id="15" name="Shape 13"/>
          <p:cNvSpPr/>
          <p:nvPr/>
        </p:nvSpPr>
        <p:spPr>
          <a:xfrm>
            <a:off x="7514034" y="3549134"/>
            <a:ext cx="6074926" cy="195977"/>
          </a:xfrm>
          <a:prstGeom prst="roundRect">
            <a:avLst>
              <a:gd name="adj" fmla="val 72012"/>
            </a:avLst>
          </a:prstGeom>
          <a:solidFill>
            <a:srgbClr val="CEE6FD"/>
          </a:solidFill>
          <a:ln/>
        </p:spPr>
      </p:sp>
      <p:sp>
        <p:nvSpPr>
          <p:cNvPr id="16" name="Shape 14"/>
          <p:cNvSpPr/>
          <p:nvPr/>
        </p:nvSpPr>
        <p:spPr>
          <a:xfrm>
            <a:off x="7514034" y="3549134"/>
            <a:ext cx="5771078" cy="195977"/>
          </a:xfrm>
          <a:prstGeom prst="roundRect">
            <a:avLst>
              <a:gd name="adj" fmla="val 72012"/>
            </a:avLst>
          </a:prstGeom>
          <a:solidFill>
            <a:srgbClr val="84C1FA"/>
          </a:solidFill>
          <a:ln/>
        </p:spPr>
      </p:sp>
      <p:sp>
        <p:nvSpPr>
          <p:cNvPr id="17" name="Text 15"/>
          <p:cNvSpPr/>
          <p:nvPr/>
        </p:nvSpPr>
        <p:spPr>
          <a:xfrm>
            <a:off x="13706475" y="3549134"/>
            <a:ext cx="382786" cy="195977"/>
          </a:xfrm>
          <a:prstGeom prst="rect">
            <a:avLst/>
          </a:prstGeom>
          <a:noFill/>
          <a:ln/>
        </p:spPr>
        <p:txBody>
          <a:bodyPr wrap="none" lIns="0" tIns="0" rIns="0" bIns="0" rtlCol="0" anchor="t"/>
          <a:lstStyle/>
          <a:p>
            <a:pPr algn="l" indent="0" marL="0">
              <a:lnSpc>
                <a:spcPts val="15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95%</a:t>
            </a:r>
            <a:endParaRPr lang="en-US" sz="1500" dirty="0"/>
          </a:p>
        </p:txBody>
      </p:sp>
      <p:sp>
        <p:nvSpPr>
          <p:cNvPr id="18" name="Text 16"/>
          <p:cNvSpPr/>
          <p:nvPr/>
        </p:nvSpPr>
        <p:spPr>
          <a:xfrm>
            <a:off x="7514034" y="3940969"/>
            <a:ext cx="3059430" cy="244912"/>
          </a:xfrm>
          <a:prstGeom prst="rect">
            <a:avLst/>
          </a:prstGeom>
          <a:noFill/>
          <a:ln/>
        </p:spPr>
        <p:txBody>
          <a:bodyPr wrap="none" lIns="0" tIns="0" rIns="0" bIns="0" rtlCol="0" anchor="t"/>
          <a:lstStyle/>
          <a:p>
            <a:pPr algn="l"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Agile &amp; Time Travel Collaboration</a:t>
            </a:r>
            <a:endParaRPr lang="en-US" sz="1500" dirty="0"/>
          </a:p>
        </p:txBody>
      </p:sp>
      <p:sp>
        <p:nvSpPr>
          <p:cNvPr id="19" name="Text 17"/>
          <p:cNvSpPr/>
          <p:nvPr/>
        </p:nvSpPr>
        <p:spPr>
          <a:xfrm>
            <a:off x="7514034" y="4342686"/>
            <a:ext cx="6575227" cy="501729"/>
          </a:xfrm>
          <a:prstGeom prst="rect">
            <a:avLst/>
          </a:prstGeom>
          <a:noFill/>
          <a:ln/>
        </p:spPr>
        <p:txBody>
          <a:bodyPr wrap="square" lIns="0" tIns="0" rIns="0" bIns="0" rtlCol="0" anchor="t"/>
          <a:lstStyle/>
          <a:p>
            <a:pPr algn="l" indent="0" marL="0">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Utilized Git workflow and peer code reviews, ensuring our project evolves smoothly, much like a </a:t>
            </a:r>
            <a:pPr algn="l" indent="0" marL="0">
              <a:lnSpc>
                <a:spcPts val="1950"/>
              </a:lnSpc>
              <a:buNone/>
            </a:pPr>
            <a:r>
              <a:rPr lang="en-US" sz="1200" b="1" dirty="0">
                <a:solidFill>
                  <a:srgbClr val="1E3063"/>
                </a:solidFill>
                <a:latin typeface="Instrument Sans Medium" pitchFamily="34" charset="0"/>
                <a:ea typeface="Instrument Sans Medium" pitchFamily="34" charset="-122"/>
                <a:cs typeface="Instrument Sans Medium" pitchFamily="34" charset="-120"/>
              </a:rPr>
              <a:t>Time Machine</a:t>
            </a:r>
            <a:pPr algn="l" indent="0" marL="0">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 for version control and teamwork!</a:t>
            </a:r>
            <a:endParaRPr lang="en-US" sz="1200" dirty="0"/>
          </a:p>
        </p:txBody>
      </p:sp>
      <p:sp>
        <p:nvSpPr>
          <p:cNvPr id="20" name="Shape 18"/>
          <p:cNvSpPr/>
          <p:nvPr/>
        </p:nvSpPr>
        <p:spPr>
          <a:xfrm>
            <a:off x="7514034" y="5236369"/>
            <a:ext cx="6050042" cy="195977"/>
          </a:xfrm>
          <a:prstGeom prst="roundRect">
            <a:avLst>
              <a:gd name="adj" fmla="val 72012"/>
            </a:avLst>
          </a:prstGeom>
          <a:solidFill>
            <a:srgbClr val="CEE6FD"/>
          </a:solidFill>
          <a:ln/>
        </p:spPr>
      </p:sp>
      <p:sp>
        <p:nvSpPr>
          <p:cNvPr id="21" name="Shape 19"/>
          <p:cNvSpPr/>
          <p:nvPr/>
        </p:nvSpPr>
        <p:spPr>
          <a:xfrm>
            <a:off x="7514034" y="5236369"/>
            <a:ext cx="5444966" cy="195977"/>
          </a:xfrm>
          <a:prstGeom prst="roundRect">
            <a:avLst>
              <a:gd name="adj" fmla="val 72012"/>
            </a:avLst>
          </a:prstGeom>
          <a:solidFill>
            <a:srgbClr val="84C1FA"/>
          </a:solidFill>
          <a:ln/>
        </p:spPr>
      </p:sp>
      <p:sp>
        <p:nvSpPr>
          <p:cNvPr id="22" name="Text 20"/>
          <p:cNvSpPr/>
          <p:nvPr/>
        </p:nvSpPr>
        <p:spPr>
          <a:xfrm>
            <a:off x="13681591" y="5236369"/>
            <a:ext cx="407670" cy="195977"/>
          </a:xfrm>
          <a:prstGeom prst="rect">
            <a:avLst/>
          </a:prstGeom>
          <a:noFill/>
          <a:ln/>
        </p:spPr>
        <p:txBody>
          <a:bodyPr wrap="none" lIns="0" tIns="0" rIns="0" bIns="0" rtlCol="0" anchor="t"/>
          <a:lstStyle/>
          <a:p>
            <a:pPr algn="l" indent="0" marL="0">
              <a:lnSpc>
                <a:spcPts val="15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90%</a:t>
            </a:r>
            <a:endParaRPr lang="en-US" sz="1500" dirty="0"/>
          </a:p>
        </p:txBody>
      </p:sp>
      <p:sp>
        <p:nvSpPr>
          <p:cNvPr id="23" name="Text 21"/>
          <p:cNvSpPr/>
          <p:nvPr/>
        </p:nvSpPr>
        <p:spPr>
          <a:xfrm>
            <a:off x="7514034" y="5628203"/>
            <a:ext cx="2745105" cy="244912"/>
          </a:xfrm>
          <a:prstGeom prst="rect">
            <a:avLst/>
          </a:prstGeom>
          <a:noFill/>
          <a:ln/>
        </p:spPr>
        <p:txBody>
          <a:bodyPr wrap="none" lIns="0" tIns="0" rIns="0" bIns="0" rtlCol="0" anchor="t"/>
          <a:lstStyle/>
          <a:p>
            <a:pPr algn="l" indent="0" marL="0">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Security Shield Best Practices</a:t>
            </a:r>
            <a:endParaRPr lang="en-US" sz="1500" dirty="0"/>
          </a:p>
        </p:txBody>
      </p:sp>
      <p:sp>
        <p:nvSpPr>
          <p:cNvPr id="24" name="Text 22"/>
          <p:cNvSpPr/>
          <p:nvPr/>
        </p:nvSpPr>
        <p:spPr>
          <a:xfrm>
            <a:off x="7514034" y="6029920"/>
            <a:ext cx="6575227" cy="501729"/>
          </a:xfrm>
          <a:prstGeom prst="rect">
            <a:avLst/>
          </a:prstGeom>
          <a:noFill/>
          <a:ln/>
        </p:spPr>
        <p:txBody>
          <a:bodyPr wrap="square" lIns="0" tIns="0" rIns="0" bIns="0" rtlCol="0" anchor="t"/>
          <a:lstStyle/>
          <a:p>
            <a:pPr algn="l" indent="0" marL="0">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Proficiently used JWT authentication and Bcrypt hashing, building a strong security shield around DoraBlog's precious data.</a:t>
            </a:r>
            <a:endParaRPr lang="en-US" sz="1200" dirty="0"/>
          </a:p>
        </p:txBody>
      </p:sp>
      <p:sp>
        <p:nvSpPr>
          <p:cNvPr id="25" name="Shape 23"/>
          <p:cNvSpPr/>
          <p:nvPr/>
        </p:nvSpPr>
        <p:spPr>
          <a:xfrm>
            <a:off x="548759" y="6884313"/>
            <a:ext cx="13532882" cy="917138"/>
          </a:xfrm>
          <a:prstGeom prst="roundRect">
            <a:avLst>
              <a:gd name="adj" fmla="val 15388"/>
            </a:avLst>
          </a:prstGeom>
          <a:solidFill>
            <a:srgbClr val="B5DAFC"/>
          </a:solidFill>
          <a:ln/>
        </p:spPr>
      </p:sp>
      <p:pic>
        <p:nvPicPr>
          <p:cNvPr id="26" name="Image 0" descr="preencoded.png">    </p:cNvPr>
          <p:cNvPicPr>
            <a:picLocks noChangeAspect="1"/>
          </p:cNvPicPr>
          <p:nvPr/>
        </p:nvPicPr>
        <p:blipFill>
          <a:blip r:embed="rId1"/>
          <a:stretch>
            <a:fillRect/>
          </a:stretch>
        </p:blipFill>
        <p:spPr>
          <a:xfrm>
            <a:off x="705564" y="7118271"/>
            <a:ext cx="195977" cy="156805"/>
          </a:xfrm>
          <a:prstGeom prst="rect">
            <a:avLst/>
          </a:prstGeom>
        </p:spPr>
      </p:pic>
      <p:sp>
        <p:nvSpPr>
          <p:cNvPr id="27" name="Text 24"/>
          <p:cNvSpPr/>
          <p:nvPr/>
        </p:nvSpPr>
        <p:spPr>
          <a:xfrm>
            <a:off x="1058347" y="7080290"/>
            <a:ext cx="12866489" cy="501729"/>
          </a:xfrm>
          <a:prstGeom prst="rect">
            <a:avLst/>
          </a:prstGeom>
          <a:noFill/>
          <a:ln/>
        </p:spPr>
        <p:txBody>
          <a:bodyPr wrap="square" lIns="0" tIns="0" rIns="0" bIns="0" rtlCol="0" anchor="t"/>
          <a:lstStyle/>
          <a:p>
            <a:pPr algn="l" indent="0" marL="0">
              <a:lnSpc>
                <a:spcPts val="1950"/>
              </a:lnSpc>
              <a:buNone/>
            </a:pPr>
            <a:r>
              <a:rPr lang="en-US" sz="1200" dirty="0">
                <a:solidFill>
                  <a:srgbClr val="000000"/>
                </a:solidFill>
                <a:latin typeface="Instrument Sans Medium" pitchFamily="34" charset="0"/>
                <a:ea typeface="Instrument Sans Medium" pitchFamily="34" charset="-122"/>
                <a:cs typeface="Instrument Sans Medium" pitchFamily="34" charset="-120"/>
              </a:rPr>
              <a:t>Future Outlook: DoraBlog has boundless potential for expansion, easily integrating new features like email notifications, advanced analytics, and social sharing—imagine what other amazing gadgets we can integrate!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636157" y="1213366"/>
            <a:ext cx="11358086" cy="538996"/>
          </a:xfrm>
          <a:prstGeom prst="rect">
            <a:avLst/>
          </a:prstGeom>
          <a:noFill/>
          <a:ln/>
        </p:spPr>
        <p:txBody>
          <a:bodyPr wrap="none" lIns="0" tIns="0" rIns="0" bIns="0" rtlCol="0" anchor="t"/>
          <a:lstStyle/>
          <a:p>
            <a:pPr algn="ctr" indent="0" marL="0">
              <a:lnSpc>
                <a:spcPts val="4200"/>
              </a:lnSpc>
              <a:buNone/>
            </a:pPr>
            <a:r>
              <a:rPr lang="en-US" sz="3350" dirty="0">
                <a:solidFill>
                  <a:srgbClr val="091C53"/>
                </a:solidFill>
                <a:latin typeface="Instrument Sans Semi Bold" pitchFamily="34" charset="0"/>
                <a:ea typeface="Instrument Sans Semi Bold" pitchFamily="34" charset="-122"/>
                <a:cs typeface="Instrument Sans Semi Bold" pitchFamily="34" charset="-120"/>
              </a:rPr>
              <a:t>Thank you for joining Doraemon's Tech Team Adventure!</a:t>
            </a:r>
            <a:endParaRPr lang="en-US" sz="3350" dirty="0"/>
          </a:p>
        </p:txBody>
      </p:sp>
      <p:sp>
        <p:nvSpPr>
          <p:cNvPr id="3" name="Text 1"/>
          <p:cNvSpPr/>
          <p:nvPr/>
        </p:nvSpPr>
        <p:spPr>
          <a:xfrm>
            <a:off x="603647" y="2097286"/>
            <a:ext cx="13423106" cy="689848"/>
          </a:xfrm>
          <a:prstGeom prst="rect">
            <a:avLst/>
          </a:prstGeom>
          <a:noFill/>
          <a:ln/>
        </p:spPr>
        <p:txBody>
          <a:bodyPr wrap="square" lIns="0" tIns="0" rIns="0" bIns="0" rtlCol="0" anchor="t"/>
          <a:lstStyle/>
          <a:p>
            <a:pPr algn="ctr" indent="0" marL="0">
              <a:lnSpc>
                <a:spcPts val="2700"/>
              </a:lnSpc>
              <a:buNone/>
            </a:pPr>
            <a:r>
              <a:rPr lang="en-US" sz="1650" dirty="0">
                <a:solidFill>
                  <a:srgbClr val="1E3063"/>
                </a:solidFill>
                <a:latin typeface="Instrument Sans Medium" pitchFamily="34" charset="0"/>
                <a:ea typeface="Instrument Sans Medium" pitchFamily="34" charset="-122"/>
                <a:cs typeface="Instrument Sans Medium" pitchFamily="34" charset="-120"/>
              </a:rPr>
              <a:t>Noby and friends are now happy to answer any questions about our incredible DoraBlog project. Get ready for some gadget-powered insights!</a:t>
            </a:r>
            <a:endParaRPr lang="en-US" sz="1650" dirty="0"/>
          </a:p>
        </p:txBody>
      </p:sp>
      <p:pic>
        <p:nvPicPr>
          <p:cNvPr id="4" name="Image 0" descr="preencoded.png">    </p:cNvPr>
          <p:cNvPicPr>
            <a:picLocks noChangeAspect="1"/>
          </p:cNvPicPr>
          <p:nvPr/>
        </p:nvPicPr>
        <p:blipFill>
          <a:blip r:embed="rId1"/>
          <a:stretch>
            <a:fillRect/>
          </a:stretch>
        </p:blipFill>
        <p:spPr>
          <a:xfrm>
            <a:off x="611148" y="3093958"/>
            <a:ext cx="3248620" cy="2069663"/>
          </a:xfrm>
          <a:prstGeom prst="rect">
            <a:avLst/>
          </a:prstGeom>
        </p:spPr>
      </p:pic>
      <p:pic>
        <p:nvPicPr>
          <p:cNvPr id="5" name="Image 1" descr="preencoded.png">    </p:cNvPr>
          <p:cNvPicPr>
            <a:picLocks noChangeAspect="1"/>
          </p:cNvPicPr>
          <p:nvPr/>
        </p:nvPicPr>
        <p:blipFill>
          <a:blip r:embed="rId2"/>
          <a:stretch>
            <a:fillRect/>
          </a:stretch>
        </p:blipFill>
        <p:spPr>
          <a:xfrm>
            <a:off x="3997643" y="3093958"/>
            <a:ext cx="3248620" cy="2069663"/>
          </a:xfrm>
          <a:prstGeom prst="rect">
            <a:avLst/>
          </a:prstGeom>
        </p:spPr>
      </p:pic>
      <p:pic>
        <p:nvPicPr>
          <p:cNvPr id="6" name="Image 2" descr="preencoded.png">    </p:cNvPr>
          <p:cNvPicPr>
            <a:picLocks noChangeAspect="1"/>
          </p:cNvPicPr>
          <p:nvPr/>
        </p:nvPicPr>
        <p:blipFill>
          <a:blip r:embed="rId3"/>
          <a:stretch>
            <a:fillRect/>
          </a:stretch>
        </p:blipFill>
        <p:spPr>
          <a:xfrm>
            <a:off x="7384137" y="3093958"/>
            <a:ext cx="3248620" cy="2069663"/>
          </a:xfrm>
          <a:prstGeom prst="rect">
            <a:avLst/>
          </a:prstGeom>
        </p:spPr>
      </p:pic>
      <p:pic>
        <p:nvPicPr>
          <p:cNvPr id="7" name="Image 3" descr="preencoded.png">    </p:cNvPr>
          <p:cNvPicPr>
            <a:picLocks noChangeAspect="1"/>
          </p:cNvPicPr>
          <p:nvPr/>
        </p:nvPicPr>
        <p:blipFill>
          <a:blip r:embed="rId4"/>
          <a:stretch>
            <a:fillRect/>
          </a:stretch>
        </p:blipFill>
        <p:spPr>
          <a:xfrm>
            <a:off x="10770632" y="3093958"/>
            <a:ext cx="3248620" cy="2069663"/>
          </a:xfrm>
          <a:prstGeom prst="rect">
            <a:avLst/>
          </a:prstGeom>
        </p:spPr>
      </p:pic>
      <p:sp>
        <p:nvSpPr>
          <p:cNvPr id="8" name="Shape 2"/>
          <p:cNvSpPr/>
          <p:nvPr/>
        </p:nvSpPr>
        <p:spPr>
          <a:xfrm>
            <a:off x="603647" y="5470446"/>
            <a:ext cx="13423106" cy="1545669"/>
          </a:xfrm>
          <a:prstGeom prst="roundRect">
            <a:avLst>
              <a:gd name="adj" fmla="val 10043"/>
            </a:avLst>
          </a:prstGeom>
          <a:solidFill>
            <a:srgbClr val="CEE6FD"/>
          </a:solidFill>
          <a:ln/>
        </p:spPr>
      </p:sp>
      <p:sp>
        <p:nvSpPr>
          <p:cNvPr id="9" name="Shape 3"/>
          <p:cNvSpPr/>
          <p:nvPr/>
        </p:nvSpPr>
        <p:spPr>
          <a:xfrm>
            <a:off x="603647" y="5470446"/>
            <a:ext cx="6711553" cy="1545669"/>
          </a:xfrm>
          <a:prstGeom prst="roundRect">
            <a:avLst>
              <a:gd name="adj" fmla="val 10043"/>
            </a:avLst>
          </a:prstGeom>
          <a:solidFill>
            <a:srgbClr val="CEE6FD"/>
          </a:solidFill>
          <a:ln/>
        </p:spPr>
      </p:sp>
      <p:sp>
        <p:nvSpPr>
          <p:cNvPr id="10" name="Text 4"/>
          <p:cNvSpPr/>
          <p:nvPr/>
        </p:nvSpPr>
        <p:spPr>
          <a:xfrm>
            <a:off x="776049" y="5642848"/>
            <a:ext cx="4755475" cy="269438"/>
          </a:xfrm>
          <a:prstGeom prst="rect">
            <a:avLst/>
          </a:prstGeom>
          <a:noFill/>
          <a:ln/>
        </p:spPr>
        <p:txBody>
          <a:bodyPr wrap="none" lIns="0" tIns="0" rIns="0" bIns="0" rtlCol="0" anchor="t"/>
          <a:lstStyle/>
          <a:p>
            <a:pPr algn="l" indent="0" marL="0">
              <a:lnSpc>
                <a:spcPts val="2100"/>
              </a:lnSpc>
              <a:buNone/>
            </a:pPr>
            <a:r>
              <a:rPr lang="en-US" sz="1650" dirty="0">
                <a:solidFill>
                  <a:srgbClr val="0066CC"/>
                </a:solidFill>
                <a:latin typeface="Instrument Sans Semi Bold" pitchFamily="34" charset="0"/>
                <a:ea typeface="Instrument Sans Semi Bold" pitchFamily="34" charset="-122"/>
                <a:cs typeface="Instrument Sans Semi Bold" pitchFamily="34" charset="-120"/>
              </a:rPr>
              <a:t>Gadget Blueprint Archives</a:t>
            </a:r>
            <a:pPr algn="l" indent="0" marL="0">
              <a:lnSpc>
                <a:spcPts val="2100"/>
              </a:lnSpc>
              <a:buNone/>
            </a:pPr>
            <a:r>
              <a:rPr lang="en-US" sz="1650" dirty="0">
                <a:solidFill>
                  <a:srgbClr val="1E3063"/>
                </a:solidFill>
                <a:latin typeface="Instrument Sans Semi Bold" pitchFamily="34" charset="0"/>
                <a:ea typeface="Instrument Sans Semi Bold" pitchFamily="34" charset="-122"/>
                <a:cs typeface="Instrument Sans Semi Bold" pitchFamily="34" charset="-120"/>
              </a:rPr>
              <a:t> (Project Repository)</a:t>
            </a:r>
            <a:endParaRPr lang="en-US" sz="1650" dirty="0"/>
          </a:p>
        </p:txBody>
      </p:sp>
      <p:sp>
        <p:nvSpPr>
          <p:cNvPr id="11" name="Text 5"/>
          <p:cNvSpPr/>
          <p:nvPr/>
        </p:nvSpPr>
        <p:spPr>
          <a:xfrm>
            <a:off x="776049" y="6015752"/>
            <a:ext cx="6366748" cy="582454"/>
          </a:xfrm>
          <a:prstGeom prst="rect">
            <a:avLst/>
          </a:prstGeom>
          <a:noFill/>
          <a:ln/>
        </p:spPr>
        <p:txBody>
          <a:bodyPr wrap="square" lIns="0" tIns="0" rIns="0" bIns="0" rtlCol="0" anchor="t"/>
          <a:lstStyle/>
          <a:p>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Our project's very own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Time Machine</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for version control: </a:t>
            </a:r>
            <a:pPr algn="l" indent="0" marL="0">
              <a:lnSpc>
                <a:spcPts val="2150"/>
              </a:lnSpc>
              <a:buNone/>
            </a:pPr>
            <a:r>
              <a:rPr lang="en-US" sz="1350" dirty="0">
                <a:solidFill>
                  <a:srgbClr val="1E3063"/>
                </a:solidFill>
                <a:highlight>
                  <a:srgbClr val="F2F2F2"/>
                </a:highlight>
                <a:latin typeface="Consolas" pitchFamily="34" charset="0"/>
                <a:ea typeface="Consolas" pitchFamily="34" charset="-122"/>
                <a:cs typeface="Consolas" pitchFamily="34" charset="-120"/>
              </a:rPr>
              <a:t>pgcit-final-project-Doraemon's Tech Team</a:t>
            </a:r>
            <a:endParaRPr lang="en-US" sz="1350" dirty="0"/>
          </a:p>
        </p:txBody>
      </p:sp>
      <p:sp>
        <p:nvSpPr>
          <p:cNvPr id="12" name="Shape 6"/>
          <p:cNvSpPr/>
          <p:nvPr/>
        </p:nvSpPr>
        <p:spPr>
          <a:xfrm>
            <a:off x="7315200" y="5470446"/>
            <a:ext cx="6711553" cy="1545669"/>
          </a:xfrm>
          <a:prstGeom prst="rect">
            <a:avLst/>
          </a:prstGeom>
          <a:solidFill>
            <a:srgbClr val="CEE6FD"/>
          </a:solidFill>
          <a:ln/>
        </p:spPr>
      </p:sp>
      <p:sp>
        <p:nvSpPr>
          <p:cNvPr id="13" name="Shape 7"/>
          <p:cNvSpPr/>
          <p:nvPr/>
        </p:nvSpPr>
        <p:spPr>
          <a:xfrm>
            <a:off x="7315200" y="5470446"/>
            <a:ext cx="22860" cy="1545669"/>
          </a:xfrm>
          <a:prstGeom prst="roundRect">
            <a:avLst>
              <a:gd name="adj" fmla="val 679036"/>
            </a:avLst>
          </a:prstGeom>
          <a:solidFill>
            <a:srgbClr val="B4CCE3"/>
          </a:solidFill>
          <a:ln/>
        </p:spPr>
      </p:sp>
      <p:sp>
        <p:nvSpPr>
          <p:cNvPr id="14" name="Text 8"/>
          <p:cNvSpPr/>
          <p:nvPr/>
        </p:nvSpPr>
        <p:spPr>
          <a:xfrm>
            <a:off x="7487602" y="5642848"/>
            <a:ext cx="4273391" cy="269438"/>
          </a:xfrm>
          <a:prstGeom prst="rect">
            <a:avLst/>
          </a:prstGeom>
          <a:noFill/>
          <a:ln/>
        </p:spPr>
        <p:txBody>
          <a:bodyPr wrap="none" lIns="0" tIns="0" rIns="0" bIns="0" rtlCol="0" anchor="t"/>
          <a:lstStyle/>
          <a:p>
            <a:pPr algn="l" indent="0" marL="0">
              <a:lnSpc>
                <a:spcPts val="2100"/>
              </a:lnSpc>
              <a:buNone/>
            </a:pPr>
            <a:r>
              <a:rPr lang="en-US" sz="1650" dirty="0">
                <a:solidFill>
                  <a:srgbClr val="0066CC"/>
                </a:solidFill>
                <a:latin typeface="Instrument Sans Semi Bold" pitchFamily="34" charset="0"/>
                <a:ea typeface="Instrument Sans Semi Bold" pitchFamily="34" charset="-122"/>
                <a:cs typeface="Instrument Sans Semi Bold" pitchFamily="34" charset="-120"/>
              </a:rPr>
              <a:t>Core Gadgets &amp; Tools</a:t>
            </a:r>
            <a:pPr algn="l" indent="0" marL="0">
              <a:lnSpc>
                <a:spcPts val="2100"/>
              </a:lnSpc>
              <a:buNone/>
            </a:pPr>
            <a:r>
              <a:rPr lang="en-US" sz="1650" dirty="0">
                <a:solidFill>
                  <a:srgbClr val="1E3063"/>
                </a:solidFill>
                <a:latin typeface="Instrument Sans Semi Bold" pitchFamily="34" charset="0"/>
                <a:ea typeface="Instrument Sans Semi Bold" pitchFamily="34" charset="-122"/>
                <a:cs typeface="Instrument Sans Semi Bold" pitchFamily="34" charset="-120"/>
              </a:rPr>
              <a:t> (Core Technologies)</a:t>
            </a:r>
            <a:endParaRPr lang="en-US" sz="1650" dirty="0"/>
          </a:p>
        </p:txBody>
      </p:sp>
      <p:sp>
        <p:nvSpPr>
          <p:cNvPr id="15" name="Text 9"/>
          <p:cNvSpPr/>
          <p:nvPr/>
        </p:nvSpPr>
        <p:spPr>
          <a:xfrm>
            <a:off x="7487602" y="6015752"/>
            <a:ext cx="6366748" cy="827961"/>
          </a:xfrm>
          <a:prstGeom prst="rect">
            <a:avLst/>
          </a:prstGeom>
          <a:noFill/>
          <a:ln/>
        </p:spPr>
        <p:txBody>
          <a:bodyPr wrap="square" lIns="0" tIns="0" rIns="0" bIns="0" rtlCol="0" anchor="t"/>
          <a:lstStyle/>
          <a:p>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SvelteKit</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(our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Anywhere Door</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for the frontend) •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Node.js/Express</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(our backend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Hopter</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SQLite</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(our data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Memory Bread</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JWT</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(our secure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Invisible Cape</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Java Swing</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 (our handy admin </a:t>
            </a:r>
            <a:pPr algn="l" indent="0" marL="0">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Big Light</a:t>
            </a:r>
            <a:pPr algn="l" indent="0" marL="0">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2025-11-04T03:04:40Z</dcterms:created>
  <dcterms:modified xsi:type="dcterms:W3CDTF">2025-11-04T03:04:40Z</dcterms:modified>
</cp:coreProperties>
</file>