
<file path=[Content_Types].xml><?xml version="1.0" encoding="utf-8"?>
<Types xmlns="http://schemas.openxmlformats.org/package/2006/content-types">
  <Default Extension="fntdata" ContentType="application/x-fontdata"/>
  <Default Extension="GIF" ContentType="image/gif"/>
  <Default Extension="jpg" ContentType="image/jpeg"/>
  <Default Extension="png" ContentType="image/png"/>
  <Default Extension="rels" ContentType="application/vnd.openxmlformats-package.relationships+xml"/>
  <Default Extension="svg" ContentType="image/svg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Relationship Id="rId4" Type="http://schemas.openxmlformats.org/officeDocument/2006/relationships/custom-properties" Target="docProps/custom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embedTrueTypeFonts="1" saveSubsetFonts="1" autoCompressPictures="0">
  <p:sldMasterIdLst>
    <p:sldMasterId id="2147483648" r:id="rId1"/>
  </p:sldMasterIdLst>
  <p:notesMasterIdLst>
    <p:notesMasterId r:id="rId12"/>
  </p:notes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</p:sldIdLst>
  <p:sldSz cx="14630400" cy="8229600"/>
  <p:notesSz cx="8229600" cy="14630400"/>
  <p:embeddedFontLst>
    <p:embeddedFont>
      <p:font typeface="Consolas" panose="020B0609020204030204" pitchFamily="49" charset="0"/>
      <p:regular r:id="rId13"/>
      <p:bold r:id="rId14"/>
      <p:italic r:id="rId15"/>
      <p:boldItalic r:id="rId16"/>
    </p:embeddedFont>
    <p:embeddedFont>
      <p:font typeface="Nunito Semi Bold" panose="02010600030101010101" charset="0"/>
      <p:regular r:id="rId17"/>
    </p:embeddedFont>
    <p:embeddedFont>
      <p:font typeface="PT Sans" panose="020B0503020203020204" pitchFamily="34" charset="0"/>
      <p:regular r:id="rId18"/>
    </p:embeddedFont>
  </p:embeddedFontLst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68" d="100"/>
          <a:sy n="68" d="100"/>
        </p:scale>
        <p:origin x="715" y="77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font" Target="fonts/font1.fntdata"/><Relationship Id="rId18" Type="http://schemas.openxmlformats.org/officeDocument/2006/relationships/font" Target="fonts/font6.fntdata"/><Relationship Id="rId3" Type="http://schemas.openxmlformats.org/officeDocument/2006/relationships/slide" Target="slides/slide2.xml"/><Relationship Id="rId21" Type="http://schemas.openxmlformats.org/officeDocument/2006/relationships/theme" Target="theme/theme1.xml"/><Relationship Id="rId7" Type="http://schemas.openxmlformats.org/officeDocument/2006/relationships/slide" Target="slides/slide6.xml"/><Relationship Id="rId12" Type="http://schemas.openxmlformats.org/officeDocument/2006/relationships/notesMaster" Target="notesMasters/notesMaster1.xml"/><Relationship Id="rId17" Type="http://schemas.openxmlformats.org/officeDocument/2006/relationships/font" Target="fonts/font5.fntdata"/><Relationship Id="rId2" Type="http://schemas.openxmlformats.org/officeDocument/2006/relationships/slide" Target="slides/slide1.xml"/><Relationship Id="rId16" Type="http://schemas.openxmlformats.org/officeDocument/2006/relationships/font" Target="fonts/font4.fntdata"/><Relationship Id="rId20" Type="http://schemas.openxmlformats.org/officeDocument/2006/relationships/viewProps" Target="viewProp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font" Target="fonts/font3.fntdata"/><Relationship Id="rId10" Type="http://schemas.openxmlformats.org/officeDocument/2006/relationships/slide" Target="slides/slide9.xml"/><Relationship Id="rId19" Type="http://schemas.openxmlformats.org/officeDocument/2006/relationships/presProps" Target="presProps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font" Target="fonts/font2.fntdata"/><Relationship Id="rId22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11/6/2025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Team leader&amp;architecture: Leo Mo-yung
UI &amp; developer: Yushun Shi
Developer&amp;test: Xuan Zeng
Developer&amp;test: Zhongwei Zhang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3" Type="http://schemas.openxmlformats.org/officeDocument/2006/relationships/hyperlink" Target="https://gamma.app/?utm_source=made-with-gamma" TargetMode="External"/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Relationship Id="rId4" Type="http://schemas.openxmlformats.org/officeDocument/2006/relationships/image" Target="../media/image2.png"/></Relationships>
</file>

<file path=ppt/slideLayouts/_rels/slideLayout3.xml.rels><?xml version="1.0" encoding="UTF-8" standalone="yes"?>
<Relationships xmlns="http://schemas.openxmlformats.org/package/2006/relationships"><Relationship Id="rId3" Type="http://schemas.openxmlformats.org/officeDocument/2006/relationships/hyperlink" Target="https://gamma.app/?utm_source=made-with-gamma" TargetMode="External"/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Relationship Id="rId4" Type="http://schemas.openxmlformats.org/officeDocument/2006/relationships/image" Target="../media/image2.png"/></Relationships>
</file>

<file path=ppt/slideLayouts/_rels/slideLayout4.xml.rels><?xml version="1.0" encoding="UTF-8" standalone="yes"?>
<Relationships xmlns="http://schemas.openxmlformats.org/package/2006/relationships"><Relationship Id="rId3" Type="http://schemas.openxmlformats.org/officeDocument/2006/relationships/hyperlink" Target="https://gamma.app/?utm_source=made-with-gamma" TargetMode="External"/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Relationship Id="rId4" Type="http://schemas.openxmlformats.org/officeDocument/2006/relationships/image" Target="../media/image2.png"/></Relationships>
</file>

<file path=ppt/slideLayouts/_rels/slideLayout5.xml.rels><?xml version="1.0" encoding="UTF-8" standalone="yes"?>
<Relationships xmlns="http://schemas.openxmlformats.org/package/2006/relationships"><Relationship Id="rId3" Type="http://schemas.openxmlformats.org/officeDocument/2006/relationships/hyperlink" Target="https://gamma.app/?utm_source=made-with-gamma" TargetMode="External"/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Relationship Id="rId4" Type="http://schemas.openxmlformats.org/officeDocument/2006/relationships/image" Target="../media/image2.png"/></Relationships>
</file>

<file path=ppt/slideLayouts/_rels/slideLayout6.xml.rels><?xml version="1.0" encoding="UTF-8" standalone="yes"?>
<Relationships xmlns="http://schemas.openxmlformats.org/package/2006/relationships"><Relationship Id="rId3" Type="http://schemas.openxmlformats.org/officeDocument/2006/relationships/hyperlink" Target="https://gamma.app/?utm_source=made-with-gamma" TargetMode="External"/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Relationship Id="rId4" Type="http://schemas.openxmlformats.org/officeDocument/2006/relationships/image" Target="../media/image2.png"/></Relationships>
</file>

<file path=ppt/slideLayouts/_rels/slideLayout7.xml.rels><?xml version="1.0" encoding="UTF-8" standalone="yes"?>
<Relationships xmlns="http://schemas.openxmlformats.org/package/2006/relationships"><Relationship Id="rId3" Type="http://schemas.openxmlformats.org/officeDocument/2006/relationships/hyperlink" Target="https://gamma.app/?utm_source=made-with-gamma" TargetMode="External"/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Relationship Id="rId4" Type="http://schemas.openxmlformats.org/officeDocument/2006/relationships/image" Target="../media/image2.png"/></Relationships>
</file>

<file path=ppt/slideLayouts/_rels/slideLayout8.xml.rels><?xml version="1.0" encoding="UTF-8" standalone="yes"?>
<Relationships xmlns="http://schemas.openxmlformats.org/package/2006/relationships"><Relationship Id="rId3" Type="http://schemas.openxmlformats.org/officeDocument/2006/relationships/hyperlink" Target="https://gamma.app/?utm_source=made-with-gamma" TargetMode="External"/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Relationship Id="rId4" Type="http://schemas.openxmlformats.org/officeDocument/2006/relationships/image" Target="../media/image2.png"/></Relationships>
</file>

<file path=ppt/slideLayouts/_rels/slideLayout9.xml.rels><?xml version="1.0" encoding="UTF-8" standalone="yes"?>
<Relationships xmlns="http://schemas.openxmlformats.org/package/2006/relationships"><Relationship Id="rId3" Type="http://schemas.openxmlformats.org/officeDocument/2006/relationships/hyperlink" Target="https://gamma.app/?utm_source=made-with-gamma" TargetMode="External"/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Relationship Id="rId4" Type="http://schemas.openxmlformats.org/officeDocument/2006/relationships/image" Target="../media/image2.png"/></Relationships>
</file>

<file path=ppt/slideLayouts/_rels/slideLayout10.xml.rels><?xml version="1.0" encoding="UTF-8" standalone="yes"?>
<Relationships xmlns="http://schemas.openxmlformats.org/package/2006/relationships"><Relationship Id="rId3" Type="http://schemas.openxmlformats.org/officeDocument/2006/relationships/hyperlink" Target="https://gamma.app/?utm_source=made-with-gamma" TargetMode="External"/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Relationship Id="rId4" Type="http://schemas.openxmlformats.org/officeDocument/2006/relationships/image" Target="../media/image2.png"/></Relationships>
</file>

<file path=ppt/slideLayouts/_rels/slideLayout11.xml.rels><?xml version="1.0" encoding="UTF-8" standalone="yes"?>
<Relationships xmlns="http://schemas.openxmlformats.org/package/2006/relationships"><Relationship Id="rId3" Type="http://schemas.openxmlformats.org/officeDocument/2006/relationships/hyperlink" Target="https://gamma.app/?utm_source=made-with-gamma" TargetMode="External"/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Relationship Id="rId4" Type="http://schemas.openxmlformats.org/officeDocument/2006/relationships/image" Target="../media/image2.png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Slide 1 mast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4630400" cy="8229600"/>
          </a:xfrm>
          <a:prstGeom prst="rect">
            <a:avLst/>
          </a:prstGeom>
        </p:spPr>
      </p:pic>
      <p:sp>
        <p:nvSpPr>
          <p:cNvPr id="3" name="Shape 0"/>
          <p:cNvSpPr/>
          <p:nvPr/>
        </p:nvSpPr>
        <p:spPr>
          <a:xfrm>
            <a:off x="0" y="0"/>
            <a:ext cx="14630400" cy="8229600"/>
          </a:xfrm>
          <a:prstGeom prst="rect">
            <a:avLst/>
          </a:prstGeom>
          <a:solidFill>
            <a:srgbClr val="F3F3FF">
              <a:alpha val="75000"/>
            </a:srgbClr>
          </a:solidFill>
        </p:spPr>
      </p:sp>
      <p:pic>
        <p:nvPicPr>
          <p:cNvPr id="4" name="Image 1" descr="preencoded.png">
            <a:hlinkClick r:id="rId3"/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2839215" y="7749540"/>
            <a:ext cx="1722605" cy="411480"/>
          </a:xfrm>
          <a:prstGeom prst="rect">
            <a:avLst/>
          </a:prstGeom>
        </p:spPr>
      </p:pic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Slide 2 mast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4630400" cy="8229600"/>
          </a:xfrm>
          <a:prstGeom prst="rect">
            <a:avLst/>
          </a:prstGeom>
        </p:spPr>
      </p:pic>
      <p:sp>
        <p:nvSpPr>
          <p:cNvPr id="3" name="Shape 0"/>
          <p:cNvSpPr/>
          <p:nvPr/>
        </p:nvSpPr>
        <p:spPr>
          <a:xfrm>
            <a:off x="0" y="0"/>
            <a:ext cx="14630400" cy="8229600"/>
          </a:xfrm>
          <a:prstGeom prst="rect">
            <a:avLst/>
          </a:prstGeom>
          <a:solidFill>
            <a:srgbClr val="F3F3FF">
              <a:alpha val="75000"/>
            </a:srgbClr>
          </a:solidFill>
        </p:spPr>
      </p:sp>
      <p:pic>
        <p:nvPicPr>
          <p:cNvPr id="4" name="Image 1" descr="preencoded.png">
            <a:hlinkClick r:id="rId3"/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2839215" y="7749540"/>
            <a:ext cx="1722605" cy="411480"/>
          </a:xfrm>
          <a:prstGeom prst="rect">
            <a:avLst/>
          </a:prstGeom>
        </p:spPr>
      </p:pic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Slide 3 mast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4630400" cy="8229600"/>
          </a:xfrm>
          <a:prstGeom prst="rect">
            <a:avLst/>
          </a:prstGeom>
        </p:spPr>
      </p:pic>
      <p:sp>
        <p:nvSpPr>
          <p:cNvPr id="3" name="Shape 0"/>
          <p:cNvSpPr/>
          <p:nvPr/>
        </p:nvSpPr>
        <p:spPr>
          <a:xfrm>
            <a:off x="0" y="0"/>
            <a:ext cx="14630400" cy="8229600"/>
          </a:xfrm>
          <a:prstGeom prst="rect">
            <a:avLst/>
          </a:prstGeom>
          <a:solidFill>
            <a:srgbClr val="F3F3FF">
              <a:alpha val="75000"/>
            </a:srgbClr>
          </a:solidFill>
        </p:spPr>
      </p:sp>
      <p:pic>
        <p:nvPicPr>
          <p:cNvPr id="4" name="Image 1" descr="preencoded.png">
            <a:hlinkClick r:id="rId3"/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2839215" y="7749540"/>
            <a:ext cx="1722605" cy="411480"/>
          </a:xfrm>
          <a:prstGeom prst="rect">
            <a:avLst/>
          </a:prstGeom>
        </p:spPr>
      </p:pic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Slide 4 mast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4630400" cy="8229600"/>
          </a:xfrm>
          <a:prstGeom prst="rect">
            <a:avLst/>
          </a:prstGeom>
        </p:spPr>
      </p:pic>
      <p:sp>
        <p:nvSpPr>
          <p:cNvPr id="3" name="Shape 0"/>
          <p:cNvSpPr/>
          <p:nvPr/>
        </p:nvSpPr>
        <p:spPr>
          <a:xfrm>
            <a:off x="0" y="0"/>
            <a:ext cx="14630400" cy="8229600"/>
          </a:xfrm>
          <a:prstGeom prst="rect">
            <a:avLst/>
          </a:prstGeom>
          <a:solidFill>
            <a:srgbClr val="F3F3FF">
              <a:alpha val="75000"/>
            </a:srgbClr>
          </a:solidFill>
        </p:spPr>
      </p:sp>
      <p:pic>
        <p:nvPicPr>
          <p:cNvPr id="4" name="Image 1" descr="preencoded.png">
            <a:hlinkClick r:id="rId3"/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2839215" y="7749540"/>
            <a:ext cx="1722605" cy="411480"/>
          </a:xfrm>
          <a:prstGeom prst="rect">
            <a:avLst/>
          </a:prstGeom>
        </p:spPr>
      </p:pic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Slide 5 mast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4630400" cy="8229600"/>
          </a:xfrm>
          <a:prstGeom prst="rect">
            <a:avLst/>
          </a:prstGeom>
        </p:spPr>
      </p:pic>
      <p:sp>
        <p:nvSpPr>
          <p:cNvPr id="3" name="Shape 0"/>
          <p:cNvSpPr/>
          <p:nvPr/>
        </p:nvSpPr>
        <p:spPr>
          <a:xfrm>
            <a:off x="0" y="0"/>
            <a:ext cx="14630400" cy="8229600"/>
          </a:xfrm>
          <a:prstGeom prst="rect">
            <a:avLst/>
          </a:prstGeom>
          <a:solidFill>
            <a:srgbClr val="F3F3FF">
              <a:alpha val="75000"/>
            </a:srgbClr>
          </a:solidFill>
        </p:spPr>
      </p:sp>
      <p:pic>
        <p:nvPicPr>
          <p:cNvPr id="4" name="Image 1" descr="preencoded.png">
            <a:hlinkClick r:id="rId3"/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2839215" y="7749540"/>
            <a:ext cx="1722605" cy="411480"/>
          </a:xfrm>
          <a:prstGeom prst="rect">
            <a:avLst/>
          </a:prstGeom>
        </p:spPr>
      </p:pic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Slide 6 mast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4630400" cy="8229600"/>
          </a:xfrm>
          <a:prstGeom prst="rect">
            <a:avLst/>
          </a:prstGeom>
        </p:spPr>
      </p:pic>
      <p:sp>
        <p:nvSpPr>
          <p:cNvPr id="3" name="Shape 0"/>
          <p:cNvSpPr/>
          <p:nvPr/>
        </p:nvSpPr>
        <p:spPr>
          <a:xfrm>
            <a:off x="0" y="0"/>
            <a:ext cx="14630400" cy="8229600"/>
          </a:xfrm>
          <a:prstGeom prst="rect">
            <a:avLst/>
          </a:prstGeom>
          <a:solidFill>
            <a:srgbClr val="F3F3FF">
              <a:alpha val="75000"/>
            </a:srgbClr>
          </a:solidFill>
        </p:spPr>
      </p:sp>
      <p:pic>
        <p:nvPicPr>
          <p:cNvPr id="4" name="Image 1" descr="preencoded.png">
            <a:hlinkClick r:id="rId3"/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2839215" y="7749540"/>
            <a:ext cx="1722605" cy="411480"/>
          </a:xfrm>
          <a:prstGeom prst="rect">
            <a:avLst/>
          </a:prstGeom>
        </p:spPr>
      </p:pic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Slide 7 mast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4630400" cy="8229600"/>
          </a:xfrm>
          <a:prstGeom prst="rect">
            <a:avLst/>
          </a:prstGeom>
        </p:spPr>
      </p:pic>
      <p:sp>
        <p:nvSpPr>
          <p:cNvPr id="3" name="Shape 0"/>
          <p:cNvSpPr/>
          <p:nvPr/>
        </p:nvSpPr>
        <p:spPr>
          <a:xfrm>
            <a:off x="0" y="0"/>
            <a:ext cx="14630400" cy="8229600"/>
          </a:xfrm>
          <a:prstGeom prst="rect">
            <a:avLst/>
          </a:prstGeom>
          <a:solidFill>
            <a:srgbClr val="F3F3FF">
              <a:alpha val="75000"/>
            </a:srgbClr>
          </a:solidFill>
        </p:spPr>
      </p:sp>
      <p:pic>
        <p:nvPicPr>
          <p:cNvPr id="4" name="Image 1" descr="preencoded.png">
            <a:hlinkClick r:id="rId3"/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2839215" y="7749540"/>
            <a:ext cx="1722605" cy="411480"/>
          </a:xfrm>
          <a:prstGeom prst="rect">
            <a:avLst/>
          </a:prstGeom>
        </p:spPr>
      </p:pic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Slide 8 mast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4630400" cy="8229600"/>
          </a:xfrm>
          <a:prstGeom prst="rect">
            <a:avLst/>
          </a:prstGeom>
        </p:spPr>
      </p:pic>
      <p:sp>
        <p:nvSpPr>
          <p:cNvPr id="3" name="Shape 0"/>
          <p:cNvSpPr/>
          <p:nvPr/>
        </p:nvSpPr>
        <p:spPr>
          <a:xfrm>
            <a:off x="0" y="0"/>
            <a:ext cx="14630400" cy="8229600"/>
          </a:xfrm>
          <a:prstGeom prst="rect">
            <a:avLst/>
          </a:prstGeom>
          <a:solidFill>
            <a:srgbClr val="F3F3FF">
              <a:alpha val="75000"/>
            </a:srgbClr>
          </a:solidFill>
        </p:spPr>
      </p:sp>
      <p:pic>
        <p:nvPicPr>
          <p:cNvPr id="4" name="Image 1" descr="preencoded.png">
            <a:hlinkClick r:id="rId3"/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2839215" y="7749540"/>
            <a:ext cx="1722605" cy="411480"/>
          </a:xfrm>
          <a:prstGeom prst="rect">
            <a:avLst/>
          </a:prstGeom>
        </p:spPr>
      </p:pic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Slide 9 mast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4630400" cy="8229600"/>
          </a:xfrm>
          <a:prstGeom prst="rect">
            <a:avLst/>
          </a:prstGeom>
        </p:spPr>
      </p:pic>
      <p:sp>
        <p:nvSpPr>
          <p:cNvPr id="3" name="Shape 0"/>
          <p:cNvSpPr/>
          <p:nvPr/>
        </p:nvSpPr>
        <p:spPr>
          <a:xfrm>
            <a:off x="0" y="0"/>
            <a:ext cx="14630400" cy="8229600"/>
          </a:xfrm>
          <a:prstGeom prst="rect">
            <a:avLst/>
          </a:prstGeom>
          <a:solidFill>
            <a:srgbClr val="F3F3FF">
              <a:alpha val="75000"/>
            </a:srgbClr>
          </a:solidFill>
        </p:spPr>
      </p:sp>
      <p:pic>
        <p:nvPicPr>
          <p:cNvPr id="4" name="Image 1" descr="preencoded.png">
            <a:hlinkClick r:id="rId3"/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2839215" y="7749540"/>
            <a:ext cx="1722605" cy="411480"/>
          </a:xfrm>
          <a:prstGeom prst="rect">
            <a:avLst/>
          </a:prstGeom>
        </p:spPr>
      </p:pic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Slide 10 mast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4630400" cy="8229600"/>
          </a:xfrm>
          <a:prstGeom prst="rect">
            <a:avLst/>
          </a:prstGeom>
        </p:spPr>
      </p:pic>
      <p:sp>
        <p:nvSpPr>
          <p:cNvPr id="3" name="Shape 0"/>
          <p:cNvSpPr/>
          <p:nvPr/>
        </p:nvSpPr>
        <p:spPr>
          <a:xfrm>
            <a:off x="0" y="0"/>
            <a:ext cx="14630400" cy="8229600"/>
          </a:xfrm>
          <a:prstGeom prst="rect">
            <a:avLst/>
          </a:prstGeom>
          <a:solidFill>
            <a:srgbClr val="F3F3FF">
              <a:alpha val="75000"/>
            </a:srgbClr>
          </a:solidFill>
        </p:spPr>
      </p:sp>
      <p:pic>
        <p:nvPicPr>
          <p:cNvPr id="4" name="Image 1" descr="preencoded.png">
            <a:hlinkClick r:id="rId3"/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2839215" y="7749540"/>
            <a:ext cx="1722605" cy="411480"/>
          </a:xfrm>
          <a:prstGeom prst="rect">
            <a:avLst/>
          </a:prstGeom>
        </p:spPr>
      </p:pic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9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9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9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9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9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9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9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9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9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jp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2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3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4.xml"/></Relationships>
</file>

<file path=ppt/slides/_rels/slide4.xml.rels><?xml version="1.0" encoding="UTF-8" standalone="yes"?>
<Relationships xmlns="http://schemas.openxmlformats.org/package/2006/relationships"><Relationship Id="rId8" Type="http://schemas.openxmlformats.org/officeDocument/2006/relationships/image" Target="../media/image11.svg"/><Relationship Id="rId3" Type="http://schemas.openxmlformats.org/officeDocument/2006/relationships/image" Target="../media/image6.png"/><Relationship Id="rId7" Type="http://schemas.openxmlformats.org/officeDocument/2006/relationships/image" Target="../media/image10.png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5.xml"/><Relationship Id="rId6" Type="http://schemas.openxmlformats.org/officeDocument/2006/relationships/image" Target="../media/image9.svg"/><Relationship Id="rId11" Type="http://schemas.openxmlformats.org/officeDocument/2006/relationships/image" Target="../media/image14.png"/><Relationship Id="rId5" Type="http://schemas.openxmlformats.org/officeDocument/2006/relationships/image" Target="../media/image8.png"/><Relationship Id="rId10" Type="http://schemas.openxmlformats.org/officeDocument/2006/relationships/image" Target="../media/image13.svg"/><Relationship Id="rId4" Type="http://schemas.openxmlformats.org/officeDocument/2006/relationships/image" Target="../media/image7.svg"/><Relationship Id="rId9" Type="http://schemas.openxmlformats.org/officeDocument/2006/relationships/image" Target="../media/image12.png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5.GIF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6.xm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16.png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7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8.xml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17.png"/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9.xml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18.png"/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10.xml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19.png"/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11.xml"/><Relationship Id="rId6" Type="http://schemas.openxmlformats.org/officeDocument/2006/relationships/image" Target="../media/image22.png"/><Relationship Id="rId5" Type="http://schemas.openxmlformats.org/officeDocument/2006/relationships/image" Target="../media/image21.png"/><Relationship Id="rId4" Type="http://schemas.openxmlformats.org/officeDocument/2006/relationships/image" Target="../media/image20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/>
          <p:cNvPicPr>
            <a:picLocks noChangeAspect="1"/>
          </p:cNvPicPr>
          <p:nvPr/>
        </p:nvPicPr>
        <p:blipFill>
          <a:blip r:embed="rId3"/>
          <a:srcRect t="15227"/>
          <a:stretch>
            <a:fillRect/>
          </a:stretch>
        </p:blipFill>
        <p:spPr>
          <a:xfrm>
            <a:off x="10005631" y="0"/>
            <a:ext cx="4624769" cy="8228349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837724" y="2482929"/>
            <a:ext cx="7468553" cy="2816066"/>
          </a:xfrm>
          <a:prstGeom prst="rect">
            <a:avLst/>
          </a:prstGeom>
          <a:noFill/>
        </p:spPr>
        <p:txBody>
          <a:bodyPr wrap="square" lIns="0" tIns="0" rIns="0" bIns="0" rtlCol="0" anchor="t"/>
          <a:lstStyle/>
          <a:p>
            <a:pPr marL="0" indent="0" algn="l">
              <a:lnSpc>
                <a:spcPts val="5500"/>
              </a:lnSpc>
              <a:buNone/>
            </a:pPr>
            <a:r>
              <a:rPr lang="en-US" sz="4400" dirty="0">
                <a:solidFill>
                  <a:srgbClr val="00002E"/>
                </a:solidFill>
                <a:latin typeface="Nunito Semi Bold" pitchFamily="34" charset="0"/>
                <a:ea typeface="Nunito Semi Bold" pitchFamily="34" charset="-122"/>
                <a:cs typeface="Nunito Semi Bold" pitchFamily="34" charset="-120"/>
              </a:rPr>
              <a:t>DoraBlog: Unleashing Gadget-Powered Storytelling - Final Project Presentation</a:t>
            </a:r>
            <a:endParaRPr lang="en-US" sz="4400" dirty="0"/>
          </a:p>
        </p:txBody>
      </p:sp>
      <p:sp>
        <p:nvSpPr>
          <p:cNvPr id="4" name="Text 1"/>
          <p:cNvSpPr/>
          <p:nvPr/>
        </p:nvSpPr>
        <p:spPr>
          <a:xfrm>
            <a:off x="837724" y="5394722"/>
            <a:ext cx="4281964" cy="351949"/>
          </a:xfrm>
          <a:prstGeom prst="rect">
            <a:avLst/>
          </a:prstGeom>
          <a:noFill/>
        </p:spPr>
        <p:txBody>
          <a:bodyPr wrap="none" lIns="0" tIns="0" rIns="0" bIns="0" rtlCol="0" anchor="t"/>
          <a:lstStyle/>
          <a:p>
            <a:pPr marL="0" indent="0" algn="l">
              <a:lnSpc>
                <a:spcPts val="2750"/>
              </a:lnSpc>
              <a:buNone/>
            </a:pPr>
            <a:r>
              <a:rPr lang="en-US" sz="2200" dirty="0">
                <a:solidFill>
                  <a:srgbClr val="00002E"/>
                </a:solidFill>
                <a:latin typeface="Nunito Semi Bold" pitchFamily="34" charset="0"/>
                <a:ea typeface="Nunito Semi Bold" pitchFamily="34" charset="-122"/>
                <a:cs typeface="Nunito Semi Bold" pitchFamily="34" charset="-120"/>
              </a:rPr>
              <a:t>Presented by Team Blue Cat Four</a:t>
            </a:r>
            <a:endParaRPr lang="en-US" sz="2200" dirty="0"/>
          </a:p>
        </p:txBody>
      </p:sp>
    </p:spTree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med" p14:dur="700">
        <p:fade/>
      </p:transition>
    </mc:Choice>
    <mc:Fallback>
      <p:transition spd="med">
        <p:fade/>
      </p:transition>
    </mc:Fallback>
  </mc:AlternateContent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/>
          <p:cNvPicPr>
            <a:picLocks noChangeAspect="1"/>
          </p:cNvPicPr>
          <p:nvPr/>
        </p:nvPicPr>
        <p:blipFill>
          <a:blip r:embed="rId3"/>
          <a:srcRect/>
          <a:stretch/>
        </p:blipFill>
        <p:spPr>
          <a:xfrm>
            <a:off x="7017585" y="575734"/>
            <a:ext cx="7612816" cy="7612816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837724" y="2413397"/>
            <a:ext cx="5632490" cy="704017"/>
          </a:xfrm>
          <a:prstGeom prst="rect">
            <a:avLst/>
          </a:prstGeom>
          <a:noFill/>
        </p:spPr>
        <p:txBody>
          <a:bodyPr wrap="none" lIns="0" tIns="0" rIns="0" bIns="0" rtlCol="0" anchor="t"/>
          <a:lstStyle/>
          <a:p>
            <a:pPr marL="0" indent="0" algn="l">
              <a:lnSpc>
                <a:spcPts val="5500"/>
              </a:lnSpc>
              <a:buNone/>
            </a:pPr>
            <a:r>
              <a:rPr lang="en-US" sz="4400" dirty="0">
                <a:solidFill>
                  <a:srgbClr val="00002E"/>
                </a:solidFill>
                <a:latin typeface="Nunito Semi Bold" pitchFamily="34" charset="0"/>
                <a:ea typeface="Nunito Semi Bold" pitchFamily="34" charset="-122"/>
                <a:cs typeface="Nunito Semi Bold" pitchFamily="34" charset="-120"/>
              </a:rPr>
              <a:t>Team members</a:t>
            </a:r>
            <a:endParaRPr lang="en-US" sz="4400" dirty="0"/>
          </a:p>
        </p:txBody>
      </p:sp>
      <p:sp>
        <p:nvSpPr>
          <p:cNvPr id="4" name="Text 1"/>
          <p:cNvSpPr/>
          <p:nvPr/>
        </p:nvSpPr>
        <p:spPr>
          <a:xfrm>
            <a:off x="837724" y="3476387"/>
            <a:ext cx="7468553" cy="383024"/>
          </a:xfrm>
          <a:prstGeom prst="rect">
            <a:avLst/>
          </a:prstGeom>
          <a:noFill/>
        </p:spPr>
        <p:txBody>
          <a:bodyPr wrap="none" lIns="0" tIns="0" rIns="0" bIns="0" rtlCol="0" anchor="t"/>
          <a:lstStyle/>
          <a:p>
            <a:pPr marL="0" indent="0" algn="l">
              <a:lnSpc>
                <a:spcPts val="3000"/>
              </a:lnSpc>
              <a:buNone/>
            </a:pPr>
            <a:r>
              <a:rPr lang="en-US" sz="1850" dirty="0">
                <a:solidFill>
                  <a:srgbClr val="00002E"/>
                </a:solidFill>
                <a:latin typeface="PT Sans" panose="020B0503020203020204" pitchFamily="34" charset="0"/>
                <a:ea typeface="PT Sans" panose="020B0503020203020204" pitchFamily="34" charset="-122"/>
                <a:cs typeface="PT Sans" panose="020B0503020203020204" pitchFamily="34" charset="-120"/>
              </a:rPr>
              <a:t>Team leader &amp; architecture: Leo Mo-yung</a:t>
            </a:r>
            <a:endParaRPr lang="en-US" sz="1850" dirty="0"/>
          </a:p>
        </p:txBody>
      </p:sp>
      <p:sp>
        <p:nvSpPr>
          <p:cNvPr id="5" name="Text 2"/>
          <p:cNvSpPr/>
          <p:nvPr/>
        </p:nvSpPr>
        <p:spPr>
          <a:xfrm>
            <a:off x="837724" y="4128611"/>
            <a:ext cx="7468553" cy="383024"/>
          </a:xfrm>
          <a:prstGeom prst="rect">
            <a:avLst/>
          </a:prstGeom>
          <a:noFill/>
        </p:spPr>
        <p:txBody>
          <a:bodyPr wrap="none" lIns="0" tIns="0" rIns="0" bIns="0" rtlCol="0" anchor="t"/>
          <a:lstStyle/>
          <a:p>
            <a:pPr marL="0" indent="0" algn="l">
              <a:lnSpc>
                <a:spcPts val="3000"/>
              </a:lnSpc>
              <a:buNone/>
            </a:pPr>
            <a:r>
              <a:rPr lang="en-US" sz="1850" dirty="0">
                <a:solidFill>
                  <a:srgbClr val="00002E"/>
                </a:solidFill>
                <a:latin typeface="PT Sans" panose="020B0503020203020204" pitchFamily="34" charset="0"/>
                <a:ea typeface="PT Sans" panose="020B0503020203020204" pitchFamily="34" charset="-122"/>
                <a:cs typeface="PT Sans" panose="020B0503020203020204" pitchFamily="34" charset="-120"/>
              </a:rPr>
              <a:t>UI &amp; developer: Yushun Shi</a:t>
            </a:r>
            <a:endParaRPr lang="en-US" sz="1850" dirty="0"/>
          </a:p>
        </p:txBody>
      </p:sp>
      <p:sp>
        <p:nvSpPr>
          <p:cNvPr id="6" name="Text 3"/>
          <p:cNvSpPr/>
          <p:nvPr/>
        </p:nvSpPr>
        <p:spPr>
          <a:xfrm>
            <a:off x="837724" y="4780836"/>
            <a:ext cx="7468553" cy="383024"/>
          </a:xfrm>
          <a:prstGeom prst="rect">
            <a:avLst/>
          </a:prstGeom>
          <a:noFill/>
        </p:spPr>
        <p:txBody>
          <a:bodyPr wrap="none" lIns="0" tIns="0" rIns="0" bIns="0" rtlCol="0" anchor="t"/>
          <a:lstStyle/>
          <a:p>
            <a:pPr marL="0" indent="0" algn="l">
              <a:lnSpc>
                <a:spcPts val="3000"/>
              </a:lnSpc>
              <a:buNone/>
            </a:pPr>
            <a:r>
              <a:rPr lang="en-US" sz="1850" dirty="0">
                <a:solidFill>
                  <a:srgbClr val="00002E"/>
                </a:solidFill>
                <a:latin typeface="PT Sans" panose="020B0503020203020204" pitchFamily="34" charset="0"/>
                <a:ea typeface="PT Sans" panose="020B0503020203020204" pitchFamily="34" charset="-122"/>
                <a:cs typeface="PT Sans" panose="020B0503020203020204" pitchFamily="34" charset="-120"/>
              </a:rPr>
              <a:t>Developer &amp; test: Xuan Zeng</a:t>
            </a:r>
            <a:endParaRPr lang="en-US" sz="1850" dirty="0"/>
          </a:p>
        </p:txBody>
      </p:sp>
      <p:sp>
        <p:nvSpPr>
          <p:cNvPr id="7" name="Text 4"/>
          <p:cNvSpPr/>
          <p:nvPr/>
        </p:nvSpPr>
        <p:spPr>
          <a:xfrm>
            <a:off x="837724" y="5433060"/>
            <a:ext cx="7468553" cy="383024"/>
          </a:xfrm>
          <a:prstGeom prst="rect">
            <a:avLst/>
          </a:prstGeom>
          <a:noFill/>
        </p:spPr>
        <p:txBody>
          <a:bodyPr wrap="none" lIns="0" tIns="0" rIns="0" bIns="0" rtlCol="0" anchor="t"/>
          <a:lstStyle/>
          <a:p>
            <a:pPr marL="0" indent="0" algn="l">
              <a:lnSpc>
                <a:spcPts val="3000"/>
              </a:lnSpc>
              <a:buNone/>
            </a:pPr>
            <a:r>
              <a:rPr lang="en-US" sz="1850" dirty="0">
                <a:solidFill>
                  <a:srgbClr val="00002E"/>
                </a:solidFill>
                <a:latin typeface="PT Sans" panose="020B0503020203020204" pitchFamily="34" charset="0"/>
                <a:ea typeface="PT Sans" panose="020B0503020203020204" pitchFamily="34" charset="-122"/>
                <a:cs typeface="PT Sans" panose="020B0503020203020204" pitchFamily="34" charset="-120"/>
              </a:rPr>
              <a:t>Developer &amp; test: Zhongwei Zhang</a:t>
            </a:r>
            <a:endParaRPr lang="en-US" sz="1850" dirty="0"/>
          </a:p>
        </p:txBody>
      </p:sp>
    </p:spTree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med" p14:dur="700">
        <p:fade/>
      </p:transition>
    </mc:Choice>
    <mc:Fallback>
      <p:transition spd="med">
        <p:fade/>
      </p:transition>
    </mc:Fallback>
  </mc:AlternateContent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0"/>
            <a:ext cx="5486400" cy="8229600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6324124" y="2113240"/>
            <a:ext cx="7468553" cy="2112050"/>
          </a:xfrm>
          <a:prstGeom prst="rect">
            <a:avLst/>
          </a:prstGeom>
          <a:noFill/>
        </p:spPr>
        <p:txBody>
          <a:bodyPr wrap="square" lIns="0" tIns="0" rIns="0" bIns="0" rtlCol="0" anchor="t"/>
          <a:lstStyle/>
          <a:p>
            <a:pPr marL="0" indent="0" algn="l">
              <a:lnSpc>
                <a:spcPts val="5500"/>
              </a:lnSpc>
              <a:buNone/>
            </a:pPr>
            <a:r>
              <a:rPr lang="en-US" sz="4400" dirty="0">
                <a:solidFill>
                  <a:srgbClr val="00002E"/>
                </a:solidFill>
                <a:latin typeface="Nunito Semi Bold" pitchFamily="34" charset="0"/>
                <a:ea typeface="Nunito Semi Bold" pitchFamily="34" charset="-122"/>
                <a:cs typeface="Nunito Semi Bold" pitchFamily="34" charset="-120"/>
              </a:rPr>
              <a:t>DoraBlog: Unveiling Doraemon's Blogging Wonderland!</a:t>
            </a:r>
            <a:endParaRPr lang="en-US" sz="4400" dirty="0"/>
          </a:p>
        </p:txBody>
      </p:sp>
      <p:sp>
        <p:nvSpPr>
          <p:cNvPr id="4" name="Text 1"/>
          <p:cNvSpPr/>
          <p:nvPr/>
        </p:nvSpPr>
        <p:spPr>
          <a:xfrm>
            <a:off x="6324124" y="4584263"/>
            <a:ext cx="7468553" cy="1532096"/>
          </a:xfrm>
          <a:prstGeom prst="rect">
            <a:avLst/>
          </a:prstGeom>
          <a:noFill/>
        </p:spPr>
        <p:txBody>
          <a:bodyPr wrap="square" lIns="0" tIns="0" rIns="0" bIns="0" rtlCol="0" anchor="t"/>
          <a:lstStyle/>
          <a:p>
            <a:pPr marL="0" indent="0" algn="l">
              <a:lnSpc>
                <a:spcPts val="3000"/>
              </a:lnSpc>
              <a:buNone/>
            </a:pPr>
            <a:r>
              <a:rPr lang="en-US" sz="1850" dirty="0">
                <a:solidFill>
                  <a:srgbClr val="00002E"/>
                </a:solidFill>
                <a:latin typeface="PT Sans" panose="020B0503020203020204" pitchFamily="34" charset="0"/>
                <a:ea typeface="PT Sans" panose="020B0503020203020204" pitchFamily="34" charset="-122"/>
                <a:cs typeface="PT Sans" panose="020B0503020203020204" pitchFamily="34" charset="-120"/>
              </a:rPr>
              <a:t>Discover a revolutionary platform where classic Doraemon gadgets transform blogging into an imaginative adventure. Share your stories with extraordinary tools, making every post a magical experience, powered by innovation and creativity.</a:t>
            </a:r>
            <a:endParaRPr lang="en-US" sz="1850" dirty="0"/>
          </a:p>
        </p:txBody>
      </p:sp>
    </p:spTree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med" p14:dur="700">
        <p:fade/>
      </p:transition>
    </mc:Choice>
    <mc:Fallback>
      <p:transition spd="med">
        <p:fade/>
      </p:transition>
    </mc:Fallback>
  </mc:AlternateContent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9952" y="447794"/>
            <a:ext cx="4114681" cy="478988"/>
          </a:xfrm>
          <a:prstGeom prst="rect">
            <a:avLst/>
          </a:prstGeom>
          <a:noFill/>
        </p:spPr>
        <p:txBody>
          <a:bodyPr wrap="none" lIns="0" tIns="0" rIns="0" bIns="0" rtlCol="0" anchor="t"/>
          <a:lstStyle/>
          <a:p>
            <a:pPr marL="0" indent="0" algn="l">
              <a:lnSpc>
                <a:spcPts val="3750"/>
              </a:lnSpc>
              <a:buNone/>
            </a:pPr>
            <a:r>
              <a:rPr lang="en-US" sz="3000" dirty="0">
                <a:solidFill>
                  <a:srgbClr val="00002E"/>
                </a:solidFill>
                <a:latin typeface="Nunito Semi Bold" pitchFamily="34" charset="0"/>
                <a:ea typeface="Nunito Semi Bold" pitchFamily="34" charset="-122"/>
                <a:cs typeface="Nunito Semi Bold" pitchFamily="34" charset="-120"/>
              </a:rPr>
              <a:t>DoraBlog: Key Features</a:t>
            </a:r>
            <a:endParaRPr lang="en-US" sz="3000" dirty="0"/>
          </a:p>
        </p:txBody>
      </p:sp>
      <p:sp>
        <p:nvSpPr>
          <p:cNvPr id="3" name="Shape 1"/>
          <p:cNvSpPr/>
          <p:nvPr/>
        </p:nvSpPr>
        <p:spPr>
          <a:xfrm>
            <a:off x="569952" y="1252418"/>
            <a:ext cx="13490496" cy="977146"/>
          </a:xfrm>
          <a:prstGeom prst="roundRect">
            <a:avLst>
              <a:gd name="adj" fmla="val 25002"/>
            </a:avLst>
          </a:prstGeom>
          <a:solidFill>
            <a:srgbClr val="F3F3FF">
              <a:alpha val="75000"/>
            </a:srgbClr>
          </a:solidFill>
          <a:ln w="22860">
            <a:solidFill>
              <a:srgbClr val="2D4DF2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592812" y="1275278"/>
            <a:ext cx="651391" cy="931426"/>
          </a:xfrm>
          <a:prstGeom prst="roundRect">
            <a:avLst>
              <a:gd name="adj" fmla="val 33293"/>
            </a:avLst>
          </a:prstGeom>
          <a:solidFill>
            <a:srgbClr val="F3F3FF"/>
          </a:solidFill>
        </p:spPr>
      </p:sp>
      <p:pic>
        <p:nvPicPr>
          <p:cNvPr id="5" name="Image 0" descr="preencoded.png"/>
          <p:cNvPicPr>
            <a:picLocks noChangeAspect="1"/>
          </p:cNvPicPr>
          <p:nvPr/>
        </p:nvPicPr>
        <p:blipFill>
          <a:blip r:embed="rId3"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788789" y="1618774"/>
            <a:ext cx="244197" cy="244197"/>
          </a:xfrm>
          <a:prstGeom prst="rect">
            <a:avLst/>
          </a:prstGeom>
        </p:spPr>
      </p:pic>
      <p:sp>
        <p:nvSpPr>
          <p:cNvPr id="6" name="Text 3"/>
          <p:cNvSpPr/>
          <p:nvPr/>
        </p:nvSpPr>
        <p:spPr>
          <a:xfrm>
            <a:off x="1406962" y="1438037"/>
            <a:ext cx="2547937" cy="239435"/>
          </a:xfrm>
          <a:prstGeom prst="rect">
            <a:avLst/>
          </a:prstGeom>
          <a:noFill/>
        </p:spPr>
        <p:txBody>
          <a:bodyPr wrap="none" lIns="0" tIns="0" rIns="0" bIns="0" rtlCol="0" anchor="t"/>
          <a:lstStyle/>
          <a:p>
            <a:pPr marL="0" indent="0" algn="l">
              <a:lnSpc>
                <a:spcPts val="1850"/>
              </a:lnSpc>
              <a:buNone/>
            </a:pPr>
            <a:r>
              <a:rPr lang="en-US" sz="1500" dirty="0">
                <a:solidFill>
                  <a:srgbClr val="00002E"/>
                </a:solidFill>
                <a:latin typeface="Nunito Semi Bold" pitchFamily="34" charset="0"/>
                <a:ea typeface="Nunito Semi Bold" pitchFamily="34" charset="-122"/>
                <a:cs typeface="Nunito Semi Bold" pitchFamily="34" charset="-120"/>
              </a:rPr>
              <a:t>Imaginative Content Creation</a:t>
            </a:r>
            <a:endParaRPr lang="en-US" sz="1500" dirty="0"/>
          </a:p>
        </p:txBody>
      </p:sp>
      <p:sp>
        <p:nvSpPr>
          <p:cNvPr id="7" name="Text 4"/>
          <p:cNvSpPr/>
          <p:nvPr/>
        </p:nvSpPr>
        <p:spPr>
          <a:xfrm>
            <a:off x="1406962" y="1775103"/>
            <a:ext cx="12467868" cy="260509"/>
          </a:xfrm>
          <a:prstGeom prst="rect">
            <a:avLst/>
          </a:prstGeom>
          <a:noFill/>
        </p:spPr>
        <p:txBody>
          <a:bodyPr wrap="none" lIns="0" tIns="0" rIns="0" bIns="0" rtlCol="0" anchor="t"/>
          <a:lstStyle/>
          <a:p>
            <a:pPr marL="0" indent="0" algn="l">
              <a:lnSpc>
                <a:spcPts val="2050"/>
              </a:lnSpc>
              <a:buNone/>
            </a:pPr>
            <a:r>
              <a:rPr lang="en-US" sz="1250" dirty="0">
                <a:solidFill>
                  <a:srgbClr val="00002E"/>
                </a:solidFill>
                <a:latin typeface="PT Sans" panose="020B0503020203020204" pitchFamily="34" charset="0"/>
                <a:ea typeface="PT Sans" panose="020B0503020203020204" pitchFamily="34" charset="-122"/>
                <a:cs typeface="PT Sans" panose="020B0503020203020204" pitchFamily="34" charset="-120"/>
              </a:rPr>
              <a:t>Unleash your creativity with our </a:t>
            </a:r>
            <a:r>
              <a:rPr lang="en-US" sz="1250" b="1" dirty="0">
                <a:solidFill>
                  <a:srgbClr val="00002E"/>
                </a:solidFill>
                <a:latin typeface="PT Sans" panose="020B0503020203020204" pitchFamily="34" charset="0"/>
                <a:ea typeface="PT Sans" panose="020B0503020203020204" pitchFamily="34" charset="-122"/>
                <a:cs typeface="PT Sans" panose="020B0503020203020204" pitchFamily="34" charset="-120"/>
              </a:rPr>
              <a:t>rich-text editor</a:t>
            </a:r>
            <a:r>
              <a:rPr lang="en-US" sz="1250" dirty="0">
                <a:solidFill>
                  <a:srgbClr val="00002E"/>
                </a:solidFill>
                <a:latin typeface="PT Sans" panose="020B0503020203020204" pitchFamily="34" charset="0"/>
                <a:ea typeface="PT Sans" panose="020B0503020203020204" pitchFamily="34" charset="-122"/>
                <a:cs typeface="PT Sans" panose="020B0503020203020204" pitchFamily="34" charset="-120"/>
              </a:rPr>
              <a:t>, inspired by Doraemon's Word-Processor Pencil. Craft engaging articles, </a:t>
            </a:r>
            <a:r>
              <a:rPr lang="en-US" sz="1250" b="1" dirty="0">
                <a:solidFill>
                  <a:srgbClr val="00002E"/>
                </a:solidFill>
                <a:latin typeface="PT Sans" panose="020B0503020203020204" pitchFamily="34" charset="0"/>
                <a:ea typeface="PT Sans" panose="020B0503020203020204" pitchFamily="34" charset="-122"/>
                <a:cs typeface="PT Sans" panose="020B0503020203020204" pitchFamily="34" charset="-120"/>
              </a:rPr>
              <a:t>seamlessly upload images</a:t>
            </a:r>
            <a:r>
              <a:rPr lang="en-US" sz="1250" dirty="0">
                <a:solidFill>
                  <a:srgbClr val="00002E"/>
                </a:solidFill>
                <a:latin typeface="PT Sans" panose="020B0503020203020204" pitchFamily="34" charset="0"/>
                <a:ea typeface="PT Sans" panose="020B0503020203020204" pitchFamily="34" charset="-122"/>
                <a:cs typeface="PT Sans" panose="020B0503020203020204" pitchFamily="34" charset="-120"/>
              </a:rPr>
              <a:t>.</a:t>
            </a:r>
            <a:endParaRPr lang="en-US" sz="1250" dirty="0"/>
          </a:p>
        </p:txBody>
      </p:sp>
      <p:sp>
        <p:nvSpPr>
          <p:cNvPr id="8" name="Shape 5"/>
          <p:cNvSpPr/>
          <p:nvPr/>
        </p:nvSpPr>
        <p:spPr>
          <a:xfrm>
            <a:off x="569952" y="2392323"/>
            <a:ext cx="13490496" cy="1229320"/>
          </a:xfrm>
          <a:prstGeom prst="roundRect">
            <a:avLst>
              <a:gd name="adj" fmla="val 19873"/>
            </a:avLst>
          </a:prstGeom>
          <a:solidFill>
            <a:srgbClr val="F3F3FF">
              <a:alpha val="75000"/>
            </a:srgbClr>
          </a:solidFill>
          <a:ln w="22860">
            <a:solidFill>
              <a:srgbClr val="018CE1"/>
            </a:solidFill>
            <a:prstDash val="solid"/>
          </a:ln>
        </p:spPr>
      </p:sp>
      <p:sp>
        <p:nvSpPr>
          <p:cNvPr id="9" name="Shape 6"/>
          <p:cNvSpPr/>
          <p:nvPr/>
        </p:nvSpPr>
        <p:spPr>
          <a:xfrm>
            <a:off x="592812" y="2415183"/>
            <a:ext cx="651391" cy="1183600"/>
          </a:xfrm>
          <a:prstGeom prst="roundRect">
            <a:avLst>
              <a:gd name="adj" fmla="val 33293"/>
            </a:avLst>
          </a:prstGeom>
          <a:solidFill>
            <a:srgbClr val="F3F3FF"/>
          </a:solidFill>
        </p:spPr>
      </p:sp>
      <p:pic>
        <p:nvPicPr>
          <p:cNvPr id="10" name="Image 1" descr="preencoded.png"/>
          <p:cNvPicPr>
            <a:picLocks noChangeAspect="1"/>
          </p:cNvPicPr>
          <p:nvPr/>
        </p:nvPicPr>
        <p:blipFill>
          <a:blip r:embed="rId5">
            <a:extLs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p:blipFill>
        <p:spPr>
          <a:xfrm>
            <a:off x="788789" y="2884765"/>
            <a:ext cx="244197" cy="244197"/>
          </a:xfrm>
          <a:prstGeom prst="rect">
            <a:avLst/>
          </a:prstGeom>
        </p:spPr>
      </p:pic>
      <p:sp>
        <p:nvSpPr>
          <p:cNvPr id="11" name="Text 7"/>
          <p:cNvSpPr/>
          <p:nvPr/>
        </p:nvSpPr>
        <p:spPr>
          <a:xfrm>
            <a:off x="1406962" y="2577941"/>
            <a:ext cx="2319695" cy="239435"/>
          </a:xfrm>
          <a:prstGeom prst="rect">
            <a:avLst/>
          </a:prstGeom>
          <a:noFill/>
        </p:spPr>
        <p:txBody>
          <a:bodyPr wrap="none" lIns="0" tIns="0" rIns="0" bIns="0" rtlCol="0" anchor="t"/>
          <a:lstStyle/>
          <a:p>
            <a:pPr marL="0" indent="0" algn="l">
              <a:lnSpc>
                <a:spcPts val="1850"/>
              </a:lnSpc>
              <a:buNone/>
            </a:pPr>
            <a:r>
              <a:rPr lang="en-US" sz="1500" dirty="0">
                <a:solidFill>
                  <a:srgbClr val="00002E"/>
                </a:solidFill>
                <a:latin typeface="Nunito Semi Bold" pitchFamily="34" charset="0"/>
                <a:ea typeface="Nunito Semi Bold" pitchFamily="34" charset="-122"/>
                <a:cs typeface="Nunito Semi Bold" pitchFamily="34" charset="-120"/>
              </a:rPr>
              <a:t>Secure &amp; Seamless Access</a:t>
            </a:r>
            <a:endParaRPr lang="en-US" sz="1500" dirty="0"/>
          </a:p>
        </p:txBody>
      </p:sp>
      <p:sp>
        <p:nvSpPr>
          <p:cNvPr id="12" name="Text 8"/>
          <p:cNvSpPr/>
          <p:nvPr/>
        </p:nvSpPr>
        <p:spPr>
          <a:xfrm>
            <a:off x="1406962" y="2915007"/>
            <a:ext cx="12467868" cy="521017"/>
          </a:xfrm>
          <a:prstGeom prst="rect">
            <a:avLst/>
          </a:prstGeom>
          <a:noFill/>
        </p:spPr>
        <p:txBody>
          <a:bodyPr wrap="square" lIns="0" tIns="0" rIns="0" bIns="0" rtlCol="0" anchor="t"/>
          <a:lstStyle/>
          <a:p>
            <a:pPr marL="0" indent="0" algn="l">
              <a:lnSpc>
                <a:spcPts val="2050"/>
              </a:lnSpc>
              <a:buNone/>
            </a:pPr>
            <a:r>
              <a:rPr lang="en-US" sz="1250" dirty="0">
                <a:solidFill>
                  <a:srgbClr val="00002E"/>
                </a:solidFill>
                <a:latin typeface="PT Sans" panose="020B0503020203020204" pitchFamily="34" charset="0"/>
                <a:ea typeface="PT Sans" panose="020B0503020203020204" pitchFamily="34" charset="-122"/>
                <a:cs typeface="PT Sans" panose="020B0503020203020204" pitchFamily="34" charset="-120"/>
              </a:rPr>
              <a:t>Our robust</a:t>
            </a:r>
            <a:r>
              <a:rPr lang="en-US" sz="1250" b="1" dirty="0">
                <a:solidFill>
                  <a:srgbClr val="00002E"/>
                </a:solidFill>
                <a:latin typeface="PT Sans" panose="020B0503020203020204" pitchFamily="34" charset="0"/>
                <a:ea typeface="PT Sans" panose="020B0503020203020204" pitchFamily="34" charset="-122"/>
                <a:cs typeface="PT Sans" panose="020B0503020203020204" pitchFamily="34" charset="-120"/>
              </a:rPr>
              <a:t> JSON Web Token</a:t>
            </a:r>
            <a:r>
              <a:rPr lang="en-US" sz="1250" dirty="0">
                <a:solidFill>
                  <a:srgbClr val="00002E"/>
                </a:solidFill>
                <a:latin typeface="PT Sans" panose="020B0503020203020204" pitchFamily="34" charset="0"/>
                <a:ea typeface="PT Sans" panose="020B0503020203020204" pitchFamily="34" charset="-122"/>
                <a:cs typeface="PT Sans" panose="020B0503020203020204" pitchFamily="34" charset="-120"/>
              </a:rPr>
              <a:t> (JWT) system ensures secure and persistent authentication, guarding your DoraBlog account like Doraemon's secret vault. Enjoy a reliable and gadget-proof login experience every time.</a:t>
            </a:r>
            <a:endParaRPr lang="en-US" sz="1250" dirty="0"/>
          </a:p>
        </p:txBody>
      </p:sp>
      <p:sp>
        <p:nvSpPr>
          <p:cNvPr id="13" name="Shape 9"/>
          <p:cNvSpPr/>
          <p:nvPr/>
        </p:nvSpPr>
        <p:spPr>
          <a:xfrm>
            <a:off x="569952" y="3784402"/>
            <a:ext cx="13490496" cy="1229320"/>
          </a:xfrm>
          <a:prstGeom prst="roundRect">
            <a:avLst>
              <a:gd name="adj" fmla="val 19873"/>
            </a:avLst>
          </a:prstGeom>
          <a:solidFill>
            <a:srgbClr val="F3F3FF">
              <a:alpha val="75000"/>
            </a:srgbClr>
          </a:solidFill>
          <a:ln w="22860">
            <a:solidFill>
              <a:srgbClr val="DA33BF"/>
            </a:solidFill>
            <a:prstDash val="solid"/>
          </a:ln>
        </p:spPr>
      </p:sp>
      <p:sp>
        <p:nvSpPr>
          <p:cNvPr id="14" name="Shape 10"/>
          <p:cNvSpPr/>
          <p:nvPr/>
        </p:nvSpPr>
        <p:spPr>
          <a:xfrm>
            <a:off x="592812" y="3807262"/>
            <a:ext cx="651391" cy="1183600"/>
          </a:xfrm>
          <a:prstGeom prst="roundRect">
            <a:avLst>
              <a:gd name="adj" fmla="val 33293"/>
            </a:avLst>
          </a:prstGeom>
          <a:solidFill>
            <a:srgbClr val="F3F3FF"/>
          </a:solidFill>
        </p:spPr>
      </p:sp>
      <p:pic>
        <p:nvPicPr>
          <p:cNvPr id="15" name="Image 2" descr="preencoded.png"/>
          <p:cNvPicPr>
            <a:picLocks noChangeAspect="1"/>
          </p:cNvPicPr>
          <p:nvPr/>
        </p:nvPicPr>
        <p:blipFill>
          <a:blip r:embed="rId7">
            <a:extLst>
              <a:ext uri="{96DAC541-7B7A-43D3-8B79-37D633B846F1}">
                <asvg:svgBlip xmlns:asvg="http://schemas.microsoft.com/office/drawing/2016/SVG/main" r:embed="rId8"/>
              </a:ext>
            </a:extLst>
          </a:blip>
          <a:stretch>
            <a:fillRect/>
          </a:stretch>
        </p:blipFill>
        <p:spPr>
          <a:xfrm>
            <a:off x="788789" y="4276844"/>
            <a:ext cx="244197" cy="244197"/>
          </a:xfrm>
          <a:prstGeom prst="rect">
            <a:avLst/>
          </a:prstGeom>
        </p:spPr>
      </p:pic>
      <p:sp>
        <p:nvSpPr>
          <p:cNvPr id="16" name="Text 11"/>
          <p:cNvSpPr/>
          <p:nvPr/>
        </p:nvSpPr>
        <p:spPr>
          <a:xfrm>
            <a:off x="1406962" y="3970020"/>
            <a:ext cx="2712363" cy="239435"/>
          </a:xfrm>
          <a:prstGeom prst="rect">
            <a:avLst/>
          </a:prstGeom>
          <a:noFill/>
        </p:spPr>
        <p:txBody>
          <a:bodyPr wrap="none" lIns="0" tIns="0" rIns="0" bIns="0" rtlCol="0" anchor="t"/>
          <a:lstStyle/>
          <a:p>
            <a:pPr marL="0" indent="0" algn="l">
              <a:lnSpc>
                <a:spcPts val="1850"/>
              </a:lnSpc>
              <a:buNone/>
            </a:pPr>
            <a:r>
              <a:rPr lang="en-US" sz="1500" dirty="0">
                <a:solidFill>
                  <a:srgbClr val="00002E"/>
                </a:solidFill>
                <a:latin typeface="Nunito Semi Bold" pitchFamily="34" charset="0"/>
                <a:ea typeface="Nunito Semi Bold" pitchFamily="34" charset="-122"/>
                <a:cs typeface="Nunito Semi Bold" pitchFamily="34" charset="-120"/>
              </a:rPr>
              <a:t>Dynamic Interactive Comments</a:t>
            </a:r>
            <a:endParaRPr lang="en-US" sz="1500" dirty="0"/>
          </a:p>
        </p:txBody>
      </p:sp>
      <p:sp>
        <p:nvSpPr>
          <p:cNvPr id="17" name="Text 12"/>
          <p:cNvSpPr/>
          <p:nvPr/>
        </p:nvSpPr>
        <p:spPr>
          <a:xfrm>
            <a:off x="1406962" y="4307086"/>
            <a:ext cx="12467868" cy="521017"/>
          </a:xfrm>
          <a:prstGeom prst="rect">
            <a:avLst/>
          </a:prstGeom>
          <a:noFill/>
        </p:spPr>
        <p:txBody>
          <a:bodyPr wrap="square" lIns="0" tIns="0" rIns="0" bIns="0" rtlCol="0" anchor="t"/>
          <a:lstStyle/>
          <a:p>
            <a:pPr marL="0" indent="0" algn="l">
              <a:lnSpc>
                <a:spcPts val="2050"/>
              </a:lnSpc>
              <a:buNone/>
            </a:pPr>
            <a:r>
              <a:rPr lang="en-US" sz="1250" dirty="0">
                <a:solidFill>
                  <a:srgbClr val="00002E"/>
                </a:solidFill>
                <a:latin typeface="PT Sans" panose="020B0503020203020204" pitchFamily="34" charset="0"/>
                <a:ea typeface="PT Sans" panose="020B0503020203020204" pitchFamily="34" charset="-122"/>
                <a:cs typeface="PT Sans" panose="020B0503020203020204" pitchFamily="34" charset="-120"/>
              </a:rPr>
              <a:t>Engage with your audience through a </a:t>
            </a:r>
            <a:r>
              <a:rPr lang="en-US" sz="1250" b="1" dirty="0">
                <a:solidFill>
                  <a:srgbClr val="00002E"/>
                </a:solidFill>
                <a:latin typeface="PT Sans" panose="020B0503020203020204" pitchFamily="34" charset="0"/>
                <a:ea typeface="PT Sans" panose="020B0503020203020204" pitchFamily="34" charset="-122"/>
                <a:cs typeface="PT Sans" panose="020B0503020203020204" pitchFamily="34" charset="-120"/>
              </a:rPr>
              <a:t>hierarchical, nesting comment</a:t>
            </a:r>
            <a:r>
              <a:rPr lang="en-US" sz="1250" dirty="0">
                <a:solidFill>
                  <a:srgbClr val="00002E"/>
                </a:solidFill>
                <a:latin typeface="PT Sans" panose="020B0503020203020204" pitchFamily="34" charset="0"/>
                <a:ea typeface="PT Sans" panose="020B0503020203020204" pitchFamily="34" charset="-122"/>
                <a:cs typeface="PT Sans" panose="020B0503020203020204" pitchFamily="34" charset="-120"/>
              </a:rPr>
              <a:t> system, much like a tiny Thought-Reading Microphone network. Foster vibrant discussions and build a strong community around your captivating content.</a:t>
            </a:r>
            <a:endParaRPr lang="en-US" sz="1250" dirty="0"/>
          </a:p>
        </p:txBody>
      </p:sp>
      <p:sp>
        <p:nvSpPr>
          <p:cNvPr id="18" name="Shape 13"/>
          <p:cNvSpPr/>
          <p:nvPr/>
        </p:nvSpPr>
        <p:spPr>
          <a:xfrm>
            <a:off x="569952" y="5176480"/>
            <a:ext cx="13490496" cy="1229320"/>
          </a:xfrm>
          <a:prstGeom prst="roundRect">
            <a:avLst>
              <a:gd name="adj" fmla="val 19873"/>
            </a:avLst>
          </a:prstGeom>
          <a:solidFill>
            <a:srgbClr val="F3F3FF">
              <a:alpha val="75000"/>
            </a:srgbClr>
          </a:solidFill>
          <a:ln w="22860">
            <a:solidFill>
              <a:srgbClr val="2D4DF2"/>
            </a:solidFill>
            <a:prstDash val="solid"/>
          </a:ln>
        </p:spPr>
      </p:sp>
      <p:sp>
        <p:nvSpPr>
          <p:cNvPr id="19" name="Shape 14"/>
          <p:cNvSpPr/>
          <p:nvPr/>
        </p:nvSpPr>
        <p:spPr>
          <a:xfrm>
            <a:off x="592812" y="5199340"/>
            <a:ext cx="651391" cy="1183600"/>
          </a:xfrm>
          <a:prstGeom prst="roundRect">
            <a:avLst>
              <a:gd name="adj" fmla="val 33293"/>
            </a:avLst>
          </a:prstGeom>
          <a:solidFill>
            <a:srgbClr val="F3F3FF"/>
          </a:solidFill>
        </p:spPr>
      </p:sp>
      <p:pic>
        <p:nvPicPr>
          <p:cNvPr id="20" name="Image 3" descr="preencoded.png"/>
          <p:cNvPicPr>
            <a:picLocks noChangeAspect="1"/>
          </p:cNvPicPr>
          <p:nvPr/>
        </p:nvPicPr>
        <p:blipFill>
          <a:blip r:embed="rId9">
            <a:extLst>
              <a:ext uri="{96DAC541-7B7A-43D3-8B79-37D633B846F1}">
                <asvg:svgBlip xmlns:asvg="http://schemas.microsoft.com/office/drawing/2016/SVG/main" r:embed="rId10"/>
              </a:ext>
            </a:extLst>
          </a:blip>
          <a:stretch>
            <a:fillRect/>
          </a:stretch>
        </p:blipFill>
        <p:spPr>
          <a:xfrm>
            <a:off x="788789" y="5668923"/>
            <a:ext cx="244197" cy="244197"/>
          </a:xfrm>
          <a:prstGeom prst="rect">
            <a:avLst/>
          </a:prstGeom>
        </p:spPr>
      </p:pic>
      <p:sp>
        <p:nvSpPr>
          <p:cNvPr id="21" name="Text 15"/>
          <p:cNvSpPr/>
          <p:nvPr/>
        </p:nvSpPr>
        <p:spPr>
          <a:xfrm>
            <a:off x="1406962" y="5362099"/>
            <a:ext cx="2182654" cy="239435"/>
          </a:xfrm>
          <a:prstGeom prst="rect">
            <a:avLst/>
          </a:prstGeom>
          <a:noFill/>
        </p:spPr>
        <p:txBody>
          <a:bodyPr wrap="none" lIns="0" tIns="0" rIns="0" bIns="0" rtlCol="0" anchor="t"/>
          <a:lstStyle/>
          <a:p>
            <a:pPr marL="0" indent="0" algn="l">
              <a:lnSpc>
                <a:spcPts val="1850"/>
              </a:lnSpc>
              <a:buNone/>
            </a:pPr>
            <a:r>
              <a:rPr lang="en-US" sz="1500" dirty="0">
                <a:solidFill>
                  <a:srgbClr val="00002E"/>
                </a:solidFill>
                <a:latin typeface="Nunito Semi Bold" pitchFamily="34" charset="0"/>
                <a:ea typeface="Nunito Semi Bold" pitchFamily="34" charset="-122"/>
                <a:cs typeface="Nunito Semi Bold" pitchFamily="34" charset="-120"/>
              </a:rPr>
              <a:t>Smart Content Discovery</a:t>
            </a:r>
            <a:endParaRPr lang="en-US" sz="1500" dirty="0"/>
          </a:p>
        </p:txBody>
      </p:sp>
      <p:sp>
        <p:nvSpPr>
          <p:cNvPr id="22" name="Text 16"/>
          <p:cNvSpPr/>
          <p:nvPr/>
        </p:nvSpPr>
        <p:spPr>
          <a:xfrm>
            <a:off x="1406962" y="5699165"/>
            <a:ext cx="12467868" cy="521017"/>
          </a:xfrm>
          <a:prstGeom prst="rect">
            <a:avLst/>
          </a:prstGeom>
          <a:noFill/>
        </p:spPr>
        <p:txBody>
          <a:bodyPr wrap="square" lIns="0" tIns="0" rIns="0" bIns="0" rtlCol="0" anchor="t"/>
          <a:lstStyle/>
          <a:p>
            <a:pPr marL="0" indent="0" algn="l">
              <a:lnSpc>
                <a:spcPts val="2050"/>
              </a:lnSpc>
              <a:buNone/>
            </a:pPr>
            <a:r>
              <a:rPr lang="en-US" sz="1250" dirty="0">
                <a:solidFill>
                  <a:srgbClr val="00002E"/>
                </a:solidFill>
                <a:latin typeface="PT Sans" panose="020B0503020203020204" pitchFamily="34" charset="0"/>
                <a:ea typeface="PT Sans" panose="020B0503020203020204" pitchFamily="34" charset="-122"/>
                <a:cs typeface="PT Sans" panose="020B0503020203020204" pitchFamily="34" charset="-120"/>
              </a:rPr>
              <a:t>Navigate the DoraBlog universe with ease. Benefit from </a:t>
            </a:r>
            <a:r>
              <a:rPr lang="en-US" sz="1250" b="1" dirty="0">
                <a:solidFill>
                  <a:srgbClr val="00002E"/>
                </a:solidFill>
                <a:latin typeface="PT Sans" panose="020B0503020203020204" pitchFamily="34" charset="0"/>
                <a:ea typeface="PT Sans" panose="020B0503020203020204" pitchFamily="34" charset="-122"/>
                <a:cs typeface="PT Sans" panose="020B0503020203020204" pitchFamily="34" charset="-120"/>
              </a:rPr>
              <a:t>intelligent article recommendations</a:t>
            </a:r>
            <a:r>
              <a:rPr lang="en-US" sz="1250" dirty="0">
                <a:solidFill>
                  <a:srgbClr val="00002E"/>
                </a:solidFill>
                <a:latin typeface="PT Sans" panose="020B0503020203020204" pitchFamily="34" charset="0"/>
                <a:ea typeface="PT Sans" panose="020B0503020203020204" pitchFamily="34" charset="-122"/>
                <a:cs typeface="PT Sans" panose="020B0503020203020204" pitchFamily="34" charset="-120"/>
              </a:rPr>
              <a:t>, comprehensive </a:t>
            </a:r>
            <a:r>
              <a:rPr lang="en-US" sz="1250" b="1" dirty="0">
                <a:solidFill>
                  <a:srgbClr val="00002E"/>
                </a:solidFill>
                <a:latin typeface="PT Sans" panose="020B0503020203020204" pitchFamily="34" charset="0"/>
                <a:ea typeface="PT Sans" panose="020B0503020203020204" pitchFamily="34" charset="-122"/>
                <a:cs typeface="PT Sans" panose="020B0503020203020204" pitchFamily="34" charset="-120"/>
              </a:rPr>
              <a:t>tagging </a:t>
            </a:r>
            <a:r>
              <a:rPr lang="en-US" sz="1250" dirty="0">
                <a:solidFill>
                  <a:srgbClr val="00002E"/>
                </a:solidFill>
                <a:latin typeface="PT Sans" panose="020B0503020203020204" pitchFamily="34" charset="0"/>
                <a:ea typeface="PT Sans" panose="020B0503020203020204" pitchFamily="34" charset="-122"/>
                <a:cs typeface="PT Sans" panose="020B0503020203020204" pitchFamily="34" charset="-120"/>
              </a:rPr>
              <a:t>for seamless organisation, and powerful search capabilities that help you find exactly what you're looking for.</a:t>
            </a:r>
            <a:endParaRPr lang="en-US" sz="1250" dirty="0"/>
          </a:p>
        </p:txBody>
      </p:sp>
      <p:sp>
        <p:nvSpPr>
          <p:cNvPr id="23" name="Shape 17"/>
          <p:cNvSpPr/>
          <p:nvPr/>
        </p:nvSpPr>
        <p:spPr>
          <a:xfrm>
            <a:off x="569952" y="6568559"/>
            <a:ext cx="13490496" cy="1229320"/>
          </a:xfrm>
          <a:prstGeom prst="roundRect">
            <a:avLst>
              <a:gd name="adj" fmla="val 19873"/>
            </a:avLst>
          </a:prstGeom>
          <a:solidFill>
            <a:srgbClr val="F3F3FF">
              <a:alpha val="75000"/>
            </a:srgbClr>
          </a:solidFill>
          <a:ln w="22860">
            <a:solidFill>
              <a:srgbClr val="018CE1"/>
            </a:solidFill>
            <a:prstDash val="solid"/>
          </a:ln>
        </p:spPr>
      </p:sp>
      <p:sp>
        <p:nvSpPr>
          <p:cNvPr id="24" name="Shape 18"/>
          <p:cNvSpPr/>
          <p:nvPr/>
        </p:nvSpPr>
        <p:spPr>
          <a:xfrm>
            <a:off x="592812" y="6591419"/>
            <a:ext cx="651391" cy="1183600"/>
          </a:xfrm>
          <a:prstGeom prst="roundRect">
            <a:avLst>
              <a:gd name="adj" fmla="val 33293"/>
            </a:avLst>
          </a:prstGeom>
          <a:solidFill>
            <a:srgbClr val="F3F3FF"/>
          </a:solidFill>
        </p:spPr>
      </p:sp>
      <p:pic>
        <p:nvPicPr>
          <p:cNvPr id="25" name="Image 4" descr="preencoded.png"/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788789" y="7061002"/>
            <a:ext cx="244197" cy="244197"/>
          </a:xfrm>
          <a:prstGeom prst="rect">
            <a:avLst/>
          </a:prstGeom>
        </p:spPr>
      </p:pic>
      <p:sp>
        <p:nvSpPr>
          <p:cNvPr id="26" name="Text 19"/>
          <p:cNvSpPr/>
          <p:nvPr/>
        </p:nvSpPr>
        <p:spPr>
          <a:xfrm>
            <a:off x="1406962" y="6754177"/>
            <a:ext cx="2579846" cy="239435"/>
          </a:xfrm>
          <a:prstGeom prst="rect">
            <a:avLst/>
          </a:prstGeom>
          <a:noFill/>
        </p:spPr>
        <p:txBody>
          <a:bodyPr wrap="none" lIns="0" tIns="0" rIns="0" bIns="0" rtlCol="0" anchor="t"/>
          <a:lstStyle/>
          <a:p>
            <a:pPr marL="0" indent="0" algn="l">
              <a:lnSpc>
                <a:spcPts val="1850"/>
              </a:lnSpc>
              <a:buNone/>
            </a:pPr>
            <a:r>
              <a:rPr lang="en-US" sz="1500" dirty="0">
                <a:solidFill>
                  <a:srgbClr val="00002E"/>
                </a:solidFill>
                <a:latin typeface="Nunito Semi Bold" pitchFamily="34" charset="0"/>
                <a:ea typeface="Nunito Semi Bold" pitchFamily="34" charset="-122"/>
                <a:cs typeface="Nunito Semi Bold" pitchFamily="34" charset="-120"/>
              </a:rPr>
              <a:t>Personalised User Experience</a:t>
            </a:r>
            <a:endParaRPr lang="en-US" sz="1500" dirty="0"/>
          </a:p>
        </p:txBody>
      </p:sp>
      <p:sp>
        <p:nvSpPr>
          <p:cNvPr id="27" name="Text 20"/>
          <p:cNvSpPr/>
          <p:nvPr/>
        </p:nvSpPr>
        <p:spPr>
          <a:xfrm>
            <a:off x="1406962" y="7091243"/>
            <a:ext cx="12467868" cy="521017"/>
          </a:xfrm>
          <a:prstGeom prst="rect">
            <a:avLst/>
          </a:prstGeom>
          <a:noFill/>
        </p:spPr>
        <p:txBody>
          <a:bodyPr wrap="square" lIns="0" tIns="0" rIns="0" bIns="0" rtlCol="0" anchor="t"/>
          <a:lstStyle/>
          <a:p>
            <a:pPr marL="0" indent="0" algn="l">
              <a:lnSpc>
                <a:spcPts val="2050"/>
              </a:lnSpc>
              <a:buNone/>
            </a:pPr>
            <a:r>
              <a:rPr lang="en-US" sz="1250" dirty="0">
                <a:solidFill>
                  <a:srgbClr val="00002E"/>
                </a:solidFill>
                <a:latin typeface="PT Sans" panose="020B0503020203020204" pitchFamily="34" charset="0"/>
                <a:ea typeface="PT Sans" panose="020B0503020203020204" pitchFamily="34" charset="-122"/>
                <a:cs typeface="PT Sans" panose="020B0503020203020204" pitchFamily="34" charset="-120"/>
              </a:rPr>
              <a:t>Tailor your DoraBlog journey with </a:t>
            </a:r>
            <a:r>
              <a:rPr lang="en-US" sz="1250" b="1" dirty="0">
                <a:solidFill>
                  <a:srgbClr val="00002E"/>
                </a:solidFill>
                <a:latin typeface="PT Sans" panose="020B0503020203020204" pitchFamily="34" charset="0"/>
                <a:ea typeface="PT Sans" panose="020B0503020203020204" pitchFamily="34" charset="-122"/>
                <a:cs typeface="PT Sans" panose="020B0503020203020204" pitchFamily="34" charset="-120"/>
              </a:rPr>
              <a:t>multi-theme</a:t>
            </a:r>
            <a:r>
              <a:rPr lang="en-US" sz="1250" dirty="0">
                <a:solidFill>
                  <a:srgbClr val="00002E"/>
                </a:solidFill>
                <a:latin typeface="PT Sans" panose="020B0503020203020204" pitchFamily="34" charset="0"/>
                <a:ea typeface="PT Sans" panose="020B0503020203020204" pitchFamily="34" charset="-122"/>
                <a:cs typeface="PT Sans" panose="020B0503020203020204" pitchFamily="34" charset="-120"/>
              </a:rPr>
              <a:t> options, a visual </a:t>
            </a:r>
            <a:r>
              <a:rPr lang="en-US" sz="1250" b="1" dirty="0">
                <a:solidFill>
                  <a:srgbClr val="00002E"/>
                </a:solidFill>
                <a:latin typeface="PT Sans" panose="020B0503020203020204" pitchFamily="34" charset="0"/>
                <a:ea typeface="PT Sans" panose="020B0503020203020204" pitchFamily="34" charset="-122"/>
                <a:cs typeface="PT Sans" panose="020B0503020203020204" pitchFamily="34" charset="-120"/>
              </a:rPr>
              <a:t>password strength indicator</a:t>
            </a:r>
            <a:r>
              <a:rPr lang="en-US" sz="1250" dirty="0">
                <a:solidFill>
                  <a:srgbClr val="00002E"/>
                </a:solidFill>
                <a:latin typeface="PT Sans" panose="020B0503020203020204" pitchFamily="34" charset="0"/>
                <a:ea typeface="PT Sans" panose="020B0503020203020204" pitchFamily="34" charset="-122"/>
                <a:cs typeface="PT Sans" panose="020B0503020203020204" pitchFamily="34" charset="-120"/>
              </a:rPr>
              <a:t> for enhanced security, and </a:t>
            </a:r>
            <a:r>
              <a:rPr lang="en-US" sz="1250" b="1" dirty="0">
                <a:solidFill>
                  <a:srgbClr val="00002E"/>
                </a:solidFill>
                <a:latin typeface="PT Sans" panose="020B0503020203020204" pitchFamily="34" charset="0"/>
                <a:ea typeface="PT Sans" panose="020B0503020203020204" pitchFamily="34" charset="-122"/>
                <a:cs typeface="PT Sans" panose="020B0503020203020204" pitchFamily="34" charset="-120"/>
              </a:rPr>
              <a:t>daily motivational quotes</a:t>
            </a:r>
            <a:r>
              <a:rPr lang="en-US" sz="1250" dirty="0">
                <a:solidFill>
                  <a:srgbClr val="00002E"/>
                </a:solidFill>
                <a:latin typeface="PT Sans" panose="020B0503020203020204" pitchFamily="34" charset="0"/>
                <a:ea typeface="PT Sans" panose="020B0503020203020204" pitchFamily="34" charset="-122"/>
                <a:cs typeface="PT Sans" panose="020B0503020203020204" pitchFamily="34" charset="-120"/>
              </a:rPr>
              <a:t> to inspire your storytelling adventures.</a:t>
            </a:r>
            <a:endParaRPr lang="en-US" sz="1250" dirty="0"/>
          </a:p>
        </p:txBody>
      </p:sp>
    </p:spTree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med" p14:dur="700">
        <p:fade/>
      </p:transition>
    </mc:Choice>
    <mc:Fallback>
      <p:transition spd="med">
        <p:fade/>
      </p:transition>
    </mc:Fallback>
  </mc:AlternateContent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0890" y="363379"/>
            <a:ext cx="6543913" cy="378857"/>
          </a:xfrm>
          <a:prstGeom prst="rect">
            <a:avLst/>
          </a:prstGeom>
          <a:noFill/>
        </p:spPr>
        <p:txBody>
          <a:bodyPr wrap="none" lIns="0" tIns="0" rIns="0" bIns="0" rtlCol="0" anchor="t"/>
          <a:lstStyle/>
          <a:p>
            <a:pPr marL="0" indent="0" algn="l">
              <a:lnSpc>
                <a:spcPts val="2950"/>
              </a:lnSpc>
              <a:buNone/>
            </a:pPr>
            <a:r>
              <a:rPr lang="en-US" sz="2350" dirty="0">
                <a:solidFill>
                  <a:srgbClr val="00002E"/>
                </a:solidFill>
                <a:latin typeface="Nunito Semi Bold" pitchFamily="34" charset="0"/>
                <a:ea typeface="Nunito Semi Bold" pitchFamily="34" charset="-122"/>
                <a:cs typeface="Nunito Semi Bold" pitchFamily="34" charset="-120"/>
              </a:rPr>
              <a:t>DoraBlog in Action: Our Magical User Interface!</a:t>
            </a:r>
            <a:endParaRPr lang="en-US" sz="2350" dirty="0"/>
          </a:p>
        </p:txBody>
      </p:sp>
      <p:sp>
        <p:nvSpPr>
          <p:cNvPr id="3" name="Text 1"/>
          <p:cNvSpPr/>
          <p:nvPr/>
        </p:nvSpPr>
        <p:spPr>
          <a:xfrm>
            <a:off x="450890" y="999887"/>
            <a:ext cx="13728621" cy="206097"/>
          </a:xfrm>
          <a:prstGeom prst="rect">
            <a:avLst/>
          </a:prstGeom>
          <a:noFill/>
        </p:spPr>
        <p:txBody>
          <a:bodyPr wrap="none" lIns="0" tIns="0" rIns="0" bIns="0" rtlCol="0" anchor="t"/>
          <a:lstStyle/>
          <a:p>
            <a:pPr marL="0" indent="0" algn="l">
              <a:lnSpc>
                <a:spcPts val="1600"/>
              </a:lnSpc>
              <a:buNone/>
            </a:pPr>
            <a:r>
              <a:rPr lang="en-US" sz="1000" dirty="0">
                <a:solidFill>
                  <a:srgbClr val="00002E"/>
                </a:solidFill>
                <a:latin typeface="PT Sans" panose="020B0503020203020204" pitchFamily="34" charset="0"/>
                <a:ea typeface="PT Sans" panose="020B0503020203020204" pitchFamily="34" charset="-122"/>
                <a:cs typeface="PT Sans" panose="020B0503020203020204" pitchFamily="34" charset="-120"/>
              </a:rPr>
              <a:t>This animated showcase demonstrates the seamless user experience of our DoraBlog platform! Our UI design is inspired by Doraemon and its wonderful world: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450890" y="1350883"/>
            <a:ext cx="13728621" cy="206097"/>
          </a:xfrm>
          <a:prstGeom prst="rect">
            <a:avLst/>
          </a:prstGeom>
          <a:noFill/>
        </p:spPr>
        <p:txBody>
          <a:bodyPr wrap="none" lIns="0" tIns="0" rIns="0" bIns="0" rtlCol="0" anchor="t"/>
          <a:lstStyle/>
          <a:p>
            <a:pPr marL="0" indent="0" algn="l">
              <a:lnSpc>
                <a:spcPts val="1600"/>
              </a:lnSpc>
              <a:buNone/>
            </a:pPr>
            <a:endParaRPr lang="en-US" sz="1000" dirty="0"/>
          </a:p>
        </p:txBody>
      </p:sp>
      <p:sp>
        <p:nvSpPr>
          <p:cNvPr id="6" name="Shape 3"/>
          <p:cNvSpPr/>
          <p:nvPr/>
        </p:nvSpPr>
        <p:spPr>
          <a:xfrm>
            <a:off x="450890" y="5242917"/>
            <a:ext cx="289798" cy="289798"/>
          </a:xfrm>
          <a:prstGeom prst="roundRect">
            <a:avLst>
              <a:gd name="adj" fmla="val 66681"/>
            </a:avLst>
          </a:prstGeom>
          <a:solidFill>
            <a:srgbClr val="F3F3FF"/>
          </a:solidFill>
          <a:ln w="15240">
            <a:solidFill>
              <a:srgbClr val="2D4DF2"/>
            </a:solidFill>
            <a:prstDash val="solid"/>
          </a:ln>
        </p:spPr>
      </p:sp>
      <p:sp>
        <p:nvSpPr>
          <p:cNvPr id="7" name="Text 4"/>
          <p:cNvSpPr/>
          <p:nvPr/>
        </p:nvSpPr>
        <p:spPr>
          <a:xfrm>
            <a:off x="869513" y="5287089"/>
            <a:ext cx="1755219" cy="189428"/>
          </a:xfrm>
          <a:prstGeom prst="rect">
            <a:avLst/>
          </a:prstGeom>
          <a:noFill/>
        </p:spPr>
        <p:txBody>
          <a:bodyPr wrap="none" lIns="0" tIns="0" rIns="0" bIns="0" rtlCol="0" anchor="t"/>
          <a:lstStyle/>
          <a:p>
            <a:pPr marL="0" indent="0" algn="l">
              <a:lnSpc>
                <a:spcPts val="1450"/>
              </a:lnSpc>
              <a:buNone/>
            </a:pPr>
            <a:r>
              <a:rPr lang="en-US" sz="1150" dirty="0">
                <a:solidFill>
                  <a:srgbClr val="000000"/>
                </a:solidFill>
                <a:latin typeface="Nunito Semi Bold" pitchFamily="34" charset="0"/>
                <a:ea typeface="Nunito Semi Bold" pitchFamily="34" charset="-122"/>
                <a:cs typeface="Nunito Semi Bold" pitchFamily="34" charset="-120"/>
              </a:rPr>
              <a:t>✨</a:t>
            </a:r>
            <a:r>
              <a:rPr lang="en-US" sz="1150" dirty="0">
                <a:solidFill>
                  <a:srgbClr val="00002E"/>
                </a:solidFill>
                <a:latin typeface="Nunito Semi Bold" pitchFamily="34" charset="0"/>
                <a:ea typeface="Nunito Semi Bold" pitchFamily="34" charset="-122"/>
                <a:cs typeface="Nunito Semi Bold" pitchFamily="34" charset="-120"/>
              </a:rPr>
              <a:t> Clean, Modern Design</a:t>
            </a:r>
            <a:endParaRPr lang="en-US" sz="1150" dirty="0"/>
          </a:p>
        </p:txBody>
      </p:sp>
      <p:sp>
        <p:nvSpPr>
          <p:cNvPr id="8" name="Text 5"/>
          <p:cNvSpPr/>
          <p:nvPr/>
        </p:nvSpPr>
        <p:spPr>
          <a:xfrm>
            <a:off x="869513" y="5553789"/>
            <a:ext cx="13309997" cy="206097"/>
          </a:xfrm>
          <a:prstGeom prst="rect">
            <a:avLst/>
          </a:prstGeom>
          <a:noFill/>
        </p:spPr>
        <p:txBody>
          <a:bodyPr wrap="none" lIns="0" tIns="0" rIns="0" bIns="0" rtlCol="0" anchor="t"/>
          <a:lstStyle/>
          <a:p>
            <a:pPr marL="0" indent="0" algn="l">
              <a:lnSpc>
                <a:spcPts val="1600"/>
              </a:lnSpc>
              <a:buNone/>
            </a:pPr>
            <a:r>
              <a:rPr lang="en-US" sz="1000" dirty="0">
                <a:solidFill>
                  <a:srgbClr val="00002E"/>
                </a:solidFill>
                <a:latin typeface="PT Sans" panose="020B0503020203020204" pitchFamily="34" charset="0"/>
                <a:ea typeface="PT Sans" panose="020B0503020203020204" pitchFamily="34" charset="-122"/>
                <a:cs typeface="PT Sans" panose="020B0503020203020204" pitchFamily="34" charset="-120"/>
              </a:rPr>
              <a:t>Inspired by Doraemon's friendly and approachable aesthetic</a:t>
            </a:r>
            <a:endParaRPr lang="en-US" sz="1000" dirty="0"/>
          </a:p>
        </p:txBody>
      </p:sp>
      <p:sp>
        <p:nvSpPr>
          <p:cNvPr id="9" name="Shape 6"/>
          <p:cNvSpPr/>
          <p:nvPr/>
        </p:nvSpPr>
        <p:spPr>
          <a:xfrm>
            <a:off x="450890" y="6017538"/>
            <a:ext cx="289798" cy="289798"/>
          </a:xfrm>
          <a:prstGeom prst="roundRect">
            <a:avLst>
              <a:gd name="adj" fmla="val 66681"/>
            </a:avLst>
          </a:prstGeom>
          <a:solidFill>
            <a:srgbClr val="F3F3FF"/>
          </a:solidFill>
          <a:ln w="15240">
            <a:solidFill>
              <a:srgbClr val="018CE1"/>
            </a:solidFill>
            <a:prstDash val="solid"/>
          </a:ln>
        </p:spPr>
      </p:sp>
      <p:sp>
        <p:nvSpPr>
          <p:cNvPr id="10" name="Text 7"/>
          <p:cNvSpPr/>
          <p:nvPr/>
        </p:nvSpPr>
        <p:spPr>
          <a:xfrm>
            <a:off x="869513" y="6061710"/>
            <a:ext cx="1573054" cy="189428"/>
          </a:xfrm>
          <a:prstGeom prst="rect">
            <a:avLst/>
          </a:prstGeom>
          <a:noFill/>
        </p:spPr>
        <p:txBody>
          <a:bodyPr wrap="none" lIns="0" tIns="0" rIns="0" bIns="0" rtlCol="0" anchor="t"/>
          <a:lstStyle/>
          <a:p>
            <a:pPr marL="0" indent="0" algn="l">
              <a:lnSpc>
                <a:spcPts val="1450"/>
              </a:lnSpc>
              <a:buNone/>
            </a:pPr>
            <a:r>
              <a:rPr lang="en-US" sz="1150" dirty="0">
                <a:solidFill>
                  <a:srgbClr val="000000"/>
                </a:solidFill>
                <a:latin typeface="Nunito Semi Bold" pitchFamily="34" charset="0"/>
                <a:ea typeface="Nunito Semi Bold" pitchFamily="34" charset="-122"/>
                <a:cs typeface="Nunito Semi Bold" pitchFamily="34" charset="-120"/>
              </a:rPr>
              <a:t>🎨</a:t>
            </a:r>
            <a:r>
              <a:rPr lang="en-US" sz="1150" dirty="0">
                <a:solidFill>
                  <a:srgbClr val="00002E"/>
                </a:solidFill>
                <a:latin typeface="Nunito Semi Bold" pitchFamily="34" charset="0"/>
                <a:ea typeface="Nunito Semi Bold" pitchFamily="34" charset="-122"/>
                <a:cs typeface="Nunito Semi Bold" pitchFamily="34" charset="-120"/>
              </a:rPr>
              <a:t> Intuitive Navigation</a:t>
            </a:r>
            <a:endParaRPr lang="en-US" sz="1150" dirty="0"/>
          </a:p>
        </p:txBody>
      </p:sp>
      <p:sp>
        <p:nvSpPr>
          <p:cNvPr id="11" name="Text 8"/>
          <p:cNvSpPr/>
          <p:nvPr/>
        </p:nvSpPr>
        <p:spPr>
          <a:xfrm>
            <a:off x="869513" y="6328410"/>
            <a:ext cx="13309997" cy="206097"/>
          </a:xfrm>
          <a:prstGeom prst="rect">
            <a:avLst/>
          </a:prstGeom>
          <a:noFill/>
        </p:spPr>
        <p:txBody>
          <a:bodyPr wrap="none" lIns="0" tIns="0" rIns="0" bIns="0" rtlCol="0" anchor="t"/>
          <a:lstStyle/>
          <a:p>
            <a:pPr marL="0" indent="0" algn="l">
              <a:lnSpc>
                <a:spcPts val="1600"/>
              </a:lnSpc>
              <a:buNone/>
            </a:pPr>
            <a:r>
              <a:rPr lang="en-US" sz="1000" dirty="0">
                <a:solidFill>
                  <a:srgbClr val="00002E"/>
                </a:solidFill>
                <a:latin typeface="PT Sans" panose="020B0503020203020204" pitchFamily="34" charset="0"/>
                <a:ea typeface="PT Sans" panose="020B0503020203020204" pitchFamily="34" charset="-122"/>
                <a:cs typeface="PT Sans" panose="020B0503020203020204" pitchFamily="34" charset="-120"/>
              </a:rPr>
              <a:t>Easy-to-use interface that makes blogging feel like magic</a:t>
            </a:r>
            <a:endParaRPr lang="en-US" sz="1000" dirty="0"/>
          </a:p>
        </p:txBody>
      </p:sp>
      <p:sp>
        <p:nvSpPr>
          <p:cNvPr id="12" name="Shape 9"/>
          <p:cNvSpPr/>
          <p:nvPr/>
        </p:nvSpPr>
        <p:spPr>
          <a:xfrm>
            <a:off x="450890" y="6792158"/>
            <a:ext cx="289798" cy="289798"/>
          </a:xfrm>
          <a:prstGeom prst="roundRect">
            <a:avLst>
              <a:gd name="adj" fmla="val 66681"/>
            </a:avLst>
          </a:prstGeom>
          <a:solidFill>
            <a:srgbClr val="F3F3FF"/>
          </a:solidFill>
          <a:ln w="15240">
            <a:solidFill>
              <a:srgbClr val="DA33BF"/>
            </a:solidFill>
            <a:prstDash val="solid"/>
          </a:ln>
        </p:spPr>
      </p:sp>
      <p:sp>
        <p:nvSpPr>
          <p:cNvPr id="13" name="Text 10"/>
          <p:cNvSpPr/>
          <p:nvPr/>
        </p:nvSpPr>
        <p:spPr>
          <a:xfrm>
            <a:off x="869513" y="6836331"/>
            <a:ext cx="1523643" cy="189428"/>
          </a:xfrm>
          <a:prstGeom prst="rect">
            <a:avLst/>
          </a:prstGeom>
          <a:noFill/>
        </p:spPr>
        <p:txBody>
          <a:bodyPr wrap="none" lIns="0" tIns="0" rIns="0" bIns="0" rtlCol="0" anchor="t"/>
          <a:lstStyle/>
          <a:p>
            <a:pPr marL="0" indent="0" algn="l">
              <a:lnSpc>
                <a:spcPts val="1450"/>
              </a:lnSpc>
              <a:buNone/>
            </a:pPr>
            <a:r>
              <a:rPr lang="en-US" sz="1150" dirty="0">
                <a:solidFill>
                  <a:srgbClr val="000000"/>
                </a:solidFill>
                <a:latin typeface="Nunito Semi Bold" pitchFamily="34" charset="0"/>
                <a:ea typeface="Nunito Semi Bold" pitchFamily="34" charset="-122"/>
                <a:cs typeface="Nunito Semi Bold" pitchFamily="34" charset="-120"/>
              </a:rPr>
              <a:t>🎯</a:t>
            </a:r>
            <a:r>
              <a:rPr lang="en-US" sz="1150" dirty="0">
                <a:solidFill>
                  <a:srgbClr val="00002E"/>
                </a:solidFill>
                <a:latin typeface="Nunito Semi Bold" pitchFamily="34" charset="0"/>
                <a:ea typeface="Nunito Semi Bold" pitchFamily="34" charset="-122"/>
                <a:cs typeface="Nunito Semi Bold" pitchFamily="34" charset="-120"/>
              </a:rPr>
              <a:t> Responsive Layout</a:t>
            </a:r>
            <a:endParaRPr lang="en-US" sz="1150" dirty="0"/>
          </a:p>
        </p:txBody>
      </p:sp>
      <p:sp>
        <p:nvSpPr>
          <p:cNvPr id="14" name="Text 11"/>
          <p:cNvSpPr/>
          <p:nvPr/>
        </p:nvSpPr>
        <p:spPr>
          <a:xfrm>
            <a:off x="869513" y="7103031"/>
            <a:ext cx="13309997" cy="206097"/>
          </a:xfrm>
          <a:prstGeom prst="rect">
            <a:avLst/>
          </a:prstGeom>
          <a:noFill/>
        </p:spPr>
        <p:txBody>
          <a:bodyPr wrap="none" lIns="0" tIns="0" rIns="0" bIns="0" rtlCol="0" anchor="t"/>
          <a:lstStyle/>
          <a:p>
            <a:pPr marL="0" indent="0" algn="l">
              <a:lnSpc>
                <a:spcPts val="1600"/>
              </a:lnSpc>
              <a:buNone/>
            </a:pPr>
            <a:r>
              <a:rPr lang="en-US" sz="1000" dirty="0">
                <a:solidFill>
                  <a:srgbClr val="00002E"/>
                </a:solidFill>
                <a:latin typeface="PT Sans" panose="020B0503020203020204" pitchFamily="34" charset="0"/>
                <a:ea typeface="PT Sans" panose="020B0503020203020204" pitchFamily="34" charset="-122"/>
                <a:cs typeface="PT Sans" panose="020B0503020203020204" pitchFamily="34" charset="-120"/>
              </a:rPr>
              <a:t>Perfect experience across all devices</a:t>
            </a:r>
            <a:endParaRPr lang="en-US" sz="1000" dirty="0"/>
          </a:p>
        </p:txBody>
      </p:sp>
      <p:sp>
        <p:nvSpPr>
          <p:cNvPr id="15" name="Text 12"/>
          <p:cNvSpPr/>
          <p:nvPr/>
        </p:nvSpPr>
        <p:spPr>
          <a:xfrm>
            <a:off x="450890" y="7454027"/>
            <a:ext cx="13728621" cy="412194"/>
          </a:xfrm>
          <a:prstGeom prst="rect">
            <a:avLst/>
          </a:prstGeom>
          <a:noFill/>
        </p:spPr>
        <p:txBody>
          <a:bodyPr wrap="square" lIns="0" tIns="0" rIns="0" bIns="0" rtlCol="0" anchor="t"/>
          <a:lstStyle/>
          <a:p>
            <a:pPr marL="0" indent="0" algn="l">
              <a:lnSpc>
                <a:spcPts val="1600"/>
              </a:lnSpc>
              <a:buNone/>
            </a:pPr>
            <a:r>
              <a:rPr lang="en-US" sz="1000" dirty="0">
                <a:solidFill>
                  <a:srgbClr val="00002E"/>
                </a:solidFill>
                <a:latin typeface="PT Sans" panose="020B0503020203020204" pitchFamily="34" charset="0"/>
                <a:ea typeface="PT Sans" panose="020B0503020203020204" pitchFamily="34" charset="-122"/>
                <a:cs typeface="PT Sans" panose="020B0503020203020204" pitchFamily="34" charset="-120"/>
              </a:rPr>
              <a:t>The GIF showcases our "Anywhere Door" approach to user experience - making every interaction smooth, delightful, and as easy as pulling a gadget from Doraemon's pocket! From creating articles to engaging with content, every feature is designed with user joy in mind.</a:t>
            </a:r>
            <a:endParaRPr lang="en-US" sz="1000" dirty="0"/>
          </a:p>
        </p:txBody>
      </p:sp>
      <p:pic>
        <p:nvPicPr>
          <p:cNvPr id="16" name="图片 15" descr="2025-11-06 01.26.28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493135" y="1311910"/>
            <a:ext cx="7337425" cy="4135755"/>
          </a:xfrm>
          <a:prstGeom prst="rect">
            <a:avLst/>
          </a:prstGeom>
        </p:spPr>
      </p:pic>
    </p:spTree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med" p14:dur="700">
        <p:fade/>
      </p:transition>
    </mc:Choice>
    <mc:Fallback>
      <p:transition spd="med">
        <p:fade/>
      </p:transition>
    </mc:Fallback>
  </mc:AlternateContent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4706" y="511850"/>
            <a:ext cx="5035987" cy="424101"/>
          </a:xfrm>
          <a:prstGeom prst="rect">
            <a:avLst/>
          </a:prstGeom>
          <a:noFill/>
        </p:spPr>
        <p:txBody>
          <a:bodyPr wrap="none" lIns="0" tIns="0" rIns="0" bIns="0" rtlCol="0" anchor="t"/>
          <a:lstStyle/>
          <a:p>
            <a:pPr marL="0" indent="0" algn="l">
              <a:lnSpc>
                <a:spcPts val="3300"/>
              </a:lnSpc>
              <a:buNone/>
            </a:pPr>
            <a:r>
              <a:rPr lang="en-US" sz="2650" dirty="0">
                <a:solidFill>
                  <a:srgbClr val="00002E"/>
                </a:solidFill>
                <a:latin typeface="Nunito Semi Bold" pitchFamily="34" charset="0"/>
                <a:ea typeface="Nunito Semi Bold" pitchFamily="34" charset="-122"/>
                <a:cs typeface="Nunito Semi Bold" pitchFamily="34" charset="-120"/>
              </a:rPr>
              <a:t>DoraBlog Architecture Overview</a:t>
            </a:r>
            <a:endParaRPr lang="en-US" sz="2650" dirty="0"/>
          </a:p>
        </p:txBody>
      </p:sp>
      <p:pic>
        <p:nvPicPr>
          <p:cNvPr id="3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650694" y="1224320"/>
            <a:ext cx="7328892" cy="5639395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504706" y="7025878"/>
            <a:ext cx="13620988" cy="691872"/>
          </a:xfrm>
          <a:prstGeom prst="rect">
            <a:avLst/>
          </a:prstGeom>
          <a:noFill/>
        </p:spPr>
        <p:txBody>
          <a:bodyPr wrap="square" lIns="0" tIns="0" rIns="0" bIns="0" rtlCol="0" anchor="t"/>
          <a:lstStyle/>
          <a:p>
            <a:pPr marL="0" indent="0" algn="l">
              <a:lnSpc>
                <a:spcPts val="1800"/>
              </a:lnSpc>
              <a:buNone/>
            </a:pPr>
            <a:r>
              <a:rPr lang="en-US" sz="1100" dirty="0">
                <a:solidFill>
                  <a:srgbClr val="00002E"/>
                </a:solidFill>
                <a:latin typeface="PT Sans" panose="020B0503020203020204" pitchFamily="34" charset="0"/>
                <a:ea typeface="PT Sans" panose="020B0503020203020204" pitchFamily="34" charset="-122"/>
                <a:cs typeface="PT Sans" panose="020B0503020203020204" pitchFamily="34" charset="-120"/>
              </a:rPr>
              <a:t>Just like Doraemon's complex internal wiring, our DoraBlog has a cleverly designed architecture! This diagram is your </a:t>
            </a:r>
            <a:r>
              <a:rPr lang="en-US" sz="1100" b="1" dirty="0">
                <a:solidFill>
                  <a:srgbClr val="00002E"/>
                </a:solidFill>
                <a:latin typeface="PT Sans" panose="020B0503020203020204" pitchFamily="34" charset="0"/>
                <a:ea typeface="PT Sans" panose="020B0503020203020204" pitchFamily="34" charset="-122"/>
                <a:cs typeface="PT Sans" panose="020B0503020203020204" pitchFamily="34" charset="-120"/>
              </a:rPr>
              <a:t>"Time Machine"</a:t>
            </a:r>
            <a:r>
              <a:rPr lang="en-US" sz="1100" dirty="0">
                <a:solidFill>
                  <a:srgbClr val="00002E"/>
                </a:solidFill>
                <a:latin typeface="PT Sans" panose="020B0503020203020204" pitchFamily="34" charset="0"/>
                <a:ea typeface="PT Sans" panose="020B0503020203020204" pitchFamily="34" charset="-122"/>
                <a:cs typeface="PT Sans" panose="020B0503020203020204" pitchFamily="34" charset="-120"/>
              </a:rPr>
              <a:t> to understanding how all the magic happens. It clearly illustrates the interconnected components of our blogging platform: the front end is designed into home, articles, articleDetail and login, 4 main part. The Java admin follows MVC design pattern. The APIs consist of 4 part and get data by DAOs and pack the data up to front end. The Database is designed to 5 main tables and 3 relation tables, ArticleImg, ArticleLike and ArticleTag</a:t>
            </a:r>
            <a:endParaRPr lang="en-US" sz="1100" dirty="0"/>
          </a:p>
        </p:txBody>
      </p:sp>
    </p:spTree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med" p14:dur="700">
        <p:fade/>
      </p:transition>
    </mc:Choice>
    <mc:Fallback>
      <p:transition spd="med">
        <p:fade/>
      </p:transition>
    </mc:Fallback>
  </mc:AlternateContent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6140" y="544830"/>
            <a:ext cx="10618946" cy="458986"/>
          </a:xfrm>
          <a:prstGeom prst="rect">
            <a:avLst/>
          </a:prstGeom>
          <a:noFill/>
        </p:spPr>
        <p:txBody>
          <a:bodyPr wrap="none" lIns="0" tIns="0" rIns="0" bIns="0" rtlCol="0" anchor="t"/>
          <a:lstStyle/>
          <a:p>
            <a:pPr marL="0" indent="0" algn="l">
              <a:lnSpc>
                <a:spcPts val="3600"/>
              </a:lnSpc>
              <a:buNone/>
            </a:pPr>
            <a:r>
              <a:rPr lang="en-US" sz="2850" dirty="0">
                <a:solidFill>
                  <a:srgbClr val="00002E"/>
                </a:solidFill>
                <a:latin typeface="Nunito Semi Bold" pitchFamily="34" charset="0"/>
                <a:ea typeface="Nunito Semi Bold" pitchFamily="34" charset="-122"/>
                <a:cs typeface="Nunito Semi Bold" pitchFamily="34" charset="-120"/>
              </a:rPr>
              <a:t>Doraemon's Time Machine: Project Timeline &amp; Agile Adventure!</a:t>
            </a:r>
            <a:endParaRPr lang="en-US" sz="2850" dirty="0"/>
          </a:p>
        </p:txBody>
      </p:sp>
      <p:sp>
        <p:nvSpPr>
          <p:cNvPr id="3" name="Text 1"/>
          <p:cNvSpPr/>
          <p:nvPr/>
        </p:nvSpPr>
        <p:spPr>
          <a:xfrm>
            <a:off x="546140" y="1315879"/>
            <a:ext cx="13538121" cy="499348"/>
          </a:xfrm>
          <a:prstGeom prst="rect">
            <a:avLst/>
          </a:prstGeom>
          <a:noFill/>
        </p:spPr>
        <p:txBody>
          <a:bodyPr wrap="square" lIns="0" tIns="0" rIns="0" bIns="0" rtlCol="0" anchor="t"/>
          <a:lstStyle/>
          <a:p>
            <a:pPr marL="0" indent="0" algn="l">
              <a:lnSpc>
                <a:spcPts val="1950"/>
              </a:lnSpc>
              <a:buNone/>
            </a:pPr>
            <a:r>
              <a:rPr lang="en-US" sz="1200" dirty="0">
                <a:solidFill>
                  <a:srgbClr val="00002E"/>
                </a:solidFill>
                <a:latin typeface="PT Sans" panose="020B0503020203020204" pitchFamily="34" charset="0"/>
                <a:ea typeface="PT Sans" panose="020B0503020203020204" pitchFamily="34" charset="-122"/>
                <a:cs typeface="PT Sans" panose="020B0503020203020204" pitchFamily="34" charset="-120"/>
              </a:rPr>
              <a:t>Our team developed the whole project using </a:t>
            </a:r>
            <a:r>
              <a:rPr lang="en-US" sz="1200" b="1" dirty="0">
                <a:solidFill>
                  <a:srgbClr val="00002E"/>
                </a:solidFill>
                <a:latin typeface="PT Sans" panose="020B0503020203020204" pitchFamily="34" charset="0"/>
                <a:ea typeface="PT Sans" panose="020B0503020203020204" pitchFamily="34" charset="-122"/>
                <a:cs typeface="PT Sans" panose="020B0503020203020204" pitchFamily="34" charset="-120"/>
              </a:rPr>
              <a:t>agile development</a:t>
            </a:r>
            <a:r>
              <a:rPr lang="en-US" sz="1200" dirty="0">
                <a:solidFill>
                  <a:srgbClr val="00002E"/>
                </a:solidFill>
                <a:latin typeface="PT Sans" panose="020B0503020203020204" pitchFamily="34" charset="0"/>
                <a:ea typeface="PT Sans" panose="020B0503020203020204" pitchFamily="34" charset="-122"/>
                <a:cs typeface="PT Sans" panose="020B0503020203020204" pitchFamily="34" charset="-120"/>
              </a:rPr>
              <a:t> methods. There is a short meeting to discuss current progress and problems every morning. Besides, Kanban board is used to assign and record our tasks, which is divided into small pieces.</a:t>
            </a:r>
            <a:endParaRPr lang="en-US" sz="1200" dirty="0"/>
          </a:p>
        </p:txBody>
      </p:sp>
      <p:sp>
        <p:nvSpPr>
          <p:cNvPr id="4" name="Shape 2"/>
          <p:cNvSpPr/>
          <p:nvPr/>
        </p:nvSpPr>
        <p:spPr>
          <a:xfrm>
            <a:off x="7303770" y="1990725"/>
            <a:ext cx="22860" cy="5268754"/>
          </a:xfrm>
          <a:prstGeom prst="roundRect">
            <a:avLst>
              <a:gd name="adj" fmla="val 1023892"/>
            </a:avLst>
          </a:prstGeom>
          <a:solidFill>
            <a:srgbClr val="000000">
              <a:alpha val="8000"/>
            </a:srgbClr>
          </a:solidFill>
        </p:spPr>
      </p:sp>
      <p:sp>
        <p:nvSpPr>
          <p:cNvPr id="5" name="Shape 3"/>
          <p:cNvSpPr/>
          <p:nvPr/>
        </p:nvSpPr>
        <p:spPr>
          <a:xfrm>
            <a:off x="7025997" y="2154793"/>
            <a:ext cx="312063" cy="22860"/>
          </a:xfrm>
          <a:prstGeom prst="roundRect">
            <a:avLst>
              <a:gd name="adj" fmla="val 1023892"/>
            </a:avLst>
          </a:prstGeom>
          <a:solidFill>
            <a:srgbClr val="4666FF"/>
          </a:solidFill>
        </p:spPr>
      </p:sp>
      <p:sp>
        <p:nvSpPr>
          <p:cNvPr id="6" name="Shape 4"/>
          <p:cNvSpPr/>
          <p:nvPr/>
        </p:nvSpPr>
        <p:spPr>
          <a:xfrm>
            <a:off x="7256740" y="2107763"/>
            <a:ext cx="116919" cy="116919"/>
          </a:xfrm>
          <a:prstGeom prst="roundRect">
            <a:avLst>
              <a:gd name="adj" fmla="val 391040"/>
            </a:avLst>
          </a:prstGeom>
          <a:solidFill>
            <a:srgbClr val="2D4DF2"/>
          </a:solidFill>
        </p:spPr>
      </p:sp>
      <p:sp>
        <p:nvSpPr>
          <p:cNvPr id="7" name="Text 5"/>
          <p:cNvSpPr/>
          <p:nvPr/>
        </p:nvSpPr>
        <p:spPr>
          <a:xfrm>
            <a:off x="3409831" y="2044303"/>
            <a:ext cx="3281243" cy="237053"/>
          </a:xfrm>
          <a:prstGeom prst="rect">
            <a:avLst/>
          </a:prstGeom>
          <a:noFill/>
        </p:spPr>
        <p:txBody>
          <a:bodyPr wrap="none" lIns="0" tIns="0" rIns="0" bIns="0" rtlCol="0" anchor="t"/>
          <a:lstStyle/>
          <a:p>
            <a:pPr marL="0" indent="0" algn="r">
              <a:lnSpc>
                <a:spcPts val="1800"/>
              </a:lnSpc>
              <a:buNone/>
            </a:pPr>
            <a:r>
              <a:rPr lang="en-US" sz="1400" dirty="0">
                <a:solidFill>
                  <a:srgbClr val="00002E"/>
                </a:solidFill>
                <a:latin typeface="Nunito Semi Bold" pitchFamily="34" charset="0"/>
                <a:ea typeface="Nunito Semi Bold" pitchFamily="34" charset="-122"/>
                <a:cs typeface="Nunito Semi Bold" pitchFamily="34" charset="-120"/>
              </a:rPr>
              <a:t>Days 1-2: Blueprint &amp; Design Phase </a:t>
            </a:r>
            <a:r>
              <a:rPr lang="en-US" sz="1400" dirty="0">
                <a:solidFill>
                  <a:srgbClr val="000000"/>
                </a:solidFill>
                <a:latin typeface="Nunito Semi Bold" pitchFamily="34" charset="0"/>
                <a:ea typeface="Nunito Semi Bold" pitchFamily="34" charset="-122"/>
                <a:cs typeface="Nunito Semi Bold" pitchFamily="34" charset="-120"/>
              </a:rPr>
              <a:t>🎨</a:t>
            </a:r>
            <a:endParaRPr lang="en-US" sz="1400" dirty="0"/>
          </a:p>
        </p:txBody>
      </p:sp>
      <p:sp>
        <p:nvSpPr>
          <p:cNvPr id="8" name="Text 6"/>
          <p:cNvSpPr/>
          <p:nvPr/>
        </p:nvSpPr>
        <p:spPr>
          <a:xfrm>
            <a:off x="546140" y="2374940"/>
            <a:ext cx="6144935" cy="499348"/>
          </a:xfrm>
          <a:prstGeom prst="rect">
            <a:avLst/>
          </a:prstGeom>
          <a:noFill/>
        </p:spPr>
        <p:txBody>
          <a:bodyPr wrap="square" lIns="0" tIns="0" rIns="0" bIns="0" rtlCol="0" anchor="t"/>
          <a:lstStyle/>
          <a:p>
            <a:pPr marL="342900" indent="-342900" algn="l">
              <a:lnSpc>
                <a:spcPts val="1950"/>
              </a:lnSpc>
              <a:buSzPct val="100000"/>
              <a:buChar char="•"/>
            </a:pPr>
            <a:r>
              <a:rPr lang="en-US" sz="1200" dirty="0">
                <a:solidFill>
                  <a:srgbClr val="00002E"/>
                </a:solidFill>
                <a:latin typeface="PT Sans" panose="020B0503020203020204" pitchFamily="34" charset="0"/>
                <a:ea typeface="PT Sans" panose="020B0503020203020204" pitchFamily="34" charset="-122"/>
                <a:cs typeface="PT Sans" panose="020B0503020203020204" pitchFamily="34" charset="-120"/>
              </a:rPr>
              <a:t>Designed UI and decided the whole visual style (like choosing the perfect gadget design!)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546140" y="2928818"/>
            <a:ext cx="6144935" cy="249674"/>
          </a:xfrm>
          <a:prstGeom prst="rect">
            <a:avLst/>
          </a:prstGeom>
          <a:noFill/>
        </p:spPr>
        <p:txBody>
          <a:bodyPr wrap="none" lIns="0" tIns="0" rIns="0" bIns="0" rtlCol="0" anchor="t"/>
          <a:lstStyle/>
          <a:p>
            <a:pPr marL="342900" indent="-342900" algn="l">
              <a:lnSpc>
                <a:spcPts val="1950"/>
              </a:lnSpc>
              <a:buSzPct val="100000"/>
              <a:buChar char="•"/>
            </a:pPr>
            <a:r>
              <a:rPr lang="en-US" sz="1200" dirty="0">
                <a:solidFill>
                  <a:srgbClr val="00002E"/>
                </a:solidFill>
                <a:latin typeface="PT Sans" panose="020B0503020203020204" pitchFamily="34" charset="0"/>
                <a:ea typeface="PT Sans" panose="020B0503020203020204" pitchFamily="34" charset="-122"/>
                <a:cs typeface="PT Sans" panose="020B0503020203020204" pitchFamily="34" charset="-120"/>
              </a:rPr>
              <a:t>Created ER diagram and API architecture</a:t>
            </a:r>
            <a:endParaRPr lang="en-US" sz="1200" dirty="0"/>
          </a:p>
        </p:txBody>
      </p:sp>
      <p:sp>
        <p:nvSpPr>
          <p:cNvPr id="10" name="Text 8"/>
          <p:cNvSpPr/>
          <p:nvPr/>
        </p:nvSpPr>
        <p:spPr>
          <a:xfrm>
            <a:off x="546140" y="3233023"/>
            <a:ext cx="6144935" cy="249674"/>
          </a:xfrm>
          <a:prstGeom prst="rect">
            <a:avLst/>
          </a:prstGeom>
          <a:noFill/>
        </p:spPr>
        <p:txBody>
          <a:bodyPr wrap="none" lIns="0" tIns="0" rIns="0" bIns="0" rtlCol="0" anchor="t"/>
          <a:lstStyle/>
          <a:p>
            <a:pPr marL="342900" indent="-342900" algn="l">
              <a:lnSpc>
                <a:spcPts val="1950"/>
              </a:lnSpc>
              <a:buSzPct val="100000"/>
              <a:buChar char="•"/>
            </a:pPr>
            <a:r>
              <a:rPr lang="en-US" sz="1200" dirty="0">
                <a:solidFill>
                  <a:srgbClr val="00002E"/>
                </a:solidFill>
                <a:latin typeface="PT Sans" panose="020B0503020203020204" pitchFamily="34" charset="0"/>
                <a:ea typeface="PT Sans" panose="020B0503020203020204" pitchFamily="34" charset="-122"/>
                <a:cs typeface="PT Sans" panose="020B0503020203020204" pitchFamily="34" charset="-120"/>
              </a:rPr>
              <a:t>Developed comprehensive development plan and time management strategy</a:t>
            </a:r>
            <a:endParaRPr lang="en-US" sz="1200" dirty="0"/>
          </a:p>
        </p:txBody>
      </p:sp>
      <p:sp>
        <p:nvSpPr>
          <p:cNvPr id="11" name="Shape 9"/>
          <p:cNvSpPr/>
          <p:nvPr/>
        </p:nvSpPr>
        <p:spPr>
          <a:xfrm>
            <a:off x="7292340" y="3090982"/>
            <a:ext cx="312063" cy="22860"/>
          </a:xfrm>
          <a:prstGeom prst="roundRect">
            <a:avLst>
              <a:gd name="adj" fmla="val 1023892"/>
            </a:avLst>
          </a:prstGeom>
          <a:solidFill>
            <a:srgbClr val="1AA5FA"/>
          </a:solidFill>
        </p:spPr>
      </p:sp>
      <p:sp>
        <p:nvSpPr>
          <p:cNvPr id="12" name="Shape 10"/>
          <p:cNvSpPr/>
          <p:nvPr/>
        </p:nvSpPr>
        <p:spPr>
          <a:xfrm>
            <a:off x="7256740" y="3043952"/>
            <a:ext cx="116919" cy="116919"/>
          </a:xfrm>
          <a:prstGeom prst="roundRect">
            <a:avLst>
              <a:gd name="adj" fmla="val 391040"/>
            </a:avLst>
          </a:prstGeom>
          <a:solidFill>
            <a:srgbClr val="018CE1"/>
          </a:solidFill>
        </p:spPr>
      </p:sp>
      <p:sp>
        <p:nvSpPr>
          <p:cNvPr id="13" name="Text 11"/>
          <p:cNvSpPr/>
          <p:nvPr/>
        </p:nvSpPr>
        <p:spPr>
          <a:xfrm>
            <a:off x="7939326" y="2980492"/>
            <a:ext cx="2820829" cy="237053"/>
          </a:xfrm>
          <a:prstGeom prst="rect">
            <a:avLst/>
          </a:prstGeom>
          <a:noFill/>
        </p:spPr>
        <p:txBody>
          <a:bodyPr wrap="none" lIns="0" tIns="0" rIns="0" bIns="0" rtlCol="0" anchor="t"/>
          <a:lstStyle/>
          <a:p>
            <a:pPr marL="0" indent="0" algn="l">
              <a:lnSpc>
                <a:spcPts val="1800"/>
              </a:lnSpc>
              <a:buNone/>
            </a:pPr>
            <a:r>
              <a:rPr lang="en-US" sz="1400" dirty="0">
                <a:solidFill>
                  <a:srgbClr val="00002E"/>
                </a:solidFill>
                <a:latin typeface="Nunito Semi Bold" pitchFamily="34" charset="0"/>
                <a:ea typeface="Nunito Semi Bold" pitchFamily="34" charset="-122"/>
                <a:cs typeface="Nunito Semi Bold" pitchFamily="34" charset="-120"/>
              </a:rPr>
              <a:t>Days 3-4: Foundation Building </a:t>
            </a:r>
            <a:r>
              <a:rPr lang="en-US" sz="1400" dirty="0">
                <a:solidFill>
                  <a:srgbClr val="000000"/>
                </a:solidFill>
                <a:latin typeface="Nunito Semi Bold" pitchFamily="34" charset="0"/>
                <a:ea typeface="Nunito Semi Bold" pitchFamily="34" charset="-122"/>
                <a:cs typeface="Nunito Semi Bold" pitchFamily="34" charset="-120"/>
              </a:rPr>
              <a:t>🔧</a:t>
            </a:r>
            <a:endParaRPr lang="en-US" sz="1400" dirty="0"/>
          </a:p>
        </p:txBody>
      </p:sp>
      <p:sp>
        <p:nvSpPr>
          <p:cNvPr id="14" name="Text 12"/>
          <p:cNvSpPr/>
          <p:nvPr/>
        </p:nvSpPr>
        <p:spPr>
          <a:xfrm>
            <a:off x="7939326" y="3311128"/>
            <a:ext cx="6144935" cy="249674"/>
          </a:xfrm>
          <a:prstGeom prst="rect">
            <a:avLst/>
          </a:prstGeom>
          <a:noFill/>
        </p:spPr>
        <p:txBody>
          <a:bodyPr wrap="none" lIns="0" tIns="0" rIns="0" bIns="0" rtlCol="0" anchor="t"/>
          <a:lstStyle/>
          <a:p>
            <a:pPr marL="342900" indent="-342900" algn="l">
              <a:lnSpc>
                <a:spcPts val="1950"/>
              </a:lnSpc>
              <a:buSzPct val="100000"/>
              <a:buChar char="•"/>
            </a:pPr>
            <a:r>
              <a:rPr lang="en-US" sz="1200" dirty="0">
                <a:solidFill>
                  <a:srgbClr val="00002E"/>
                </a:solidFill>
                <a:latin typeface="PT Sans" panose="020B0503020203020204" pitchFamily="34" charset="0"/>
                <a:ea typeface="PT Sans" panose="020B0503020203020204" pitchFamily="34" charset="-122"/>
                <a:cs typeface="PT Sans" panose="020B0503020203020204" pitchFamily="34" charset="-120"/>
              </a:rPr>
              <a:t>Developed SQL database structure (our 4D Pocket storage system!)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7939326" y="3615333"/>
            <a:ext cx="6144935" cy="249674"/>
          </a:xfrm>
          <a:prstGeom prst="rect">
            <a:avLst/>
          </a:prstGeom>
          <a:noFill/>
        </p:spPr>
        <p:txBody>
          <a:bodyPr wrap="none" lIns="0" tIns="0" rIns="0" bIns="0" rtlCol="0" anchor="t"/>
          <a:lstStyle/>
          <a:p>
            <a:pPr marL="342900" indent="-342900" algn="l">
              <a:lnSpc>
                <a:spcPts val="1950"/>
              </a:lnSpc>
              <a:buSzPct val="100000"/>
              <a:buChar char="•"/>
            </a:pPr>
            <a:r>
              <a:rPr lang="en-US" sz="1200" dirty="0">
                <a:solidFill>
                  <a:srgbClr val="00002E"/>
                </a:solidFill>
                <a:latin typeface="PT Sans" panose="020B0503020203020204" pitchFamily="34" charset="0"/>
                <a:ea typeface="PT Sans" panose="020B0503020203020204" pitchFamily="34" charset="-122"/>
                <a:cs typeface="PT Sans" panose="020B0503020203020204" pitchFamily="34" charset="-120"/>
              </a:rPr>
              <a:t>Built most APIs (our Anywhere Door endpoints!)</a:t>
            </a:r>
            <a:endParaRPr lang="en-US" sz="1200" dirty="0"/>
          </a:p>
        </p:txBody>
      </p:sp>
      <p:sp>
        <p:nvSpPr>
          <p:cNvPr id="16" name="Text 14"/>
          <p:cNvSpPr/>
          <p:nvPr/>
        </p:nvSpPr>
        <p:spPr>
          <a:xfrm>
            <a:off x="7939326" y="3919538"/>
            <a:ext cx="6144935" cy="249674"/>
          </a:xfrm>
          <a:prstGeom prst="rect">
            <a:avLst/>
          </a:prstGeom>
          <a:noFill/>
        </p:spPr>
        <p:txBody>
          <a:bodyPr wrap="none" lIns="0" tIns="0" rIns="0" bIns="0" rtlCol="0" anchor="t"/>
          <a:lstStyle/>
          <a:p>
            <a:pPr marL="342900" indent="-342900" algn="l">
              <a:lnSpc>
                <a:spcPts val="1950"/>
              </a:lnSpc>
              <a:buSzPct val="100000"/>
              <a:buChar char="•"/>
            </a:pPr>
            <a:r>
              <a:rPr lang="en-US" sz="1200" dirty="0">
                <a:solidFill>
                  <a:srgbClr val="00002E"/>
                </a:solidFill>
                <a:latin typeface="PT Sans" panose="020B0503020203020204" pitchFamily="34" charset="0"/>
                <a:ea typeface="PT Sans" panose="020B0503020203020204" pitchFamily="34" charset="-122"/>
                <a:cs typeface="PT Sans" panose="020B0503020203020204" pitchFamily="34" charset="-120"/>
              </a:rPr>
              <a:t>Created static web pages: home, login, and article details</a:t>
            </a:r>
            <a:endParaRPr lang="en-US" sz="1200" dirty="0"/>
          </a:p>
        </p:txBody>
      </p:sp>
      <p:sp>
        <p:nvSpPr>
          <p:cNvPr id="17" name="Shape 15"/>
          <p:cNvSpPr/>
          <p:nvPr/>
        </p:nvSpPr>
        <p:spPr>
          <a:xfrm>
            <a:off x="7025997" y="3958828"/>
            <a:ext cx="312063" cy="22860"/>
          </a:xfrm>
          <a:prstGeom prst="roundRect">
            <a:avLst>
              <a:gd name="adj" fmla="val 1023892"/>
            </a:avLst>
          </a:prstGeom>
          <a:solidFill>
            <a:srgbClr val="F34CD8"/>
          </a:solidFill>
        </p:spPr>
      </p:sp>
      <p:sp>
        <p:nvSpPr>
          <p:cNvPr id="18" name="Shape 16"/>
          <p:cNvSpPr/>
          <p:nvPr/>
        </p:nvSpPr>
        <p:spPr>
          <a:xfrm>
            <a:off x="7256740" y="3911798"/>
            <a:ext cx="116919" cy="116919"/>
          </a:xfrm>
          <a:prstGeom prst="roundRect">
            <a:avLst>
              <a:gd name="adj" fmla="val 391040"/>
            </a:avLst>
          </a:prstGeom>
          <a:solidFill>
            <a:srgbClr val="DA33BF"/>
          </a:solidFill>
        </p:spPr>
      </p:sp>
      <p:sp>
        <p:nvSpPr>
          <p:cNvPr id="19" name="Text 17"/>
          <p:cNvSpPr/>
          <p:nvPr/>
        </p:nvSpPr>
        <p:spPr>
          <a:xfrm>
            <a:off x="4095869" y="3848338"/>
            <a:ext cx="2595205" cy="237053"/>
          </a:xfrm>
          <a:prstGeom prst="rect">
            <a:avLst/>
          </a:prstGeom>
          <a:noFill/>
        </p:spPr>
        <p:txBody>
          <a:bodyPr wrap="none" lIns="0" tIns="0" rIns="0" bIns="0" rtlCol="0" anchor="t"/>
          <a:lstStyle/>
          <a:p>
            <a:pPr marL="0" indent="0" algn="r">
              <a:lnSpc>
                <a:spcPts val="1800"/>
              </a:lnSpc>
              <a:buNone/>
            </a:pPr>
            <a:r>
              <a:rPr lang="en-US" sz="1400" dirty="0">
                <a:solidFill>
                  <a:srgbClr val="00002E"/>
                </a:solidFill>
                <a:latin typeface="Nunito Semi Bold" pitchFamily="34" charset="0"/>
                <a:ea typeface="Nunito Semi Bold" pitchFamily="34" charset="-122"/>
                <a:cs typeface="Nunito Semi Bold" pitchFamily="34" charset="-120"/>
              </a:rPr>
              <a:t>Days 5-7: Magic Integration </a:t>
            </a:r>
            <a:r>
              <a:rPr lang="en-US" sz="1400" dirty="0">
                <a:solidFill>
                  <a:srgbClr val="000000"/>
                </a:solidFill>
                <a:latin typeface="Nunito Semi Bold" pitchFamily="34" charset="0"/>
                <a:ea typeface="Nunito Semi Bold" pitchFamily="34" charset="-122"/>
                <a:cs typeface="Nunito Semi Bold" pitchFamily="34" charset="-120"/>
              </a:rPr>
              <a:t>✨</a:t>
            </a:r>
            <a:endParaRPr lang="en-US" sz="1400" dirty="0"/>
          </a:p>
        </p:txBody>
      </p:sp>
      <p:sp>
        <p:nvSpPr>
          <p:cNvPr id="20" name="Text 18"/>
          <p:cNvSpPr/>
          <p:nvPr/>
        </p:nvSpPr>
        <p:spPr>
          <a:xfrm>
            <a:off x="546140" y="4178975"/>
            <a:ext cx="6144935" cy="249674"/>
          </a:xfrm>
          <a:prstGeom prst="rect">
            <a:avLst/>
          </a:prstGeom>
          <a:noFill/>
        </p:spPr>
        <p:txBody>
          <a:bodyPr wrap="none" lIns="0" tIns="0" rIns="0" bIns="0" rtlCol="0" anchor="t"/>
          <a:lstStyle/>
          <a:p>
            <a:pPr marL="342900" indent="-342900" algn="l">
              <a:lnSpc>
                <a:spcPts val="1950"/>
              </a:lnSpc>
              <a:buSzPct val="100000"/>
              <a:buChar char="•"/>
            </a:pPr>
            <a:r>
              <a:rPr lang="en-US" sz="1200" dirty="0">
                <a:solidFill>
                  <a:srgbClr val="00002E"/>
                </a:solidFill>
                <a:latin typeface="PT Sans" panose="020B0503020203020204" pitchFamily="34" charset="0"/>
                <a:ea typeface="PT Sans" panose="020B0503020203020204" pitchFamily="34" charset="-122"/>
                <a:cs typeface="PT Sans" panose="020B0503020203020204" pitchFamily="34" charset="-120"/>
              </a:rPr>
              <a:t>Rendered pages with APIs (bringing our gadgets to life!)</a:t>
            </a:r>
            <a:endParaRPr lang="en-US" sz="1200" dirty="0"/>
          </a:p>
        </p:txBody>
      </p:sp>
      <p:sp>
        <p:nvSpPr>
          <p:cNvPr id="21" name="Text 19"/>
          <p:cNvSpPr/>
          <p:nvPr/>
        </p:nvSpPr>
        <p:spPr>
          <a:xfrm>
            <a:off x="546140" y="4483179"/>
            <a:ext cx="6144935" cy="249674"/>
          </a:xfrm>
          <a:prstGeom prst="rect">
            <a:avLst/>
          </a:prstGeom>
          <a:noFill/>
        </p:spPr>
        <p:txBody>
          <a:bodyPr wrap="none" lIns="0" tIns="0" rIns="0" bIns="0" rtlCol="0" anchor="t"/>
          <a:lstStyle/>
          <a:p>
            <a:pPr marL="342900" indent="-342900" algn="l">
              <a:lnSpc>
                <a:spcPts val="1950"/>
              </a:lnSpc>
              <a:buSzPct val="100000"/>
              <a:buChar char="•"/>
            </a:pPr>
            <a:r>
              <a:rPr lang="en-US" sz="1200" dirty="0">
                <a:solidFill>
                  <a:srgbClr val="00002E"/>
                </a:solidFill>
                <a:latin typeface="PT Sans" panose="020B0503020203020204" pitchFamily="34" charset="0"/>
                <a:ea typeface="PT Sans" panose="020B0503020203020204" pitchFamily="34" charset="-122"/>
                <a:cs typeface="PT Sans" panose="020B0503020203020204" pitchFamily="34" charset="-120"/>
              </a:rPr>
              <a:t>Added router jumping and navigation</a:t>
            </a:r>
            <a:endParaRPr lang="en-US" sz="1200" dirty="0"/>
          </a:p>
        </p:txBody>
      </p:sp>
      <p:sp>
        <p:nvSpPr>
          <p:cNvPr id="22" name="Text 20"/>
          <p:cNvSpPr/>
          <p:nvPr/>
        </p:nvSpPr>
        <p:spPr>
          <a:xfrm>
            <a:off x="546140" y="4787384"/>
            <a:ext cx="6144935" cy="249674"/>
          </a:xfrm>
          <a:prstGeom prst="rect">
            <a:avLst/>
          </a:prstGeom>
          <a:noFill/>
        </p:spPr>
        <p:txBody>
          <a:bodyPr wrap="none" lIns="0" tIns="0" rIns="0" bIns="0" rtlCol="0" anchor="t"/>
          <a:lstStyle/>
          <a:p>
            <a:pPr marL="342900" indent="-342900" algn="l">
              <a:lnSpc>
                <a:spcPts val="1950"/>
              </a:lnSpc>
              <a:buSzPct val="100000"/>
              <a:buChar char="•"/>
            </a:pPr>
            <a:r>
              <a:rPr lang="en-US" sz="1200" dirty="0">
                <a:solidFill>
                  <a:srgbClr val="00002E"/>
                </a:solidFill>
                <a:latin typeface="PT Sans" panose="020B0503020203020204" pitchFamily="34" charset="0"/>
                <a:ea typeface="PT Sans" panose="020B0503020203020204" pitchFamily="34" charset="-122"/>
                <a:cs typeface="PT Sans" panose="020B0503020203020204" pitchFamily="34" charset="-120"/>
              </a:rPr>
              <a:t>Implemented article editing features</a:t>
            </a:r>
            <a:endParaRPr lang="en-US" sz="1200" dirty="0"/>
          </a:p>
        </p:txBody>
      </p:sp>
      <p:sp>
        <p:nvSpPr>
          <p:cNvPr id="23" name="Text 21"/>
          <p:cNvSpPr/>
          <p:nvPr/>
        </p:nvSpPr>
        <p:spPr>
          <a:xfrm>
            <a:off x="546140" y="5091589"/>
            <a:ext cx="6144935" cy="249674"/>
          </a:xfrm>
          <a:prstGeom prst="rect">
            <a:avLst/>
          </a:prstGeom>
          <a:noFill/>
        </p:spPr>
        <p:txBody>
          <a:bodyPr wrap="none" lIns="0" tIns="0" rIns="0" bIns="0" rtlCol="0" anchor="t"/>
          <a:lstStyle/>
          <a:p>
            <a:pPr marL="342900" indent="-342900" algn="l">
              <a:lnSpc>
                <a:spcPts val="1950"/>
              </a:lnSpc>
              <a:buSzPct val="100000"/>
              <a:buChar char="•"/>
            </a:pPr>
            <a:r>
              <a:rPr lang="en-US" sz="1200" dirty="0">
                <a:solidFill>
                  <a:srgbClr val="00002E"/>
                </a:solidFill>
                <a:latin typeface="PT Sans" panose="020B0503020203020204" pitchFamily="34" charset="0"/>
                <a:ea typeface="PT Sans" panose="020B0503020203020204" pitchFamily="34" charset="-122"/>
                <a:cs typeface="PT Sans" panose="020B0503020203020204" pitchFamily="34" charset="-120"/>
              </a:rPr>
              <a:t>Added password hashing security</a:t>
            </a:r>
            <a:endParaRPr lang="en-US" sz="1200" dirty="0"/>
          </a:p>
        </p:txBody>
      </p:sp>
      <p:sp>
        <p:nvSpPr>
          <p:cNvPr id="24" name="Text 22"/>
          <p:cNvSpPr/>
          <p:nvPr/>
        </p:nvSpPr>
        <p:spPr>
          <a:xfrm>
            <a:off x="546140" y="5395793"/>
            <a:ext cx="6144935" cy="249674"/>
          </a:xfrm>
          <a:prstGeom prst="rect">
            <a:avLst/>
          </a:prstGeom>
          <a:noFill/>
        </p:spPr>
        <p:txBody>
          <a:bodyPr wrap="none" lIns="0" tIns="0" rIns="0" bIns="0" rtlCol="0" anchor="t"/>
          <a:lstStyle/>
          <a:p>
            <a:pPr marL="342900" indent="-342900" algn="l">
              <a:lnSpc>
                <a:spcPts val="1950"/>
              </a:lnSpc>
              <a:buSzPct val="100000"/>
              <a:buChar char="•"/>
            </a:pPr>
            <a:r>
              <a:rPr lang="en-US" sz="1200" dirty="0">
                <a:solidFill>
                  <a:srgbClr val="00002E"/>
                </a:solidFill>
                <a:latin typeface="PT Sans" panose="020B0503020203020204" pitchFamily="34" charset="0"/>
                <a:ea typeface="PT Sans" panose="020B0503020203020204" pitchFamily="34" charset="-122"/>
                <a:cs typeface="PT Sans" panose="020B0503020203020204" pitchFamily="34" charset="-120"/>
              </a:rPr>
              <a:t>Developed nesting comments system </a:t>
            </a:r>
            <a:endParaRPr lang="en-US" sz="1200" dirty="0"/>
          </a:p>
        </p:txBody>
      </p:sp>
      <p:sp>
        <p:nvSpPr>
          <p:cNvPr id="25" name="Shape 23"/>
          <p:cNvSpPr/>
          <p:nvPr/>
        </p:nvSpPr>
        <p:spPr>
          <a:xfrm>
            <a:off x="7292340" y="5040154"/>
            <a:ext cx="312063" cy="22860"/>
          </a:xfrm>
          <a:prstGeom prst="roundRect">
            <a:avLst>
              <a:gd name="adj" fmla="val 1023892"/>
            </a:avLst>
          </a:prstGeom>
          <a:solidFill>
            <a:srgbClr val="4666FF"/>
          </a:solidFill>
        </p:spPr>
      </p:sp>
      <p:sp>
        <p:nvSpPr>
          <p:cNvPr id="26" name="Shape 24"/>
          <p:cNvSpPr/>
          <p:nvPr/>
        </p:nvSpPr>
        <p:spPr>
          <a:xfrm>
            <a:off x="7256740" y="4993124"/>
            <a:ext cx="116919" cy="116919"/>
          </a:xfrm>
          <a:prstGeom prst="roundRect">
            <a:avLst>
              <a:gd name="adj" fmla="val 391040"/>
            </a:avLst>
          </a:prstGeom>
          <a:solidFill>
            <a:srgbClr val="2D4DF2"/>
          </a:solidFill>
        </p:spPr>
      </p:sp>
      <p:sp>
        <p:nvSpPr>
          <p:cNvPr id="27" name="Text 25"/>
          <p:cNvSpPr/>
          <p:nvPr/>
        </p:nvSpPr>
        <p:spPr>
          <a:xfrm>
            <a:off x="7939326" y="4929664"/>
            <a:ext cx="2908340" cy="237053"/>
          </a:xfrm>
          <a:prstGeom prst="rect">
            <a:avLst/>
          </a:prstGeom>
          <a:noFill/>
        </p:spPr>
        <p:txBody>
          <a:bodyPr wrap="none" lIns="0" tIns="0" rIns="0" bIns="0" rtlCol="0" anchor="t"/>
          <a:lstStyle/>
          <a:p>
            <a:pPr marL="0" indent="0" algn="l">
              <a:lnSpc>
                <a:spcPts val="1800"/>
              </a:lnSpc>
              <a:buNone/>
            </a:pPr>
            <a:r>
              <a:rPr lang="en-US" sz="1400" dirty="0">
                <a:solidFill>
                  <a:srgbClr val="00002E"/>
                </a:solidFill>
                <a:latin typeface="Nunito Semi Bold" pitchFamily="34" charset="0"/>
                <a:ea typeface="Nunito Semi Bold" pitchFamily="34" charset="-122"/>
                <a:cs typeface="Nunito Semi Bold" pitchFamily="34" charset="-120"/>
              </a:rPr>
              <a:t>Days 8-10: Advanced Gadgetry </a:t>
            </a:r>
            <a:r>
              <a:rPr lang="en-US" sz="1400" dirty="0">
                <a:solidFill>
                  <a:srgbClr val="000000"/>
                </a:solidFill>
                <a:latin typeface="Nunito Semi Bold" pitchFamily="34" charset="0"/>
                <a:ea typeface="Nunito Semi Bold" pitchFamily="34" charset="-122"/>
                <a:cs typeface="Nunito Semi Bold" pitchFamily="34" charset="-120"/>
              </a:rPr>
              <a:t>🚀</a:t>
            </a:r>
            <a:endParaRPr lang="en-US" sz="1400" dirty="0"/>
          </a:p>
        </p:txBody>
      </p:sp>
      <p:sp>
        <p:nvSpPr>
          <p:cNvPr id="28" name="Text 26"/>
          <p:cNvSpPr/>
          <p:nvPr/>
        </p:nvSpPr>
        <p:spPr>
          <a:xfrm>
            <a:off x="7939326" y="5260300"/>
            <a:ext cx="6144935" cy="249674"/>
          </a:xfrm>
          <a:prstGeom prst="rect">
            <a:avLst/>
          </a:prstGeom>
          <a:noFill/>
        </p:spPr>
        <p:txBody>
          <a:bodyPr wrap="none" lIns="0" tIns="0" rIns="0" bIns="0" rtlCol="0" anchor="t"/>
          <a:lstStyle/>
          <a:p>
            <a:pPr marL="342900" indent="-342900" algn="l">
              <a:lnSpc>
                <a:spcPts val="1950"/>
              </a:lnSpc>
              <a:buSzPct val="100000"/>
              <a:buChar char="•"/>
            </a:pPr>
            <a:r>
              <a:rPr lang="en-US" sz="1200" dirty="0">
                <a:solidFill>
                  <a:srgbClr val="00002E"/>
                </a:solidFill>
                <a:latin typeface="PT Sans" panose="020B0503020203020204" pitchFamily="34" charset="0"/>
                <a:ea typeface="PT Sans" panose="020B0503020203020204" pitchFamily="34" charset="-122"/>
                <a:cs typeface="PT Sans" panose="020B0503020203020204" pitchFamily="34" charset="-120"/>
              </a:rPr>
              <a:t>Added additional features and enhancements</a:t>
            </a:r>
            <a:endParaRPr lang="en-US" sz="1200" dirty="0"/>
          </a:p>
        </p:txBody>
      </p:sp>
      <p:sp>
        <p:nvSpPr>
          <p:cNvPr id="29" name="Text 27"/>
          <p:cNvSpPr/>
          <p:nvPr/>
        </p:nvSpPr>
        <p:spPr>
          <a:xfrm>
            <a:off x="7939326" y="5564505"/>
            <a:ext cx="6144935" cy="249674"/>
          </a:xfrm>
          <a:prstGeom prst="rect">
            <a:avLst/>
          </a:prstGeom>
          <a:noFill/>
        </p:spPr>
        <p:txBody>
          <a:bodyPr wrap="none" lIns="0" tIns="0" rIns="0" bIns="0" rtlCol="0" anchor="t"/>
          <a:lstStyle/>
          <a:p>
            <a:pPr marL="342900" indent="-342900" algn="l">
              <a:lnSpc>
                <a:spcPts val="1950"/>
              </a:lnSpc>
              <a:buSzPct val="100000"/>
              <a:buChar char="•"/>
            </a:pPr>
            <a:r>
              <a:rPr lang="en-US" sz="1200" dirty="0">
                <a:solidFill>
                  <a:srgbClr val="00002E"/>
                </a:solidFill>
                <a:latin typeface="PT Sans" panose="020B0503020203020204" pitchFamily="34" charset="0"/>
                <a:ea typeface="PT Sans" panose="020B0503020203020204" pitchFamily="34" charset="-122"/>
                <a:cs typeface="PT Sans" panose="020B0503020203020204" pitchFamily="34" charset="-120"/>
              </a:rPr>
              <a:t>Developed Java admin panel (our Control Panel of the Future!)</a:t>
            </a:r>
            <a:endParaRPr lang="en-US" sz="1200" dirty="0"/>
          </a:p>
        </p:txBody>
      </p:sp>
      <p:sp>
        <p:nvSpPr>
          <p:cNvPr id="30" name="Shape 28"/>
          <p:cNvSpPr/>
          <p:nvPr/>
        </p:nvSpPr>
        <p:spPr>
          <a:xfrm>
            <a:off x="7025997" y="6121598"/>
            <a:ext cx="312063" cy="22860"/>
          </a:xfrm>
          <a:prstGeom prst="roundRect">
            <a:avLst>
              <a:gd name="adj" fmla="val 1023892"/>
            </a:avLst>
          </a:prstGeom>
          <a:solidFill>
            <a:srgbClr val="1AA5FA"/>
          </a:solidFill>
        </p:spPr>
      </p:sp>
      <p:sp>
        <p:nvSpPr>
          <p:cNvPr id="31" name="Shape 29"/>
          <p:cNvSpPr/>
          <p:nvPr/>
        </p:nvSpPr>
        <p:spPr>
          <a:xfrm>
            <a:off x="7256740" y="6074569"/>
            <a:ext cx="116919" cy="116919"/>
          </a:xfrm>
          <a:prstGeom prst="roundRect">
            <a:avLst>
              <a:gd name="adj" fmla="val 391040"/>
            </a:avLst>
          </a:prstGeom>
          <a:solidFill>
            <a:srgbClr val="018CE1"/>
          </a:solidFill>
        </p:spPr>
      </p:sp>
      <p:sp>
        <p:nvSpPr>
          <p:cNvPr id="32" name="Text 30"/>
          <p:cNvSpPr/>
          <p:nvPr/>
        </p:nvSpPr>
        <p:spPr>
          <a:xfrm>
            <a:off x="3916442" y="6011108"/>
            <a:ext cx="2774633" cy="237053"/>
          </a:xfrm>
          <a:prstGeom prst="rect">
            <a:avLst/>
          </a:prstGeom>
          <a:noFill/>
        </p:spPr>
        <p:txBody>
          <a:bodyPr wrap="none" lIns="0" tIns="0" rIns="0" bIns="0" rtlCol="0" anchor="t"/>
          <a:lstStyle/>
          <a:p>
            <a:pPr marL="0" indent="0" algn="r">
              <a:lnSpc>
                <a:spcPts val="1800"/>
              </a:lnSpc>
              <a:buNone/>
            </a:pPr>
            <a:r>
              <a:rPr lang="en-US" sz="1400" dirty="0">
                <a:solidFill>
                  <a:srgbClr val="00002E"/>
                </a:solidFill>
                <a:latin typeface="Nunito Semi Bold" pitchFamily="34" charset="0"/>
                <a:ea typeface="Nunito Semi Bold" pitchFamily="34" charset="-122"/>
                <a:cs typeface="Nunito Semi Bold" pitchFamily="34" charset="-120"/>
              </a:rPr>
              <a:t>Final Days: Quality Assurance </a:t>
            </a:r>
            <a:r>
              <a:rPr lang="en-US" sz="1400" dirty="0">
                <a:solidFill>
                  <a:srgbClr val="000000"/>
                </a:solidFill>
                <a:latin typeface="Nunito Semi Bold" pitchFamily="34" charset="0"/>
                <a:ea typeface="Nunito Semi Bold" pitchFamily="34" charset="-122"/>
                <a:cs typeface="Nunito Semi Bold" pitchFamily="34" charset="-120"/>
              </a:rPr>
              <a:t>🔍</a:t>
            </a:r>
            <a:endParaRPr lang="en-US" sz="1400" dirty="0"/>
          </a:p>
        </p:txBody>
      </p:sp>
      <p:sp>
        <p:nvSpPr>
          <p:cNvPr id="33" name="Text 31"/>
          <p:cNvSpPr/>
          <p:nvPr/>
        </p:nvSpPr>
        <p:spPr>
          <a:xfrm>
            <a:off x="546140" y="6341745"/>
            <a:ext cx="6144935" cy="249674"/>
          </a:xfrm>
          <a:prstGeom prst="rect">
            <a:avLst/>
          </a:prstGeom>
          <a:noFill/>
        </p:spPr>
        <p:txBody>
          <a:bodyPr wrap="none" lIns="0" tIns="0" rIns="0" bIns="0" rtlCol="0" anchor="t"/>
          <a:lstStyle/>
          <a:p>
            <a:pPr marL="342900" indent="-342900" algn="l">
              <a:lnSpc>
                <a:spcPts val="1950"/>
              </a:lnSpc>
              <a:buSzPct val="100000"/>
              <a:buChar char="•"/>
            </a:pPr>
            <a:r>
              <a:rPr lang="en-US" sz="1200" dirty="0">
                <a:solidFill>
                  <a:srgbClr val="00002E"/>
                </a:solidFill>
                <a:latin typeface="PT Sans" panose="020B0503020203020204" pitchFamily="34" charset="0"/>
                <a:ea typeface="PT Sans" panose="020B0503020203020204" pitchFamily="34" charset="-122"/>
                <a:cs typeface="PT Sans" panose="020B0503020203020204" pitchFamily="34" charset="-120"/>
              </a:rPr>
              <a:t>Debugging and comprehensive testing</a:t>
            </a:r>
            <a:endParaRPr lang="en-US" sz="1200" dirty="0"/>
          </a:p>
        </p:txBody>
      </p:sp>
      <p:sp>
        <p:nvSpPr>
          <p:cNvPr id="34" name="Text 32"/>
          <p:cNvSpPr/>
          <p:nvPr/>
        </p:nvSpPr>
        <p:spPr>
          <a:xfrm>
            <a:off x="546140" y="6645950"/>
            <a:ext cx="6144935" cy="249674"/>
          </a:xfrm>
          <a:prstGeom prst="rect">
            <a:avLst/>
          </a:prstGeom>
          <a:noFill/>
        </p:spPr>
        <p:txBody>
          <a:bodyPr wrap="none" lIns="0" tIns="0" rIns="0" bIns="0" rtlCol="0" anchor="t"/>
          <a:lstStyle/>
          <a:p>
            <a:pPr marL="342900" indent="-342900" algn="l">
              <a:lnSpc>
                <a:spcPts val="1950"/>
              </a:lnSpc>
              <a:buSzPct val="100000"/>
              <a:buChar char="•"/>
            </a:pPr>
            <a:r>
              <a:rPr lang="en-US" sz="1200" dirty="0">
                <a:solidFill>
                  <a:srgbClr val="00002E"/>
                </a:solidFill>
                <a:latin typeface="PT Sans" panose="020B0503020203020204" pitchFamily="34" charset="0"/>
                <a:ea typeface="PT Sans" panose="020B0503020203020204" pitchFamily="34" charset="-122"/>
                <a:cs typeface="PT Sans" panose="020B0503020203020204" pitchFamily="34" charset="-120"/>
              </a:rPr>
              <a:t>Final polish and optimization</a:t>
            </a:r>
            <a:endParaRPr lang="en-US" sz="1200" dirty="0"/>
          </a:p>
        </p:txBody>
      </p:sp>
      <p:sp>
        <p:nvSpPr>
          <p:cNvPr id="35" name="Text 33"/>
          <p:cNvSpPr/>
          <p:nvPr/>
        </p:nvSpPr>
        <p:spPr>
          <a:xfrm>
            <a:off x="546140" y="7434977"/>
            <a:ext cx="13538121" cy="249674"/>
          </a:xfrm>
          <a:prstGeom prst="rect">
            <a:avLst/>
          </a:prstGeom>
          <a:noFill/>
        </p:spPr>
        <p:txBody>
          <a:bodyPr wrap="none" lIns="0" tIns="0" rIns="0" bIns="0" rtlCol="0" anchor="t"/>
          <a:lstStyle/>
          <a:p>
            <a:pPr marL="0" indent="0" algn="l">
              <a:lnSpc>
                <a:spcPts val="1950"/>
              </a:lnSpc>
              <a:buNone/>
            </a:pPr>
            <a:r>
              <a:rPr lang="en-US" sz="1200" dirty="0">
                <a:solidFill>
                  <a:srgbClr val="00002E"/>
                </a:solidFill>
                <a:latin typeface="PT Sans" panose="020B0503020203020204" pitchFamily="34" charset="0"/>
                <a:ea typeface="PT Sans" panose="020B0503020203020204" pitchFamily="34" charset="-122"/>
                <a:cs typeface="PT Sans" panose="020B0503020203020204" pitchFamily="34" charset="-120"/>
              </a:rPr>
              <a:t>This agile approach ensured smooth collaboration and timely delivery, just like Doraemon's perfectly timed gadget solutions!</a:t>
            </a:r>
            <a:endParaRPr lang="en-US" sz="1200" dirty="0"/>
          </a:p>
        </p:txBody>
      </p:sp>
    </p:spTree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med" p14:dur="700">
        <p:fade/>
      </p:transition>
    </mc:Choice>
    <mc:Fallback>
      <p:transition spd="med">
        <p:fade/>
      </p:transition>
    </mc:Fallback>
  </mc:AlternateContent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822484" y="647462"/>
            <a:ext cx="7219593" cy="691277"/>
          </a:xfrm>
          <a:prstGeom prst="rect">
            <a:avLst/>
          </a:prstGeom>
          <a:noFill/>
        </p:spPr>
        <p:txBody>
          <a:bodyPr wrap="none" lIns="0" tIns="0" rIns="0" bIns="0" rtlCol="0" anchor="t"/>
          <a:lstStyle/>
          <a:p>
            <a:pPr marL="0" indent="0" algn="l">
              <a:lnSpc>
                <a:spcPts val="5400"/>
              </a:lnSpc>
              <a:buNone/>
            </a:pPr>
            <a:r>
              <a:rPr lang="en-US" sz="4350" dirty="0">
                <a:solidFill>
                  <a:srgbClr val="00002E"/>
                </a:solidFill>
                <a:latin typeface="Nunito Semi Bold" pitchFamily="34" charset="0"/>
                <a:ea typeface="Nunito Semi Bold" pitchFamily="34" charset="-122"/>
                <a:cs typeface="Nunito Semi Bold" pitchFamily="34" charset="-120"/>
              </a:rPr>
              <a:t>Comments components(Leo)</a:t>
            </a:r>
            <a:endParaRPr lang="en-US" sz="4350" dirty="0"/>
          </a:p>
        </p:txBody>
      </p:sp>
      <p:pic>
        <p:nvPicPr>
          <p:cNvPr id="3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22484" y="1955483"/>
            <a:ext cx="6206014" cy="3729633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822484" y="5949434"/>
            <a:ext cx="2764988" cy="345519"/>
          </a:xfrm>
          <a:prstGeom prst="rect">
            <a:avLst/>
          </a:prstGeom>
          <a:noFill/>
        </p:spPr>
        <p:txBody>
          <a:bodyPr wrap="none" lIns="0" tIns="0" rIns="0" bIns="0" rtlCol="0" anchor="t"/>
          <a:lstStyle/>
          <a:p>
            <a:pPr marL="0" indent="0" algn="l">
              <a:lnSpc>
                <a:spcPts val="2700"/>
              </a:lnSpc>
              <a:buNone/>
            </a:pPr>
            <a:r>
              <a:rPr lang="en-US" sz="2150" dirty="0">
                <a:solidFill>
                  <a:srgbClr val="00002E"/>
                </a:solidFill>
                <a:latin typeface="Nunito Semi Bold" pitchFamily="34" charset="0"/>
                <a:ea typeface="Nunito Semi Bold" pitchFamily="34" charset="-122"/>
                <a:cs typeface="Nunito Semi Bold" pitchFamily="34" charset="-120"/>
              </a:rPr>
              <a:t>Graphic UI</a:t>
            </a:r>
            <a:endParaRPr lang="en-US" sz="2150" dirty="0"/>
          </a:p>
        </p:txBody>
      </p:sp>
      <p:sp>
        <p:nvSpPr>
          <p:cNvPr id="5" name="Text 2"/>
          <p:cNvSpPr/>
          <p:nvPr/>
        </p:nvSpPr>
        <p:spPr>
          <a:xfrm>
            <a:off x="822484" y="6529864"/>
            <a:ext cx="6206014" cy="375999"/>
          </a:xfrm>
          <a:prstGeom prst="rect">
            <a:avLst/>
          </a:prstGeom>
          <a:noFill/>
        </p:spPr>
        <p:txBody>
          <a:bodyPr wrap="none" lIns="0" tIns="0" rIns="0" bIns="0" rtlCol="0" anchor="t"/>
          <a:lstStyle/>
          <a:p>
            <a:pPr marL="0" indent="0" algn="l">
              <a:lnSpc>
                <a:spcPts val="2950"/>
              </a:lnSpc>
              <a:buNone/>
            </a:pPr>
            <a:r>
              <a:rPr lang="en-US" sz="1850" dirty="0">
                <a:solidFill>
                  <a:srgbClr val="00002E"/>
                </a:solidFill>
                <a:latin typeface="PT Sans" panose="020B0503020203020204" pitchFamily="34" charset="0"/>
                <a:ea typeface="PT Sans" panose="020B0503020203020204" pitchFamily="34" charset="-122"/>
                <a:cs typeface="PT Sans" panose="020B0503020203020204" pitchFamily="34" charset="-120"/>
              </a:rPr>
              <a:t>CommentsList → CommentItem : svelte:self</a:t>
            </a:r>
            <a:endParaRPr lang="en-US" sz="1850" dirty="0"/>
          </a:p>
        </p:txBody>
      </p:sp>
      <p:sp>
        <p:nvSpPr>
          <p:cNvPr id="6" name="Text 3"/>
          <p:cNvSpPr/>
          <p:nvPr/>
        </p:nvSpPr>
        <p:spPr>
          <a:xfrm>
            <a:off x="7609523" y="1902619"/>
            <a:ext cx="6206014" cy="375999"/>
          </a:xfrm>
          <a:prstGeom prst="rect">
            <a:avLst/>
          </a:prstGeom>
          <a:noFill/>
        </p:spPr>
        <p:txBody>
          <a:bodyPr wrap="none" lIns="0" tIns="0" rIns="0" bIns="0" rtlCol="0" anchor="t"/>
          <a:lstStyle/>
          <a:p>
            <a:pPr marL="0" indent="0" algn="l">
              <a:lnSpc>
                <a:spcPts val="2950"/>
              </a:lnSpc>
              <a:buNone/>
            </a:pPr>
            <a:r>
              <a:rPr lang="en-US" sz="1850" dirty="0">
                <a:solidFill>
                  <a:srgbClr val="00002E"/>
                </a:solidFill>
                <a:latin typeface="PT Sans" panose="020B0503020203020204" pitchFamily="34" charset="0"/>
                <a:ea typeface="PT Sans" panose="020B0503020203020204" pitchFamily="34" charset="-122"/>
                <a:cs typeface="PT Sans" panose="020B0503020203020204" pitchFamily="34" charset="-120"/>
              </a:rPr>
              <a:t>{ "id": 2, </a:t>
            </a:r>
            <a:endParaRPr lang="en-US" sz="1850" dirty="0"/>
          </a:p>
        </p:txBody>
      </p:sp>
      <p:sp>
        <p:nvSpPr>
          <p:cNvPr id="7" name="Text 4"/>
          <p:cNvSpPr/>
          <p:nvPr/>
        </p:nvSpPr>
        <p:spPr>
          <a:xfrm>
            <a:off x="7609523" y="2490073"/>
            <a:ext cx="6206014" cy="375999"/>
          </a:xfrm>
          <a:prstGeom prst="rect">
            <a:avLst/>
          </a:prstGeom>
          <a:noFill/>
        </p:spPr>
        <p:txBody>
          <a:bodyPr wrap="none" lIns="0" tIns="0" rIns="0" bIns="0" rtlCol="0" anchor="t"/>
          <a:lstStyle/>
          <a:p>
            <a:pPr marL="0" indent="0" algn="l">
              <a:lnSpc>
                <a:spcPts val="2950"/>
              </a:lnSpc>
              <a:buNone/>
            </a:pPr>
            <a:r>
              <a:rPr lang="en-US" sz="1850" dirty="0">
                <a:solidFill>
                  <a:srgbClr val="00002E"/>
                </a:solidFill>
                <a:latin typeface="PT Sans" panose="020B0503020203020204" pitchFamily="34" charset="0"/>
                <a:ea typeface="PT Sans" panose="020B0503020203020204" pitchFamily="34" charset="-122"/>
                <a:cs typeface="PT Sans" panose="020B0503020203020204" pitchFamily="34" charset="-120"/>
              </a:rPr>
              <a:t> "content": "Thanks for sharing.", </a:t>
            </a:r>
            <a:endParaRPr lang="en-US" sz="1850" dirty="0"/>
          </a:p>
        </p:txBody>
      </p:sp>
      <p:sp>
        <p:nvSpPr>
          <p:cNvPr id="8" name="Text 5"/>
          <p:cNvSpPr/>
          <p:nvPr/>
        </p:nvSpPr>
        <p:spPr>
          <a:xfrm>
            <a:off x="7609523" y="3077528"/>
            <a:ext cx="6206014" cy="375999"/>
          </a:xfrm>
          <a:prstGeom prst="rect">
            <a:avLst/>
          </a:prstGeom>
          <a:noFill/>
        </p:spPr>
        <p:txBody>
          <a:bodyPr wrap="none" lIns="0" tIns="0" rIns="0" bIns="0" rtlCol="0" anchor="t"/>
          <a:lstStyle/>
          <a:p>
            <a:pPr marL="0" indent="0" algn="l">
              <a:lnSpc>
                <a:spcPts val="2950"/>
              </a:lnSpc>
              <a:buNone/>
            </a:pPr>
            <a:r>
              <a:rPr lang="en-US" sz="1850" dirty="0">
                <a:solidFill>
                  <a:srgbClr val="00002E"/>
                </a:solidFill>
                <a:latin typeface="PT Sans" panose="020B0503020203020204" pitchFamily="34" charset="0"/>
                <a:ea typeface="PT Sans" panose="020B0503020203020204" pitchFamily="34" charset="-122"/>
                <a:cs typeface="PT Sans" panose="020B0503020203020204" pitchFamily="34" charset="-120"/>
              </a:rPr>
              <a:t> "parentCommentId": null,  </a:t>
            </a:r>
            <a:endParaRPr lang="en-US" sz="1850" dirty="0"/>
          </a:p>
        </p:txBody>
      </p:sp>
      <p:sp>
        <p:nvSpPr>
          <p:cNvPr id="9" name="Text 6"/>
          <p:cNvSpPr/>
          <p:nvPr/>
        </p:nvSpPr>
        <p:spPr>
          <a:xfrm>
            <a:off x="7609523" y="3664982"/>
            <a:ext cx="6206014" cy="375999"/>
          </a:xfrm>
          <a:prstGeom prst="rect">
            <a:avLst/>
          </a:prstGeom>
          <a:noFill/>
        </p:spPr>
        <p:txBody>
          <a:bodyPr wrap="none" lIns="0" tIns="0" rIns="0" bIns="0" rtlCol="0" anchor="t"/>
          <a:lstStyle/>
          <a:p>
            <a:pPr marL="0" indent="0" algn="l">
              <a:lnSpc>
                <a:spcPts val="2950"/>
              </a:lnSpc>
              <a:buNone/>
            </a:pPr>
            <a:r>
              <a:rPr lang="en-US" sz="1850" dirty="0">
                <a:solidFill>
                  <a:srgbClr val="00002E"/>
                </a:solidFill>
                <a:latin typeface="PT Sans" panose="020B0503020203020204" pitchFamily="34" charset="0"/>
                <a:ea typeface="PT Sans" panose="020B0503020203020204" pitchFamily="34" charset="-122"/>
                <a:cs typeface="PT Sans" panose="020B0503020203020204" pitchFamily="34" charset="-120"/>
              </a:rPr>
              <a:t>"childrenComments": [ </a:t>
            </a:r>
            <a:endParaRPr lang="en-US" sz="1850" dirty="0"/>
          </a:p>
        </p:txBody>
      </p:sp>
      <p:sp>
        <p:nvSpPr>
          <p:cNvPr id="10" name="Text 7"/>
          <p:cNvSpPr/>
          <p:nvPr/>
        </p:nvSpPr>
        <p:spPr>
          <a:xfrm>
            <a:off x="7609523" y="4252436"/>
            <a:ext cx="6206014" cy="375999"/>
          </a:xfrm>
          <a:prstGeom prst="rect">
            <a:avLst/>
          </a:prstGeom>
          <a:noFill/>
        </p:spPr>
        <p:txBody>
          <a:bodyPr wrap="none" lIns="0" tIns="0" rIns="0" bIns="0" rtlCol="0" anchor="t"/>
          <a:lstStyle/>
          <a:p>
            <a:pPr marL="0" indent="0" algn="l">
              <a:lnSpc>
                <a:spcPts val="2950"/>
              </a:lnSpc>
              <a:buNone/>
            </a:pPr>
            <a:r>
              <a:rPr lang="en-US" sz="1850" dirty="0">
                <a:solidFill>
                  <a:srgbClr val="00002E"/>
                </a:solidFill>
                <a:latin typeface="PT Sans" panose="020B0503020203020204" pitchFamily="34" charset="0"/>
                <a:ea typeface="PT Sans" panose="020B0503020203020204" pitchFamily="34" charset="-122"/>
                <a:cs typeface="PT Sans" panose="020B0503020203020204" pitchFamily="34" charset="-120"/>
              </a:rPr>
              <a:t>{ "id": 4, </a:t>
            </a:r>
            <a:endParaRPr lang="en-US" sz="1850" dirty="0"/>
          </a:p>
        </p:txBody>
      </p:sp>
      <p:sp>
        <p:nvSpPr>
          <p:cNvPr id="11" name="Text 8"/>
          <p:cNvSpPr/>
          <p:nvPr/>
        </p:nvSpPr>
        <p:spPr>
          <a:xfrm>
            <a:off x="7609523" y="4839891"/>
            <a:ext cx="6206014" cy="375999"/>
          </a:xfrm>
          <a:prstGeom prst="rect">
            <a:avLst/>
          </a:prstGeom>
          <a:noFill/>
        </p:spPr>
        <p:txBody>
          <a:bodyPr wrap="none" lIns="0" tIns="0" rIns="0" bIns="0" rtlCol="0" anchor="t"/>
          <a:lstStyle/>
          <a:p>
            <a:pPr marL="0" indent="0" algn="l">
              <a:lnSpc>
                <a:spcPts val="2950"/>
              </a:lnSpc>
              <a:buNone/>
            </a:pPr>
            <a:r>
              <a:rPr lang="en-US" sz="1850" dirty="0">
                <a:solidFill>
                  <a:srgbClr val="00002E"/>
                </a:solidFill>
                <a:latin typeface="PT Sans" panose="020B0503020203020204" pitchFamily="34" charset="0"/>
                <a:ea typeface="PT Sans" panose="020B0503020203020204" pitchFamily="34" charset="-122"/>
                <a:cs typeface="PT Sans" panose="020B0503020203020204" pitchFamily="34" charset="-120"/>
              </a:rPr>
              <a:t>"content": "I learned a lot.", </a:t>
            </a:r>
            <a:endParaRPr lang="en-US" sz="1850" dirty="0"/>
          </a:p>
        </p:txBody>
      </p:sp>
      <p:sp>
        <p:nvSpPr>
          <p:cNvPr id="12" name="Text 9"/>
          <p:cNvSpPr/>
          <p:nvPr/>
        </p:nvSpPr>
        <p:spPr>
          <a:xfrm>
            <a:off x="7609523" y="5427345"/>
            <a:ext cx="6206014" cy="375999"/>
          </a:xfrm>
          <a:prstGeom prst="rect">
            <a:avLst/>
          </a:prstGeom>
          <a:noFill/>
        </p:spPr>
        <p:txBody>
          <a:bodyPr wrap="none" lIns="0" tIns="0" rIns="0" bIns="0" rtlCol="0" anchor="t"/>
          <a:lstStyle/>
          <a:p>
            <a:pPr marL="0" indent="0" algn="l">
              <a:lnSpc>
                <a:spcPts val="2950"/>
              </a:lnSpc>
              <a:buNone/>
            </a:pPr>
            <a:r>
              <a:rPr lang="en-US" sz="1850" dirty="0">
                <a:solidFill>
                  <a:srgbClr val="00002E"/>
                </a:solidFill>
                <a:latin typeface="PT Sans" panose="020B0503020203020204" pitchFamily="34" charset="0"/>
                <a:ea typeface="PT Sans" panose="020B0503020203020204" pitchFamily="34" charset="-122"/>
                <a:cs typeface="PT Sans" panose="020B0503020203020204" pitchFamily="34" charset="-120"/>
              </a:rPr>
              <a:t>"parentCommentId": 2, "childrenComments": […]}}</a:t>
            </a:r>
            <a:endParaRPr lang="en-US" sz="1850" dirty="0"/>
          </a:p>
        </p:txBody>
      </p:sp>
      <p:sp>
        <p:nvSpPr>
          <p:cNvPr id="13" name="Text 10"/>
          <p:cNvSpPr/>
          <p:nvPr/>
        </p:nvSpPr>
        <p:spPr>
          <a:xfrm>
            <a:off x="7609523" y="6038255"/>
            <a:ext cx="2764988" cy="345519"/>
          </a:xfrm>
          <a:prstGeom prst="rect">
            <a:avLst/>
          </a:prstGeom>
          <a:noFill/>
        </p:spPr>
        <p:txBody>
          <a:bodyPr wrap="none" lIns="0" tIns="0" rIns="0" bIns="0" rtlCol="0" anchor="t"/>
          <a:lstStyle/>
          <a:p>
            <a:pPr marL="0" indent="0" algn="l">
              <a:lnSpc>
                <a:spcPts val="2700"/>
              </a:lnSpc>
              <a:buNone/>
            </a:pPr>
            <a:r>
              <a:rPr lang="en-US" sz="2150" dirty="0">
                <a:solidFill>
                  <a:srgbClr val="00002E"/>
                </a:solidFill>
                <a:latin typeface="Nunito Semi Bold" pitchFamily="34" charset="0"/>
                <a:ea typeface="Nunito Semi Bold" pitchFamily="34" charset="-122"/>
                <a:cs typeface="Nunito Semi Bold" pitchFamily="34" charset="-120"/>
              </a:rPr>
              <a:t>API response</a:t>
            </a:r>
            <a:endParaRPr lang="en-US" sz="2150" dirty="0"/>
          </a:p>
        </p:txBody>
      </p:sp>
      <p:sp>
        <p:nvSpPr>
          <p:cNvPr id="14" name="Text 11"/>
          <p:cNvSpPr/>
          <p:nvPr/>
        </p:nvSpPr>
        <p:spPr>
          <a:xfrm>
            <a:off x="7609523" y="6618684"/>
            <a:ext cx="6206014" cy="751999"/>
          </a:xfrm>
          <a:prstGeom prst="rect">
            <a:avLst/>
          </a:prstGeom>
          <a:noFill/>
        </p:spPr>
        <p:txBody>
          <a:bodyPr wrap="square" lIns="0" tIns="0" rIns="0" bIns="0" rtlCol="0" anchor="t"/>
          <a:lstStyle/>
          <a:p>
            <a:pPr marL="0" indent="0" algn="l">
              <a:lnSpc>
                <a:spcPts val="2950"/>
              </a:lnSpc>
              <a:buNone/>
            </a:pPr>
            <a:r>
              <a:rPr lang="en-US" sz="1850" dirty="0">
                <a:solidFill>
                  <a:srgbClr val="00002E"/>
                </a:solidFill>
                <a:latin typeface="PT Sans" panose="020B0503020203020204" pitchFamily="34" charset="0"/>
                <a:ea typeface="PT Sans" panose="020B0503020203020204" pitchFamily="34" charset="-122"/>
                <a:cs typeface="PT Sans" panose="020B0503020203020204" pitchFamily="34" charset="-120"/>
              </a:rPr>
              <a:t>parentCommentId &amp; childrenComments contribute to different depth</a:t>
            </a:r>
            <a:endParaRPr lang="en-US" sz="1850" dirty="0"/>
          </a:p>
        </p:txBody>
      </p:sp>
    </p:spTree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med" p14:dur="700">
        <p:fade/>
      </p:transition>
    </mc:Choice>
    <mc:Fallback>
      <p:transition spd="med">
        <p:fade/>
      </p:transition>
    </mc:Fallback>
  </mc:AlternateContent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837724" y="994529"/>
            <a:ext cx="8466653" cy="704017"/>
          </a:xfrm>
          <a:prstGeom prst="rect">
            <a:avLst/>
          </a:prstGeom>
          <a:noFill/>
        </p:spPr>
        <p:txBody>
          <a:bodyPr wrap="none" lIns="0" tIns="0" rIns="0" bIns="0" rtlCol="0" anchor="t"/>
          <a:lstStyle/>
          <a:p>
            <a:pPr marL="0" indent="0" algn="l">
              <a:lnSpc>
                <a:spcPts val="5500"/>
              </a:lnSpc>
              <a:buNone/>
            </a:pPr>
            <a:r>
              <a:rPr lang="en-US" sz="4400" dirty="0">
                <a:solidFill>
                  <a:srgbClr val="00002E"/>
                </a:solidFill>
                <a:latin typeface="Nunito Semi Bold" pitchFamily="34" charset="0"/>
                <a:ea typeface="Nunito Semi Bold" pitchFamily="34" charset="-122"/>
                <a:cs typeface="Nunito Semi Bold" pitchFamily="34" charset="-120"/>
              </a:rPr>
              <a:t>JAVA swing admin interface(Leo)</a:t>
            </a:r>
            <a:endParaRPr lang="en-US" sz="4400" dirty="0"/>
          </a:p>
        </p:txBody>
      </p:sp>
      <p:sp>
        <p:nvSpPr>
          <p:cNvPr id="3" name="Text 1"/>
          <p:cNvSpPr/>
          <p:nvPr/>
        </p:nvSpPr>
        <p:spPr>
          <a:xfrm>
            <a:off x="837724" y="2272903"/>
            <a:ext cx="6185535" cy="1149072"/>
          </a:xfrm>
          <a:prstGeom prst="rect">
            <a:avLst/>
          </a:prstGeom>
          <a:noFill/>
        </p:spPr>
        <p:txBody>
          <a:bodyPr wrap="square" lIns="0" tIns="0" rIns="0" bIns="0" rtlCol="0" anchor="t"/>
          <a:lstStyle/>
          <a:p>
            <a:pPr marL="342900" indent="-342900" algn="l">
              <a:lnSpc>
                <a:spcPts val="3000"/>
              </a:lnSpc>
              <a:buSzPct val="100000"/>
              <a:buChar char="•"/>
            </a:pPr>
            <a:r>
              <a:rPr lang="en-US" sz="1850" dirty="0">
                <a:solidFill>
                  <a:srgbClr val="00002E"/>
                </a:solidFill>
                <a:latin typeface="PT Sans" panose="020B0503020203020204" pitchFamily="34" charset="0"/>
                <a:ea typeface="PT Sans" panose="020B0503020203020204" pitchFamily="34" charset="-122"/>
                <a:cs typeface="PT Sans" panose="020B0503020203020204" pitchFamily="34" charset="-120"/>
              </a:rPr>
              <a:t>Main file: User(pojos), AdminFrame(view), AdminController, UserModel(TableModel &amp; observer), API</a:t>
            </a:r>
            <a:endParaRPr lang="en-US" sz="1850" dirty="0"/>
          </a:p>
        </p:txBody>
      </p:sp>
      <p:sp>
        <p:nvSpPr>
          <p:cNvPr id="4" name="Text 2"/>
          <p:cNvSpPr/>
          <p:nvPr/>
        </p:nvSpPr>
        <p:spPr>
          <a:xfrm>
            <a:off x="837724" y="3505676"/>
            <a:ext cx="6185535" cy="383024"/>
          </a:xfrm>
          <a:prstGeom prst="rect">
            <a:avLst/>
          </a:prstGeom>
          <a:noFill/>
        </p:spPr>
        <p:txBody>
          <a:bodyPr wrap="none" lIns="0" tIns="0" rIns="0" bIns="0" rtlCol="0" anchor="t"/>
          <a:lstStyle/>
          <a:p>
            <a:pPr marL="342900" indent="-342900" algn="l">
              <a:lnSpc>
                <a:spcPts val="3000"/>
              </a:lnSpc>
              <a:buSzPct val="100000"/>
              <a:buChar char="•"/>
            </a:pPr>
            <a:r>
              <a:rPr lang="en-US" sz="1850" dirty="0">
                <a:solidFill>
                  <a:srgbClr val="00002E"/>
                </a:solidFill>
                <a:latin typeface="PT Sans" panose="020B0503020203020204" pitchFamily="34" charset="0"/>
                <a:ea typeface="PT Sans" panose="020B0503020203020204" pitchFamily="34" charset="-122"/>
                <a:cs typeface="PT Sans" panose="020B0503020203020204" pitchFamily="34" charset="-120"/>
              </a:rPr>
              <a:t>AdminFrame with BorderLayout</a:t>
            </a:r>
            <a:endParaRPr lang="en-US" sz="1850" dirty="0"/>
          </a:p>
        </p:txBody>
      </p:sp>
      <p:sp>
        <p:nvSpPr>
          <p:cNvPr id="5" name="Text 3"/>
          <p:cNvSpPr/>
          <p:nvPr/>
        </p:nvSpPr>
        <p:spPr>
          <a:xfrm>
            <a:off x="837724" y="3972401"/>
            <a:ext cx="6185535" cy="383024"/>
          </a:xfrm>
          <a:prstGeom prst="rect">
            <a:avLst/>
          </a:prstGeom>
          <a:noFill/>
        </p:spPr>
        <p:txBody>
          <a:bodyPr wrap="none" lIns="0" tIns="0" rIns="0" bIns="0" rtlCol="0" anchor="t"/>
          <a:lstStyle/>
          <a:p>
            <a:pPr marL="342900" indent="-342900" algn="l">
              <a:lnSpc>
                <a:spcPts val="3000"/>
              </a:lnSpc>
              <a:buSzPct val="100000"/>
              <a:buChar char="•"/>
            </a:pPr>
            <a:r>
              <a:rPr lang="en-US" sz="1850" dirty="0">
                <a:solidFill>
                  <a:srgbClr val="00002E"/>
                </a:solidFill>
                <a:latin typeface="PT Sans" panose="020B0503020203020204" pitchFamily="34" charset="0"/>
                <a:ea typeface="PT Sans" panose="020B0503020203020204" pitchFamily="34" charset="-122"/>
                <a:cs typeface="PT Sans" panose="020B0503020203020204" pitchFamily="34" charset="-120"/>
              </a:rPr>
              <a:t>AdminController deals with click action</a:t>
            </a:r>
            <a:endParaRPr lang="en-US" sz="1850" dirty="0"/>
          </a:p>
        </p:txBody>
      </p:sp>
      <p:sp>
        <p:nvSpPr>
          <p:cNvPr id="6" name="Text 4"/>
          <p:cNvSpPr/>
          <p:nvPr/>
        </p:nvSpPr>
        <p:spPr>
          <a:xfrm>
            <a:off x="837724" y="4439126"/>
            <a:ext cx="6185535" cy="766048"/>
          </a:xfrm>
          <a:prstGeom prst="rect">
            <a:avLst/>
          </a:prstGeom>
          <a:noFill/>
        </p:spPr>
        <p:txBody>
          <a:bodyPr wrap="square" lIns="0" tIns="0" rIns="0" bIns="0" rtlCol="0" anchor="t"/>
          <a:lstStyle/>
          <a:p>
            <a:pPr marL="342900" indent="-342900" algn="l">
              <a:lnSpc>
                <a:spcPts val="3000"/>
              </a:lnSpc>
              <a:buSzPct val="100000"/>
              <a:buChar char="•"/>
            </a:pPr>
            <a:r>
              <a:rPr lang="en-US" sz="1850" dirty="0">
                <a:solidFill>
                  <a:srgbClr val="00002E"/>
                </a:solidFill>
                <a:latin typeface="PT Sans" panose="020B0503020203020204" pitchFamily="34" charset="0"/>
                <a:ea typeface="PT Sans" panose="020B0503020203020204" pitchFamily="34" charset="-122"/>
                <a:cs typeface="PT Sans" panose="020B0503020203020204" pitchFamily="34" charset="-120"/>
              </a:rPr>
              <a:t>UserModel extends AbstractTableModel, notify observer (adapter and observer)</a:t>
            </a:r>
            <a:endParaRPr lang="en-US" sz="1850" dirty="0"/>
          </a:p>
        </p:txBody>
      </p:sp>
      <p:sp>
        <p:nvSpPr>
          <p:cNvPr id="7" name="Text 5"/>
          <p:cNvSpPr/>
          <p:nvPr/>
        </p:nvSpPr>
        <p:spPr>
          <a:xfrm>
            <a:off x="837724" y="5420558"/>
            <a:ext cx="6185535" cy="383024"/>
          </a:xfrm>
          <a:prstGeom prst="rect">
            <a:avLst/>
          </a:prstGeom>
          <a:noFill/>
        </p:spPr>
        <p:txBody>
          <a:bodyPr wrap="none" lIns="0" tIns="0" rIns="0" bIns="0" rtlCol="0" anchor="t"/>
          <a:lstStyle/>
          <a:p>
            <a:pPr marL="0" indent="0" algn="l">
              <a:lnSpc>
                <a:spcPts val="3000"/>
              </a:lnSpc>
              <a:buNone/>
            </a:pPr>
            <a:endParaRPr lang="en-US" sz="1850" dirty="0"/>
          </a:p>
        </p:txBody>
      </p:sp>
      <p:pic>
        <p:nvPicPr>
          <p:cNvPr id="8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614761" y="2326719"/>
            <a:ext cx="6185535" cy="4639151"/>
          </a:xfrm>
          <a:prstGeom prst="rect">
            <a:avLst/>
          </a:prstGeom>
        </p:spPr>
      </p:pic>
    </p:spTree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med" p14:dur="700">
        <p:fade/>
      </p:transition>
    </mc:Choice>
    <mc:Fallback>
      <p:transition spd="med">
        <p:fade/>
      </p:transition>
    </mc:Fallback>
  </mc:AlternateContent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1949887" y="1321951"/>
            <a:ext cx="10730508" cy="520898"/>
          </a:xfrm>
          <a:prstGeom prst="rect">
            <a:avLst/>
          </a:prstGeom>
          <a:noFill/>
        </p:spPr>
        <p:txBody>
          <a:bodyPr wrap="none" lIns="0" tIns="0" rIns="0" bIns="0" rtlCol="0" anchor="t"/>
          <a:lstStyle/>
          <a:p>
            <a:pPr marL="0" indent="0" algn="ctr">
              <a:lnSpc>
                <a:spcPts val="4100"/>
              </a:lnSpc>
              <a:buNone/>
            </a:pPr>
            <a:r>
              <a:rPr lang="en-US" sz="3250" dirty="0">
                <a:solidFill>
                  <a:srgbClr val="00002E"/>
                </a:solidFill>
                <a:latin typeface="Nunito Semi Bold" pitchFamily="34" charset="0"/>
                <a:ea typeface="Nunito Semi Bold" pitchFamily="34" charset="-122"/>
                <a:cs typeface="Nunito Semi Bold" pitchFamily="34" charset="-120"/>
              </a:rPr>
              <a:t>Thank you for joining Doraemon's Tech Team Adventure!</a:t>
            </a:r>
            <a:endParaRPr lang="en-US" sz="3250" dirty="0"/>
          </a:p>
        </p:txBody>
      </p:sp>
      <p:sp>
        <p:nvSpPr>
          <p:cNvPr id="3" name="Text 1"/>
          <p:cNvSpPr/>
          <p:nvPr/>
        </p:nvSpPr>
        <p:spPr>
          <a:xfrm>
            <a:off x="619839" y="2197060"/>
            <a:ext cx="13390721" cy="354092"/>
          </a:xfrm>
          <a:prstGeom prst="rect">
            <a:avLst/>
          </a:prstGeom>
          <a:noFill/>
        </p:spPr>
        <p:txBody>
          <a:bodyPr wrap="none" lIns="0" tIns="0" rIns="0" bIns="0" rtlCol="0" anchor="t"/>
          <a:lstStyle/>
          <a:p>
            <a:pPr marL="0" indent="0" algn="ctr">
              <a:lnSpc>
                <a:spcPts val="2750"/>
              </a:lnSpc>
              <a:buNone/>
            </a:pPr>
            <a:r>
              <a:rPr lang="en-US" sz="1700" dirty="0">
                <a:solidFill>
                  <a:srgbClr val="00002E"/>
                </a:solidFill>
                <a:latin typeface="PT Sans" panose="020B0503020203020204" pitchFamily="34" charset="0"/>
                <a:ea typeface="PT Sans" panose="020B0503020203020204" pitchFamily="34" charset="-122"/>
                <a:cs typeface="PT Sans" panose="020B0503020203020204" pitchFamily="34" charset="-120"/>
              </a:rPr>
              <a:t>We are now happy to answer any questions about our incredible DoraBlog project. Get ready for some gadget-powered insights!</a:t>
            </a:r>
            <a:endParaRPr lang="en-US" sz="1700" dirty="0"/>
          </a:p>
        </p:txBody>
      </p:sp>
      <p:pic>
        <p:nvPicPr>
          <p:cNvPr id="4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27340" y="2866073"/>
            <a:ext cx="3237667" cy="2125266"/>
          </a:xfrm>
          <a:prstGeom prst="rect">
            <a:avLst/>
          </a:prstGeom>
        </p:spPr>
      </p:pic>
      <p:pic>
        <p:nvPicPr>
          <p:cNvPr id="5" name="Image 1" descr="preencode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006691" y="2866073"/>
            <a:ext cx="3237667" cy="2125266"/>
          </a:xfrm>
          <a:prstGeom prst="rect">
            <a:avLst/>
          </a:prstGeom>
        </p:spPr>
      </p:pic>
      <p:pic>
        <p:nvPicPr>
          <p:cNvPr id="6" name="Image 2" descr="preencoded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7386042" y="2866073"/>
            <a:ext cx="3237667" cy="2125266"/>
          </a:xfrm>
          <a:prstGeom prst="rect">
            <a:avLst/>
          </a:prstGeom>
        </p:spPr>
      </p:pic>
      <p:pic>
        <p:nvPicPr>
          <p:cNvPr id="7" name="Image 3" descr="preencoded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10765393" y="2866073"/>
            <a:ext cx="3237667" cy="2125266"/>
          </a:xfrm>
          <a:prstGeom prst="rect">
            <a:avLst/>
          </a:prstGeom>
        </p:spPr>
      </p:pic>
      <p:sp>
        <p:nvSpPr>
          <p:cNvPr id="8" name="Shape 2"/>
          <p:cNvSpPr/>
          <p:nvPr/>
        </p:nvSpPr>
        <p:spPr>
          <a:xfrm>
            <a:off x="619839" y="5306258"/>
            <a:ext cx="13390721" cy="1601272"/>
          </a:xfrm>
          <a:prstGeom prst="roundRect">
            <a:avLst>
              <a:gd name="adj" fmla="val 16591"/>
            </a:avLst>
          </a:prstGeom>
          <a:solidFill>
            <a:srgbClr val="F3F3FF"/>
          </a:solidFill>
          <a:ln w="15240">
            <a:solidFill>
              <a:srgbClr val="2D4DF2"/>
            </a:solidFill>
            <a:prstDash val="solid"/>
          </a:ln>
        </p:spPr>
      </p:sp>
      <p:sp>
        <p:nvSpPr>
          <p:cNvPr id="9" name="Shape 3"/>
          <p:cNvSpPr/>
          <p:nvPr/>
        </p:nvSpPr>
        <p:spPr>
          <a:xfrm>
            <a:off x="635079" y="5321498"/>
            <a:ext cx="6680121" cy="1570792"/>
          </a:xfrm>
          <a:prstGeom prst="roundRect">
            <a:avLst>
              <a:gd name="adj" fmla="val 16913"/>
            </a:avLst>
          </a:prstGeom>
          <a:solidFill>
            <a:srgbClr val="F3F3FF"/>
          </a:solidFill>
        </p:spPr>
      </p:sp>
      <p:sp>
        <p:nvSpPr>
          <p:cNvPr id="10" name="Text 4"/>
          <p:cNvSpPr/>
          <p:nvPr/>
        </p:nvSpPr>
        <p:spPr>
          <a:xfrm>
            <a:off x="812125" y="5498544"/>
            <a:ext cx="4447223" cy="260390"/>
          </a:xfrm>
          <a:prstGeom prst="rect">
            <a:avLst/>
          </a:prstGeom>
          <a:noFill/>
        </p:spPr>
        <p:txBody>
          <a:bodyPr wrap="none" lIns="0" tIns="0" rIns="0" bIns="0" rtlCol="0" anchor="t"/>
          <a:lstStyle/>
          <a:p>
            <a:pPr marL="0" indent="0" algn="l">
              <a:lnSpc>
                <a:spcPts val="2050"/>
              </a:lnSpc>
              <a:buNone/>
            </a:pPr>
            <a:r>
              <a:rPr lang="en-US" sz="1600" dirty="0">
                <a:solidFill>
                  <a:srgbClr val="0066CC"/>
                </a:solidFill>
                <a:latin typeface="Nunito Semi Bold" pitchFamily="34" charset="0"/>
                <a:ea typeface="Nunito Semi Bold" pitchFamily="34" charset="-122"/>
                <a:cs typeface="Nunito Semi Bold" pitchFamily="34" charset="-120"/>
              </a:rPr>
              <a:t>Gadget Blueprint Archives</a:t>
            </a:r>
            <a:r>
              <a:rPr lang="en-US" sz="1600" dirty="0">
                <a:solidFill>
                  <a:srgbClr val="00002E"/>
                </a:solidFill>
                <a:latin typeface="Nunito Semi Bold" pitchFamily="34" charset="0"/>
                <a:ea typeface="Nunito Semi Bold" pitchFamily="34" charset="-122"/>
                <a:cs typeface="Nunito Semi Bold" pitchFamily="34" charset="-120"/>
              </a:rPr>
              <a:t> (Project Repository)</a:t>
            </a:r>
            <a:endParaRPr lang="en-US" sz="1600" dirty="0"/>
          </a:p>
        </p:txBody>
      </p:sp>
      <p:sp>
        <p:nvSpPr>
          <p:cNvPr id="11" name="Text 5"/>
          <p:cNvSpPr/>
          <p:nvPr/>
        </p:nvSpPr>
        <p:spPr>
          <a:xfrm>
            <a:off x="812125" y="5865138"/>
            <a:ext cx="6326029" cy="566738"/>
          </a:xfrm>
          <a:prstGeom prst="rect">
            <a:avLst/>
          </a:prstGeom>
          <a:noFill/>
        </p:spPr>
        <p:txBody>
          <a:bodyPr wrap="square" lIns="0" tIns="0" rIns="0" bIns="0" rtlCol="0" anchor="t"/>
          <a:lstStyle/>
          <a:p>
            <a:pPr marL="0" indent="0" algn="l">
              <a:lnSpc>
                <a:spcPts val="2200"/>
              </a:lnSpc>
              <a:buNone/>
            </a:pPr>
            <a:r>
              <a:rPr lang="en-US" sz="1350" dirty="0">
                <a:solidFill>
                  <a:srgbClr val="00002E"/>
                </a:solidFill>
                <a:latin typeface="PT Sans" panose="020B0503020203020204" pitchFamily="34" charset="0"/>
                <a:ea typeface="PT Sans" panose="020B0503020203020204" pitchFamily="34" charset="-122"/>
                <a:cs typeface="PT Sans" panose="020B0503020203020204" pitchFamily="34" charset="-120"/>
              </a:rPr>
              <a:t>Our project's very own </a:t>
            </a:r>
            <a:r>
              <a:rPr lang="en-US" sz="1350" b="1" dirty="0">
                <a:solidFill>
                  <a:srgbClr val="00002E"/>
                </a:solidFill>
                <a:latin typeface="PT Sans" panose="020B0503020203020204" pitchFamily="34" charset="0"/>
                <a:ea typeface="PT Sans" panose="020B0503020203020204" pitchFamily="34" charset="-122"/>
                <a:cs typeface="PT Sans" panose="020B0503020203020204" pitchFamily="34" charset="-120"/>
              </a:rPr>
              <a:t>Time Machine</a:t>
            </a:r>
            <a:r>
              <a:rPr lang="en-US" sz="1350" dirty="0">
                <a:solidFill>
                  <a:srgbClr val="00002E"/>
                </a:solidFill>
                <a:latin typeface="PT Sans" panose="020B0503020203020204" pitchFamily="34" charset="0"/>
                <a:ea typeface="PT Sans" panose="020B0503020203020204" pitchFamily="34" charset="-122"/>
                <a:cs typeface="PT Sans" panose="020B0503020203020204" pitchFamily="34" charset="-120"/>
              </a:rPr>
              <a:t> for version control: </a:t>
            </a:r>
            <a:r>
              <a:rPr lang="en-US" sz="1350" dirty="0">
                <a:solidFill>
                  <a:srgbClr val="00002E"/>
                </a:solidFill>
                <a:highlight>
                  <a:srgbClr val="E6E6F2"/>
                </a:highlight>
                <a:latin typeface="Consolas" pitchFamily="34" charset="0"/>
                <a:ea typeface="Consolas" pitchFamily="34" charset="-122"/>
                <a:cs typeface="Consolas" pitchFamily="34" charset="-120"/>
              </a:rPr>
              <a:t>pgcit-final-project-Doraemon's Tech Team</a:t>
            </a:r>
            <a:endParaRPr lang="en-US" sz="1350" dirty="0"/>
          </a:p>
        </p:txBody>
      </p:sp>
      <p:sp>
        <p:nvSpPr>
          <p:cNvPr id="12" name="Shape 6"/>
          <p:cNvSpPr/>
          <p:nvPr/>
        </p:nvSpPr>
        <p:spPr>
          <a:xfrm>
            <a:off x="7315200" y="5321498"/>
            <a:ext cx="6680121" cy="1570792"/>
          </a:xfrm>
          <a:prstGeom prst="rect">
            <a:avLst/>
          </a:prstGeom>
          <a:solidFill>
            <a:srgbClr val="F3F3FF"/>
          </a:solidFill>
        </p:spPr>
      </p:sp>
      <p:sp>
        <p:nvSpPr>
          <p:cNvPr id="13" name="Shape 7"/>
          <p:cNvSpPr/>
          <p:nvPr/>
        </p:nvSpPr>
        <p:spPr>
          <a:xfrm>
            <a:off x="7315200" y="5321498"/>
            <a:ext cx="22860" cy="1570792"/>
          </a:xfrm>
          <a:prstGeom prst="roundRect">
            <a:avLst>
              <a:gd name="adj" fmla="val 1162164"/>
            </a:avLst>
          </a:prstGeom>
          <a:solidFill>
            <a:srgbClr val="1AA5FA"/>
          </a:solidFill>
        </p:spPr>
      </p:sp>
      <p:sp>
        <p:nvSpPr>
          <p:cNvPr id="14" name="Text 8"/>
          <p:cNvSpPr/>
          <p:nvPr/>
        </p:nvSpPr>
        <p:spPr>
          <a:xfrm>
            <a:off x="7492246" y="5498544"/>
            <a:ext cx="3992999" cy="260390"/>
          </a:xfrm>
          <a:prstGeom prst="rect">
            <a:avLst/>
          </a:prstGeom>
          <a:noFill/>
        </p:spPr>
        <p:txBody>
          <a:bodyPr wrap="none" lIns="0" tIns="0" rIns="0" bIns="0" rtlCol="0" anchor="t"/>
          <a:lstStyle/>
          <a:p>
            <a:pPr marL="0" indent="0" algn="l">
              <a:lnSpc>
                <a:spcPts val="2050"/>
              </a:lnSpc>
              <a:buNone/>
            </a:pPr>
            <a:r>
              <a:rPr lang="en-US" sz="1600" dirty="0">
                <a:solidFill>
                  <a:srgbClr val="0066CC"/>
                </a:solidFill>
                <a:latin typeface="Nunito Semi Bold" pitchFamily="34" charset="0"/>
                <a:ea typeface="Nunito Semi Bold" pitchFamily="34" charset="-122"/>
                <a:cs typeface="Nunito Semi Bold" pitchFamily="34" charset="-120"/>
              </a:rPr>
              <a:t>Core Gadgets &amp; Tools</a:t>
            </a:r>
            <a:r>
              <a:rPr lang="en-US" sz="1600" dirty="0">
                <a:solidFill>
                  <a:srgbClr val="00002E"/>
                </a:solidFill>
                <a:latin typeface="Nunito Semi Bold" pitchFamily="34" charset="0"/>
                <a:ea typeface="Nunito Semi Bold" pitchFamily="34" charset="-122"/>
                <a:cs typeface="Nunito Semi Bold" pitchFamily="34" charset="-120"/>
              </a:rPr>
              <a:t> (Core Technologies)</a:t>
            </a:r>
            <a:endParaRPr lang="en-US" sz="1600" dirty="0"/>
          </a:p>
        </p:txBody>
      </p:sp>
      <p:sp>
        <p:nvSpPr>
          <p:cNvPr id="15" name="Text 9"/>
          <p:cNvSpPr/>
          <p:nvPr/>
        </p:nvSpPr>
        <p:spPr>
          <a:xfrm>
            <a:off x="7492246" y="5865138"/>
            <a:ext cx="6326029" cy="850106"/>
          </a:xfrm>
          <a:prstGeom prst="rect">
            <a:avLst/>
          </a:prstGeom>
          <a:noFill/>
        </p:spPr>
        <p:txBody>
          <a:bodyPr wrap="square" lIns="0" tIns="0" rIns="0" bIns="0" rtlCol="0" anchor="t"/>
          <a:lstStyle/>
          <a:p>
            <a:pPr marL="0" indent="0" algn="l">
              <a:lnSpc>
                <a:spcPts val="2200"/>
              </a:lnSpc>
              <a:buNone/>
            </a:pPr>
            <a:r>
              <a:rPr lang="en-US" sz="1350" b="1" dirty="0">
                <a:solidFill>
                  <a:srgbClr val="00002E"/>
                </a:solidFill>
                <a:latin typeface="PT Sans" panose="020B0503020203020204" pitchFamily="34" charset="0"/>
                <a:ea typeface="PT Sans" panose="020B0503020203020204" pitchFamily="34" charset="-122"/>
                <a:cs typeface="PT Sans" panose="020B0503020203020204" pitchFamily="34" charset="-120"/>
              </a:rPr>
              <a:t>SvelteKit</a:t>
            </a:r>
            <a:r>
              <a:rPr lang="en-US" sz="1350" dirty="0">
                <a:solidFill>
                  <a:srgbClr val="00002E"/>
                </a:solidFill>
                <a:latin typeface="PT Sans" panose="020B0503020203020204" pitchFamily="34" charset="0"/>
                <a:ea typeface="PT Sans" panose="020B0503020203020204" pitchFamily="34" charset="-122"/>
                <a:cs typeface="PT Sans" panose="020B0503020203020204" pitchFamily="34" charset="-120"/>
              </a:rPr>
              <a:t> (our </a:t>
            </a:r>
            <a:r>
              <a:rPr lang="en-US" sz="1350" b="1" dirty="0">
                <a:solidFill>
                  <a:srgbClr val="00002E"/>
                </a:solidFill>
                <a:latin typeface="PT Sans" panose="020B0503020203020204" pitchFamily="34" charset="0"/>
                <a:ea typeface="PT Sans" panose="020B0503020203020204" pitchFamily="34" charset="-122"/>
                <a:cs typeface="PT Sans" panose="020B0503020203020204" pitchFamily="34" charset="-120"/>
              </a:rPr>
              <a:t>Anywhere Door</a:t>
            </a:r>
            <a:r>
              <a:rPr lang="en-US" sz="1350" dirty="0">
                <a:solidFill>
                  <a:srgbClr val="00002E"/>
                </a:solidFill>
                <a:latin typeface="PT Sans" panose="020B0503020203020204" pitchFamily="34" charset="0"/>
                <a:ea typeface="PT Sans" panose="020B0503020203020204" pitchFamily="34" charset="-122"/>
                <a:cs typeface="PT Sans" panose="020B0503020203020204" pitchFamily="34" charset="-120"/>
              </a:rPr>
              <a:t> for the frontend) • </a:t>
            </a:r>
            <a:r>
              <a:rPr lang="en-US" sz="1350" b="1" dirty="0">
                <a:solidFill>
                  <a:srgbClr val="00002E"/>
                </a:solidFill>
                <a:latin typeface="PT Sans" panose="020B0503020203020204" pitchFamily="34" charset="0"/>
                <a:ea typeface="PT Sans" panose="020B0503020203020204" pitchFamily="34" charset="-122"/>
                <a:cs typeface="PT Sans" panose="020B0503020203020204" pitchFamily="34" charset="-120"/>
              </a:rPr>
              <a:t>Node.js/Express</a:t>
            </a:r>
            <a:r>
              <a:rPr lang="en-US" sz="1350" dirty="0">
                <a:solidFill>
                  <a:srgbClr val="00002E"/>
                </a:solidFill>
                <a:latin typeface="PT Sans" panose="020B0503020203020204" pitchFamily="34" charset="0"/>
                <a:ea typeface="PT Sans" panose="020B0503020203020204" pitchFamily="34" charset="-122"/>
                <a:cs typeface="PT Sans" panose="020B0503020203020204" pitchFamily="34" charset="-120"/>
              </a:rPr>
              <a:t> (our backend </a:t>
            </a:r>
            <a:r>
              <a:rPr lang="en-US" sz="1350" b="1" dirty="0">
                <a:solidFill>
                  <a:srgbClr val="00002E"/>
                </a:solidFill>
                <a:latin typeface="PT Sans" panose="020B0503020203020204" pitchFamily="34" charset="0"/>
                <a:ea typeface="PT Sans" panose="020B0503020203020204" pitchFamily="34" charset="-122"/>
                <a:cs typeface="PT Sans" panose="020B0503020203020204" pitchFamily="34" charset="-120"/>
              </a:rPr>
              <a:t>Hopter</a:t>
            </a:r>
            <a:r>
              <a:rPr lang="en-US" sz="1350" dirty="0">
                <a:solidFill>
                  <a:srgbClr val="00002E"/>
                </a:solidFill>
                <a:latin typeface="PT Sans" panose="020B0503020203020204" pitchFamily="34" charset="0"/>
                <a:ea typeface="PT Sans" panose="020B0503020203020204" pitchFamily="34" charset="-122"/>
                <a:cs typeface="PT Sans" panose="020B0503020203020204" pitchFamily="34" charset="-120"/>
              </a:rPr>
              <a:t>) • </a:t>
            </a:r>
            <a:r>
              <a:rPr lang="en-US" sz="1350" b="1" dirty="0">
                <a:solidFill>
                  <a:srgbClr val="00002E"/>
                </a:solidFill>
                <a:latin typeface="PT Sans" panose="020B0503020203020204" pitchFamily="34" charset="0"/>
                <a:ea typeface="PT Sans" panose="020B0503020203020204" pitchFamily="34" charset="-122"/>
                <a:cs typeface="PT Sans" panose="020B0503020203020204" pitchFamily="34" charset="-120"/>
              </a:rPr>
              <a:t>SQLite</a:t>
            </a:r>
            <a:r>
              <a:rPr lang="en-US" sz="1350" dirty="0">
                <a:solidFill>
                  <a:srgbClr val="00002E"/>
                </a:solidFill>
                <a:latin typeface="PT Sans" panose="020B0503020203020204" pitchFamily="34" charset="0"/>
                <a:ea typeface="PT Sans" panose="020B0503020203020204" pitchFamily="34" charset="-122"/>
                <a:cs typeface="PT Sans" panose="020B0503020203020204" pitchFamily="34" charset="-120"/>
              </a:rPr>
              <a:t> (our data </a:t>
            </a:r>
            <a:r>
              <a:rPr lang="en-US" sz="1350" b="1" dirty="0">
                <a:solidFill>
                  <a:srgbClr val="00002E"/>
                </a:solidFill>
                <a:latin typeface="PT Sans" panose="020B0503020203020204" pitchFamily="34" charset="0"/>
                <a:ea typeface="PT Sans" panose="020B0503020203020204" pitchFamily="34" charset="-122"/>
                <a:cs typeface="PT Sans" panose="020B0503020203020204" pitchFamily="34" charset="-120"/>
              </a:rPr>
              <a:t>Memory Bread</a:t>
            </a:r>
            <a:r>
              <a:rPr lang="en-US" sz="1350" dirty="0">
                <a:solidFill>
                  <a:srgbClr val="00002E"/>
                </a:solidFill>
                <a:latin typeface="PT Sans" panose="020B0503020203020204" pitchFamily="34" charset="0"/>
                <a:ea typeface="PT Sans" panose="020B0503020203020204" pitchFamily="34" charset="-122"/>
                <a:cs typeface="PT Sans" panose="020B0503020203020204" pitchFamily="34" charset="-120"/>
              </a:rPr>
              <a:t>) • </a:t>
            </a:r>
            <a:r>
              <a:rPr lang="en-US" sz="1350" b="1" dirty="0">
                <a:solidFill>
                  <a:srgbClr val="00002E"/>
                </a:solidFill>
                <a:latin typeface="PT Sans" panose="020B0503020203020204" pitchFamily="34" charset="0"/>
                <a:ea typeface="PT Sans" panose="020B0503020203020204" pitchFamily="34" charset="-122"/>
                <a:cs typeface="PT Sans" panose="020B0503020203020204" pitchFamily="34" charset="-120"/>
              </a:rPr>
              <a:t>JWT</a:t>
            </a:r>
            <a:r>
              <a:rPr lang="en-US" sz="1350" dirty="0">
                <a:solidFill>
                  <a:srgbClr val="00002E"/>
                </a:solidFill>
                <a:latin typeface="PT Sans" panose="020B0503020203020204" pitchFamily="34" charset="0"/>
                <a:ea typeface="PT Sans" panose="020B0503020203020204" pitchFamily="34" charset="-122"/>
                <a:cs typeface="PT Sans" panose="020B0503020203020204" pitchFamily="34" charset="-120"/>
              </a:rPr>
              <a:t> (our secure </a:t>
            </a:r>
            <a:r>
              <a:rPr lang="en-US" sz="1350" b="1" dirty="0">
                <a:solidFill>
                  <a:srgbClr val="00002E"/>
                </a:solidFill>
                <a:latin typeface="PT Sans" panose="020B0503020203020204" pitchFamily="34" charset="0"/>
                <a:ea typeface="PT Sans" panose="020B0503020203020204" pitchFamily="34" charset="-122"/>
                <a:cs typeface="PT Sans" panose="020B0503020203020204" pitchFamily="34" charset="-120"/>
              </a:rPr>
              <a:t>Invisible Cape</a:t>
            </a:r>
            <a:r>
              <a:rPr lang="en-US" sz="1350" dirty="0">
                <a:solidFill>
                  <a:srgbClr val="00002E"/>
                </a:solidFill>
                <a:latin typeface="PT Sans" panose="020B0503020203020204" pitchFamily="34" charset="0"/>
                <a:ea typeface="PT Sans" panose="020B0503020203020204" pitchFamily="34" charset="-122"/>
                <a:cs typeface="PT Sans" panose="020B0503020203020204" pitchFamily="34" charset="-120"/>
              </a:rPr>
              <a:t>) • </a:t>
            </a:r>
            <a:r>
              <a:rPr lang="en-US" sz="1350" b="1" dirty="0">
                <a:solidFill>
                  <a:srgbClr val="00002E"/>
                </a:solidFill>
                <a:latin typeface="PT Sans" panose="020B0503020203020204" pitchFamily="34" charset="0"/>
                <a:ea typeface="PT Sans" panose="020B0503020203020204" pitchFamily="34" charset="-122"/>
                <a:cs typeface="PT Sans" panose="020B0503020203020204" pitchFamily="34" charset="-120"/>
              </a:rPr>
              <a:t>Java Swing</a:t>
            </a:r>
            <a:r>
              <a:rPr lang="en-US" sz="1350" dirty="0">
                <a:solidFill>
                  <a:srgbClr val="00002E"/>
                </a:solidFill>
                <a:latin typeface="PT Sans" panose="020B0503020203020204" pitchFamily="34" charset="0"/>
                <a:ea typeface="PT Sans" panose="020B0503020203020204" pitchFamily="34" charset="-122"/>
                <a:cs typeface="PT Sans" panose="020B0503020203020204" pitchFamily="34" charset="-120"/>
              </a:rPr>
              <a:t> (our handy admin </a:t>
            </a:r>
            <a:r>
              <a:rPr lang="en-US" sz="1350" b="1" dirty="0">
                <a:solidFill>
                  <a:srgbClr val="00002E"/>
                </a:solidFill>
                <a:latin typeface="PT Sans" panose="020B0503020203020204" pitchFamily="34" charset="0"/>
                <a:ea typeface="PT Sans" panose="020B0503020203020204" pitchFamily="34" charset="-122"/>
                <a:cs typeface="PT Sans" panose="020B0503020203020204" pitchFamily="34" charset="-120"/>
              </a:rPr>
              <a:t>Big Light</a:t>
            </a:r>
            <a:r>
              <a:rPr lang="en-US" sz="1350" dirty="0">
                <a:solidFill>
                  <a:srgbClr val="00002E"/>
                </a:solidFill>
                <a:latin typeface="PT Sans" panose="020B0503020203020204" pitchFamily="34" charset="0"/>
                <a:ea typeface="PT Sans" panose="020B0503020203020204" pitchFamily="34" charset="-122"/>
                <a:cs typeface="PT Sans" panose="020B0503020203020204" pitchFamily="34" charset="-120"/>
              </a:rPr>
              <a:t>)</a:t>
            </a:r>
            <a:endParaRPr lang="en-US" sz="1350" dirty="0"/>
          </a:p>
        </p:txBody>
      </p:sp>
    </p:spTree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med" p14:dur="700">
        <p:fade/>
      </p:transition>
    </mc:Choice>
    <mc:Fallback>
      <p:transition spd="med">
        <p:fade/>
      </p:transition>
    </mc:Fallback>
  </mc:AlternateContent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959</Words>
  <Application>Microsoft Office PowerPoint</Application>
  <PresentationFormat>自定义</PresentationFormat>
  <Paragraphs>88</Paragraphs>
  <Slides>10</Slides>
  <Notes>10</Notes>
  <HiddenSlides>0</HiddenSlides>
  <MMClips>0</MMClips>
  <ScaleCrop>false</ScaleCrop>
  <HeadingPairs>
    <vt:vector size="6" baseType="variant">
      <vt:variant>
        <vt:lpstr>已用的字体</vt:lpstr>
      </vt:variant>
      <vt:variant>
        <vt:i4>5</vt:i4>
      </vt:variant>
      <vt:variant>
        <vt:lpstr>主题</vt:lpstr>
      </vt:variant>
      <vt:variant>
        <vt:i4>1</vt:i4>
      </vt:variant>
      <vt:variant>
        <vt:lpstr>幻灯片标题</vt:lpstr>
      </vt:variant>
      <vt:variant>
        <vt:i4>10</vt:i4>
      </vt:variant>
    </vt:vector>
  </HeadingPairs>
  <TitlesOfParts>
    <vt:vector size="16" baseType="lpstr">
      <vt:lpstr>Consolas</vt:lpstr>
      <vt:lpstr>PT Sans</vt:lpstr>
      <vt:lpstr>Calibri</vt:lpstr>
      <vt:lpstr>Nunito Semi Bold</vt:lpstr>
      <vt:lpstr>Arial</vt:lpstr>
      <vt:lpstr>Office Theme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/>
  <cp:lastModifiedBy>Leo Moyung</cp:lastModifiedBy>
  <cp:revision>3</cp:revision>
  <dcterms:created xsi:type="dcterms:W3CDTF">2025-11-06T02:17:23Z</dcterms:created>
  <dcterms:modified xsi:type="dcterms:W3CDTF">2025-11-06T02:30:39Z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ICV">
    <vt:lpwstr>748F35F869C3C63233050C69D7970529_42</vt:lpwstr>
  </property>
  <property fmtid="{D5CDD505-2E9C-101B-9397-08002B2CF9AE}" pid="3" name="KSOProductBuildVer">
    <vt:lpwstr>2052-12.1.22218.22218</vt:lpwstr>
  </property>
</Properties>
</file>