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6" r:id="rId8"/>
    <p:sldId id="263" r:id="rId9"/>
    <p:sldId id="264" r:id="rId10"/>
    <p:sldId id="265" r:id="rId11"/>
    <p:sldId id="262" r:id="rId12"/>
    <p:sldId id="267" r:id="rId13"/>
  </p:sldIdLst>
  <p:sldSz cx="14630400" cy="8229600"/>
  <p:notesSz cx="8229600" cy="14630400"/>
  <p:embeddedFontLst>
    <p:embeddedFont>
      <p:font typeface="Consolas" panose="020B0609020204030204" pitchFamily="49" charset="0"/>
      <p:regular r:id="rId15"/>
      <p:bold r:id="rId16"/>
      <p:italic r:id="rId17"/>
      <p:boldItalic r:id="rId18"/>
    </p:embeddedFont>
    <p:embeddedFont>
      <p:font typeface="Nunito Semi Bold" panose="02010600030101010101" charset="0"/>
      <p:regular r:id="rId19"/>
    </p:embeddedFont>
    <p:embeddedFont>
      <p:font typeface="PT Sans" panose="020F0502020204030204" pitchFamily="34" charset="0"/>
      <p:regular r:id="rId20"/>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2" d="100"/>
          <a:sy n="72" d="100"/>
        </p:scale>
        <p:origin x="523"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48419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 leader&amp;architecture: Leo Mo-yung
UI &amp; developer: Yushun Shi
Developer&amp;test: Xuan Zeng
Developer&amp;test: Zhongwei Zhang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sv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0.sv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37724" y="2482929"/>
            <a:ext cx="7468553" cy="2816066"/>
          </a:xfrm>
          <a:prstGeom prst="rect">
            <a:avLst/>
          </a:prstGeom>
          <a:noFill/>
          <a:ln/>
        </p:spPr>
        <p:txBody>
          <a:bodyPr wrap="square" lIns="0" tIns="0" rIns="0" bIns="0" rtlCol="0" anchor="t"/>
          <a:lstStyle/>
          <a:p>
            <a:pPr marL="0" indent="0" algn="l">
              <a:lnSpc>
                <a:spcPts val="5500"/>
              </a:lnSpc>
              <a:buNone/>
            </a:pPr>
            <a:r>
              <a:rPr lang="en-US" sz="4400" dirty="0">
                <a:solidFill>
                  <a:srgbClr val="00002E"/>
                </a:solidFill>
                <a:latin typeface="Nunito Semi Bold" pitchFamily="34" charset="0"/>
                <a:ea typeface="Nunito Semi Bold" pitchFamily="34" charset="-122"/>
                <a:cs typeface="Nunito Semi Bold" pitchFamily="34" charset="-120"/>
              </a:rPr>
              <a:t>DoraBlog: Unleashing Gadget-Powered Storytelling - Final Project Presentation</a:t>
            </a:r>
            <a:endParaRPr lang="en-US" sz="4400" dirty="0"/>
          </a:p>
        </p:txBody>
      </p:sp>
      <p:sp>
        <p:nvSpPr>
          <p:cNvPr id="4" name="Text 1"/>
          <p:cNvSpPr/>
          <p:nvPr/>
        </p:nvSpPr>
        <p:spPr>
          <a:xfrm>
            <a:off x="837724" y="5394722"/>
            <a:ext cx="4281964" cy="351949"/>
          </a:xfrm>
          <a:prstGeom prst="rect">
            <a:avLst/>
          </a:prstGeom>
          <a:noFill/>
          <a:ln/>
        </p:spPr>
        <p:txBody>
          <a:bodyPr wrap="none" lIns="0" tIns="0" rIns="0" bIns="0" rtlCol="0" anchor="t"/>
          <a:lstStyle/>
          <a:p>
            <a:pPr marL="0" indent="0" algn="l">
              <a:lnSpc>
                <a:spcPts val="2750"/>
              </a:lnSpc>
              <a:buNone/>
            </a:pPr>
            <a:r>
              <a:rPr lang="en-US" sz="2200" dirty="0">
                <a:solidFill>
                  <a:srgbClr val="00002E"/>
                </a:solidFill>
                <a:latin typeface="Nunito Semi Bold" pitchFamily="34" charset="0"/>
                <a:ea typeface="Nunito Semi Bold" pitchFamily="34" charset="-122"/>
                <a:cs typeface="Nunito Semi Bold" pitchFamily="34" charset="-120"/>
              </a:rPr>
              <a:t>Presented by Team Blue Cat Four</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37724" y="2413397"/>
            <a:ext cx="5632490" cy="704017"/>
          </a:xfrm>
          <a:prstGeom prst="rect">
            <a:avLst/>
          </a:prstGeom>
          <a:noFill/>
          <a:ln/>
        </p:spPr>
        <p:txBody>
          <a:bodyPr wrap="none" lIns="0" tIns="0" rIns="0" bIns="0" rtlCol="0" anchor="t"/>
          <a:lstStyle/>
          <a:p>
            <a:pPr marL="0" indent="0" algn="l">
              <a:lnSpc>
                <a:spcPts val="5500"/>
              </a:lnSpc>
              <a:buNone/>
            </a:pPr>
            <a:r>
              <a:rPr lang="en-US" sz="4400" dirty="0">
                <a:solidFill>
                  <a:srgbClr val="00002E"/>
                </a:solidFill>
                <a:latin typeface="Nunito Semi Bold" pitchFamily="34" charset="0"/>
                <a:ea typeface="Nunito Semi Bold" pitchFamily="34" charset="-122"/>
                <a:cs typeface="Nunito Semi Bold" pitchFamily="34" charset="-120"/>
              </a:rPr>
              <a:t>Team members</a:t>
            </a:r>
            <a:endParaRPr lang="en-US" sz="4400" dirty="0"/>
          </a:p>
        </p:txBody>
      </p:sp>
      <p:sp>
        <p:nvSpPr>
          <p:cNvPr id="4" name="Text 1"/>
          <p:cNvSpPr/>
          <p:nvPr/>
        </p:nvSpPr>
        <p:spPr>
          <a:xfrm>
            <a:off x="837724" y="3476387"/>
            <a:ext cx="7468553" cy="383024"/>
          </a:xfrm>
          <a:prstGeom prst="rect">
            <a:avLst/>
          </a:prstGeom>
          <a:noFill/>
          <a:ln/>
        </p:spPr>
        <p:txBody>
          <a:bodyPr wrap="none" lIns="0" tIns="0" rIns="0" bIns="0" rtlCol="0" anchor="t"/>
          <a:lstStyle/>
          <a:p>
            <a:pPr marL="0" indent="0" algn="l">
              <a:lnSpc>
                <a:spcPts val="3000"/>
              </a:lnSpc>
              <a:buNone/>
            </a:pPr>
            <a:r>
              <a:rPr lang="en-US" sz="1850" dirty="0">
                <a:solidFill>
                  <a:srgbClr val="00002E"/>
                </a:solidFill>
                <a:latin typeface="PT Sans" pitchFamily="34" charset="0"/>
                <a:ea typeface="PT Sans" pitchFamily="34" charset="-122"/>
                <a:cs typeface="PT Sans" pitchFamily="34" charset="-120"/>
              </a:rPr>
              <a:t>Team leader &amp; architecture: Leo Mo-yung</a:t>
            </a:r>
            <a:endParaRPr lang="en-US" sz="1850" dirty="0"/>
          </a:p>
        </p:txBody>
      </p:sp>
      <p:sp>
        <p:nvSpPr>
          <p:cNvPr id="5" name="Text 2"/>
          <p:cNvSpPr/>
          <p:nvPr/>
        </p:nvSpPr>
        <p:spPr>
          <a:xfrm>
            <a:off x="837724" y="4128611"/>
            <a:ext cx="7468553" cy="383024"/>
          </a:xfrm>
          <a:prstGeom prst="rect">
            <a:avLst/>
          </a:prstGeom>
          <a:noFill/>
          <a:ln/>
        </p:spPr>
        <p:txBody>
          <a:bodyPr wrap="none" lIns="0" tIns="0" rIns="0" bIns="0" rtlCol="0" anchor="t"/>
          <a:lstStyle/>
          <a:p>
            <a:pPr marL="0" indent="0" algn="l">
              <a:lnSpc>
                <a:spcPts val="3000"/>
              </a:lnSpc>
              <a:buNone/>
            </a:pPr>
            <a:r>
              <a:rPr lang="en-US" sz="1850" dirty="0">
                <a:solidFill>
                  <a:srgbClr val="00002E"/>
                </a:solidFill>
                <a:latin typeface="PT Sans" pitchFamily="34" charset="0"/>
                <a:ea typeface="PT Sans" pitchFamily="34" charset="-122"/>
                <a:cs typeface="PT Sans" pitchFamily="34" charset="-120"/>
              </a:rPr>
              <a:t>UI &amp; developer: Yushun Shi</a:t>
            </a:r>
            <a:endParaRPr lang="en-US" sz="1850" dirty="0"/>
          </a:p>
        </p:txBody>
      </p:sp>
      <p:sp>
        <p:nvSpPr>
          <p:cNvPr id="6" name="Text 3"/>
          <p:cNvSpPr/>
          <p:nvPr/>
        </p:nvSpPr>
        <p:spPr>
          <a:xfrm>
            <a:off x="837724" y="4780836"/>
            <a:ext cx="7468553" cy="383024"/>
          </a:xfrm>
          <a:prstGeom prst="rect">
            <a:avLst/>
          </a:prstGeom>
          <a:noFill/>
          <a:ln/>
        </p:spPr>
        <p:txBody>
          <a:bodyPr wrap="none" lIns="0" tIns="0" rIns="0" bIns="0" rtlCol="0" anchor="t"/>
          <a:lstStyle/>
          <a:p>
            <a:pPr marL="0" indent="0" algn="l">
              <a:lnSpc>
                <a:spcPts val="3000"/>
              </a:lnSpc>
              <a:buNone/>
            </a:pPr>
            <a:r>
              <a:rPr lang="en-US" sz="1850" dirty="0">
                <a:solidFill>
                  <a:srgbClr val="00002E"/>
                </a:solidFill>
                <a:latin typeface="PT Sans" pitchFamily="34" charset="0"/>
                <a:ea typeface="PT Sans" pitchFamily="34" charset="-122"/>
                <a:cs typeface="PT Sans" pitchFamily="34" charset="-120"/>
              </a:rPr>
              <a:t>Developer &amp; test: Xuan Zeng</a:t>
            </a:r>
            <a:endParaRPr lang="en-US" sz="1850" dirty="0"/>
          </a:p>
        </p:txBody>
      </p:sp>
      <p:sp>
        <p:nvSpPr>
          <p:cNvPr id="7" name="Text 4"/>
          <p:cNvSpPr/>
          <p:nvPr/>
        </p:nvSpPr>
        <p:spPr>
          <a:xfrm>
            <a:off x="837724" y="5433060"/>
            <a:ext cx="7468553" cy="383024"/>
          </a:xfrm>
          <a:prstGeom prst="rect">
            <a:avLst/>
          </a:prstGeom>
          <a:noFill/>
          <a:ln/>
        </p:spPr>
        <p:txBody>
          <a:bodyPr wrap="none" lIns="0" tIns="0" rIns="0" bIns="0" rtlCol="0" anchor="t"/>
          <a:lstStyle/>
          <a:p>
            <a:pPr marL="0" indent="0" algn="l">
              <a:lnSpc>
                <a:spcPts val="3000"/>
              </a:lnSpc>
              <a:buNone/>
            </a:pPr>
            <a:r>
              <a:rPr lang="en-US" sz="1850" dirty="0">
                <a:solidFill>
                  <a:srgbClr val="00002E"/>
                </a:solidFill>
                <a:latin typeface="PT Sans" pitchFamily="34" charset="0"/>
                <a:ea typeface="PT Sans" pitchFamily="34" charset="-122"/>
                <a:cs typeface="PT Sans" pitchFamily="34" charset="-120"/>
              </a:rPr>
              <a:t>Developer &amp; test: Zhongwei Zhang</a:t>
            </a:r>
            <a:endParaRPr lang="en-US" sz="1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24124" y="2113240"/>
            <a:ext cx="7468553" cy="2112050"/>
          </a:xfrm>
          <a:prstGeom prst="rect">
            <a:avLst/>
          </a:prstGeom>
          <a:noFill/>
          <a:ln/>
        </p:spPr>
        <p:txBody>
          <a:bodyPr wrap="square" lIns="0" tIns="0" rIns="0" bIns="0" rtlCol="0" anchor="t"/>
          <a:lstStyle/>
          <a:p>
            <a:pPr marL="0" indent="0" algn="l">
              <a:lnSpc>
                <a:spcPts val="5500"/>
              </a:lnSpc>
              <a:buNone/>
            </a:pPr>
            <a:r>
              <a:rPr lang="en-US" sz="4400" dirty="0">
                <a:solidFill>
                  <a:srgbClr val="00002E"/>
                </a:solidFill>
                <a:latin typeface="Nunito Semi Bold" pitchFamily="34" charset="0"/>
                <a:ea typeface="Nunito Semi Bold" pitchFamily="34" charset="-122"/>
                <a:cs typeface="Nunito Semi Bold" pitchFamily="34" charset="-120"/>
              </a:rPr>
              <a:t>DoraBlog: Unveiling Doraemon's Blogging Wonderland!</a:t>
            </a:r>
            <a:endParaRPr lang="en-US" sz="4400" dirty="0"/>
          </a:p>
        </p:txBody>
      </p:sp>
      <p:sp>
        <p:nvSpPr>
          <p:cNvPr id="4" name="Text 1"/>
          <p:cNvSpPr/>
          <p:nvPr/>
        </p:nvSpPr>
        <p:spPr>
          <a:xfrm>
            <a:off x="6324124" y="4584263"/>
            <a:ext cx="7468553" cy="1532096"/>
          </a:xfrm>
          <a:prstGeom prst="rect">
            <a:avLst/>
          </a:prstGeom>
          <a:noFill/>
          <a:ln/>
        </p:spPr>
        <p:txBody>
          <a:bodyPr wrap="square" lIns="0" tIns="0" rIns="0" bIns="0" rtlCol="0" anchor="t"/>
          <a:lstStyle/>
          <a:p>
            <a:pPr marL="0" indent="0" algn="l">
              <a:lnSpc>
                <a:spcPts val="3000"/>
              </a:lnSpc>
              <a:buNone/>
            </a:pPr>
            <a:r>
              <a:rPr lang="en-US" sz="1850" dirty="0">
                <a:solidFill>
                  <a:srgbClr val="00002E"/>
                </a:solidFill>
                <a:latin typeface="PT Sans" pitchFamily="34" charset="0"/>
                <a:ea typeface="PT Sans" pitchFamily="34" charset="-122"/>
                <a:cs typeface="PT Sans" pitchFamily="34" charset="-120"/>
              </a:rPr>
              <a:t>Discover a revolutionary platform where classic Doraemon gadgets transform blogging into an imaginative adventure. Share your stories with extraordinary tools, making every post a magical experience, powered by innovation and creativity.</a:t>
            </a:r>
            <a:endParaRPr lang="en-US" sz="1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532686" y="807958"/>
            <a:ext cx="8078629" cy="895350"/>
          </a:xfrm>
          <a:prstGeom prst="rect">
            <a:avLst/>
          </a:prstGeom>
          <a:noFill/>
          <a:ln/>
        </p:spPr>
        <p:txBody>
          <a:bodyPr wrap="square" lIns="0" tIns="0" rIns="0" bIns="0" rtlCol="0" anchor="t"/>
          <a:lstStyle/>
          <a:p>
            <a:pPr marL="0" indent="0" algn="l">
              <a:lnSpc>
                <a:spcPts val="3500"/>
              </a:lnSpc>
              <a:buNone/>
            </a:pPr>
            <a:r>
              <a:rPr lang="en-US" sz="2800" dirty="0">
                <a:solidFill>
                  <a:srgbClr val="00002E"/>
                </a:solidFill>
                <a:latin typeface="Nunito Semi Bold" pitchFamily="34" charset="0"/>
                <a:ea typeface="Nunito Semi Bold" pitchFamily="34" charset="-122"/>
                <a:cs typeface="Nunito Semi Bold" pitchFamily="34" charset="-120"/>
              </a:rPr>
              <a:t>DoraBlog: Unveiling Doraemon's Blogging Wonderland!</a:t>
            </a:r>
            <a:endParaRPr lang="en-US" sz="2800" dirty="0"/>
          </a:p>
        </p:txBody>
      </p:sp>
      <p:sp>
        <p:nvSpPr>
          <p:cNvPr id="4" name="Shape 1"/>
          <p:cNvSpPr/>
          <p:nvPr/>
        </p:nvSpPr>
        <p:spPr>
          <a:xfrm>
            <a:off x="532686" y="1931551"/>
            <a:ext cx="8078629" cy="1380053"/>
          </a:xfrm>
          <a:prstGeom prst="roundRect">
            <a:avLst>
              <a:gd name="adj" fmla="val 5301"/>
            </a:avLst>
          </a:prstGeom>
          <a:solidFill>
            <a:srgbClr val="F3F3FF">
              <a:alpha val="75000"/>
            </a:srgbClr>
          </a:solidFill>
          <a:ln w="15240">
            <a:solidFill>
              <a:srgbClr val="2D4DF2"/>
            </a:solidFill>
            <a:prstDash val="solid"/>
          </a:ln>
        </p:spPr>
      </p:sp>
      <p:sp>
        <p:nvSpPr>
          <p:cNvPr id="5" name="Shape 2"/>
          <p:cNvSpPr/>
          <p:nvPr/>
        </p:nvSpPr>
        <p:spPr>
          <a:xfrm>
            <a:off x="517446" y="1931551"/>
            <a:ext cx="60960" cy="1380053"/>
          </a:xfrm>
          <a:prstGeom prst="roundRect">
            <a:avLst>
              <a:gd name="adj" fmla="val 374514"/>
            </a:avLst>
          </a:prstGeom>
          <a:solidFill>
            <a:srgbClr val="2D4DF2"/>
          </a:solidFill>
          <a:ln/>
        </p:spPr>
      </p:sp>
      <p:sp>
        <p:nvSpPr>
          <p:cNvPr id="6" name="Text 3"/>
          <p:cNvSpPr/>
          <p:nvPr/>
        </p:nvSpPr>
        <p:spPr>
          <a:xfrm>
            <a:off x="745808" y="2098953"/>
            <a:ext cx="3356491" cy="223838"/>
          </a:xfrm>
          <a:prstGeom prst="rect">
            <a:avLst/>
          </a:prstGeom>
          <a:noFill/>
          <a:ln/>
        </p:spPr>
        <p:txBody>
          <a:bodyPr wrap="none" lIns="0" tIns="0" rIns="0" bIns="0" rtlCol="0" anchor="t"/>
          <a:lstStyle/>
          <a:p>
            <a:pPr marL="0" indent="0" algn="l">
              <a:lnSpc>
                <a:spcPts val="1750"/>
              </a:lnSpc>
              <a:buNone/>
            </a:pPr>
            <a:r>
              <a:rPr lang="en-US" sz="1400" dirty="0">
                <a:solidFill>
                  <a:srgbClr val="00002E"/>
                </a:solidFill>
                <a:latin typeface="Nunito Semi Bold" pitchFamily="34" charset="0"/>
                <a:ea typeface="Nunito Semi Bold" pitchFamily="34" charset="-122"/>
                <a:cs typeface="Nunito Semi Bold" pitchFamily="34" charset="-120"/>
              </a:rPr>
              <a:t>Doraemon's Everywhere Pocket Platform</a:t>
            </a:r>
            <a:endParaRPr lang="en-US" sz="1400" dirty="0"/>
          </a:p>
        </p:txBody>
      </p:sp>
      <p:sp>
        <p:nvSpPr>
          <p:cNvPr id="7" name="Text 4"/>
          <p:cNvSpPr/>
          <p:nvPr/>
        </p:nvSpPr>
        <p:spPr>
          <a:xfrm>
            <a:off x="745808" y="2414111"/>
            <a:ext cx="7698105" cy="730091"/>
          </a:xfrm>
          <a:prstGeom prst="rect">
            <a:avLst/>
          </a:prstGeom>
          <a:noFill/>
          <a:ln/>
        </p:spPr>
        <p:txBody>
          <a:bodyPr wrap="square" lIns="0" tIns="0" rIns="0" bIns="0" rtlCol="0" anchor="t"/>
          <a:lstStyle/>
          <a:p>
            <a:pPr marL="0" indent="0" algn="l">
              <a:lnSpc>
                <a:spcPts val="1900"/>
              </a:lnSpc>
              <a:buNone/>
            </a:pPr>
            <a:r>
              <a:rPr lang="en-US" sz="1150" dirty="0">
                <a:solidFill>
                  <a:srgbClr val="00002E"/>
                </a:solidFill>
                <a:latin typeface="PT Sans" pitchFamily="34" charset="0"/>
                <a:ea typeface="PT Sans" pitchFamily="34" charset="-122"/>
                <a:cs typeface="PT Sans" pitchFamily="34" charset="-120"/>
              </a:rPr>
              <a:t>We've engineered a complete full-stack blogging platform, like Doraemon's </a:t>
            </a:r>
            <a:r>
              <a:rPr lang="en-US" sz="1150" b="1" dirty="0">
                <a:solidFill>
                  <a:srgbClr val="00002E"/>
                </a:solidFill>
                <a:latin typeface="PT Sans" pitchFamily="34" charset="0"/>
                <a:ea typeface="PT Sans" pitchFamily="34" charset="-122"/>
                <a:cs typeface="PT Sans" pitchFamily="34" charset="-120"/>
              </a:rPr>
              <a:t>Everywhere Pocket</a:t>
            </a:r>
            <a:r>
              <a:rPr lang="en-US" sz="1150" dirty="0">
                <a:solidFill>
                  <a:srgbClr val="00002E"/>
                </a:solidFill>
                <a:latin typeface="PT Sans" pitchFamily="34" charset="0"/>
                <a:ea typeface="PT Sans" pitchFamily="34" charset="-122"/>
                <a:cs typeface="PT Sans" pitchFamily="34" charset="-120"/>
              </a:rPr>
              <a:t>, featuring a user-friendly front-end interface, a robust back-end service, and an independent management system for seamless operations.</a:t>
            </a:r>
            <a:endParaRPr lang="en-US" sz="1150" dirty="0"/>
          </a:p>
        </p:txBody>
      </p:sp>
      <p:sp>
        <p:nvSpPr>
          <p:cNvPr id="8" name="Shape 5"/>
          <p:cNvSpPr/>
          <p:nvPr/>
        </p:nvSpPr>
        <p:spPr>
          <a:xfrm>
            <a:off x="532686" y="3463766"/>
            <a:ext cx="8078629" cy="1380053"/>
          </a:xfrm>
          <a:prstGeom prst="roundRect">
            <a:avLst>
              <a:gd name="adj" fmla="val 5301"/>
            </a:avLst>
          </a:prstGeom>
          <a:solidFill>
            <a:srgbClr val="F3F3FF">
              <a:alpha val="75000"/>
            </a:srgbClr>
          </a:solidFill>
          <a:ln w="15240">
            <a:solidFill>
              <a:srgbClr val="018CE1"/>
            </a:solidFill>
            <a:prstDash val="solid"/>
          </a:ln>
        </p:spPr>
      </p:sp>
      <p:sp>
        <p:nvSpPr>
          <p:cNvPr id="9" name="Shape 6"/>
          <p:cNvSpPr/>
          <p:nvPr/>
        </p:nvSpPr>
        <p:spPr>
          <a:xfrm>
            <a:off x="517446" y="3463766"/>
            <a:ext cx="60960" cy="1380053"/>
          </a:xfrm>
          <a:prstGeom prst="roundRect">
            <a:avLst>
              <a:gd name="adj" fmla="val 374514"/>
            </a:avLst>
          </a:prstGeom>
          <a:solidFill>
            <a:srgbClr val="018CE1"/>
          </a:solidFill>
          <a:ln/>
        </p:spPr>
      </p:sp>
      <p:sp>
        <p:nvSpPr>
          <p:cNvPr id="10" name="Text 7"/>
          <p:cNvSpPr/>
          <p:nvPr/>
        </p:nvSpPr>
        <p:spPr>
          <a:xfrm>
            <a:off x="745808" y="3631168"/>
            <a:ext cx="2574131" cy="223838"/>
          </a:xfrm>
          <a:prstGeom prst="rect">
            <a:avLst/>
          </a:prstGeom>
          <a:noFill/>
          <a:ln/>
        </p:spPr>
        <p:txBody>
          <a:bodyPr wrap="none" lIns="0" tIns="0" rIns="0" bIns="0" rtlCol="0" anchor="t"/>
          <a:lstStyle/>
          <a:p>
            <a:pPr marL="0" indent="0" algn="l">
              <a:lnSpc>
                <a:spcPts val="1750"/>
              </a:lnSpc>
              <a:buNone/>
            </a:pPr>
            <a:r>
              <a:rPr lang="en-US" sz="1400" dirty="0">
                <a:solidFill>
                  <a:srgbClr val="00002E"/>
                </a:solidFill>
                <a:latin typeface="Nunito Semi Bold" pitchFamily="34" charset="0"/>
                <a:ea typeface="Nunito Semi Bold" pitchFamily="34" charset="-122"/>
                <a:cs typeface="Nunito Semi Bold" pitchFamily="34" charset="-120"/>
              </a:rPr>
              <a:t>Gadget-Powered Core Features</a:t>
            </a:r>
            <a:endParaRPr lang="en-US" sz="1400" dirty="0"/>
          </a:p>
        </p:txBody>
      </p:sp>
      <p:sp>
        <p:nvSpPr>
          <p:cNvPr id="11" name="Text 8"/>
          <p:cNvSpPr/>
          <p:nvPr/>
        </p:nvSpPr>
        <p:spPr>
          <a:xfrm>
            <a:off x="745808" y="3946327"/>
            <a:ext cx="7698105" cy="730091"/>
          </a:xfrm>
          <a:prstGeom prst="rect">
            <a:avLst/>
          </a:prstGeom>
          <a:noFill/>
          <a:ln/>
        </p:spPr>
        <p:txBody>
          <a:bodyPr wrap="square" lIns="0" tIns="0" rIns="0" bIns="0" rtlCol="0" anchor="t"/>
          <a:lstStyle/>
          <a:p>
            <a:pPr marL="0" indent="0" algn="l">
              <a:lnSpc>
                <a:spcPts val="1900"/>
              </a:lnSpc>
              <a:buNone/>
            </a:pPr>
            <a:r>
              <a:rPr lang="en-US" sz="1150" dirty="0">
                <a:solidFill>
                  <a:srgbClr val="00002E"/>
                </a:solidFill>
                <a:latin typeface="PT Sans" pitchFamily="34" charset="0"/>
                <a:ea typeface="PT Sans" pitchFamily="34" charset="-122"/>
                <a:cs typeface="PT Sans" pitchFamily="34" charset="-120"/>
              </a:rPr>
              <a:t>Experience super-powered features: </a:t>
            </a:r>
            <a:r>
              <a:rPr lang="en-US" sz="1150" b="1" dirty="0">
                <a:solidFill>
                  <a:srgbClr val="00002E"/>
                </a:solidFill>
                <a:latin typeface="PT Sans" pitchFamily="34" charset="0"/>
                <a:ea typeface="PT Sans" pitchFamily="34" charset="-122"/>
                <a:cs typeface="PT Sans" pitchFamily="34" charset="-120"/>
              </a:rPr>
              <a:t>Identification Camera</a:t>
            </a:r>
            <a:r>
              <a:rPr lang="en-US" sz="1150" dirty="0">
                <a:solidFill>
                  <a:srgbClr val="00002E"/>
                </a:solidFill>
                <a:latin typeface="PT Sans" pitchFamily="34" charset="0"/>
                <a:ea typeface="PT Sans" pitchFamily="34" charset="-122"/>
                <a:cs typeface="PT Sans" pitchFamily="34" charset="-120"/>
              </a:rPr>
              <a:t> for user registration/authentication, </a:t>
            </a:r>
            <a:r>
              <a:rPr lang="en-US" sz="1150" b="1" dirty="0">
                <a:solidFill>
                  <a:srgbClr val="00002E"/>
                </a:solidFill>
                <a:latin typeface="PT Sans" pitchFamily="34" charset="0"/>
                <a:ea typeface="PT Sans" pitchFamily="34" charset="-122"/>
                <a:cs typeface="PT Sans" pitchFamily="34" charset="-120"/>
              </a:rPr>
              <a:t>Word-Processor Pencil</a:t>
            </a:r>
            <a:r>
              <a:rPr lang="en-US" sz="1150" dirty="0">
                <a:solidFill>
                  <a:srgbClr val="00002E"/>
                </a:solidFill>
                <a:latin typeface="PT Sans" pitchFamily="34" charset="0"/>
                <a:ea typeface="PT Sans" pitchFamily="34" charset="-122"/>
                <a:cs typeface="PT Sans" pitchFamily="34" charset="-120"/>
              </a:rPr>
              <a:t> for rich-text article creation, a hierarchical comment system (like a tiny </a:t>
            </a:r>
            <a:r>
              <a:rPr lang="en-US" sz="1150" b="1" dirty="0">
                <a:solidFill>
                  <a:srgbClr val="00002E"/>
                </a:solidFill>
                <a:latin typeface="PT Sans" pitchFamily="34" charset="0"/>
                <a:ea typeface="PT Sans" pitchFamily="34" charset="-122"/>
                <a:cs typeface="PT Sans" pitchFamily="34" charset="-120"/>
              </a:rPr>
              <a:t>Thought-Reading Microphone</a:t>
            </a:r>
            <a:r>
              <a:rPr lang="en-US" sz="1150" dirty="0">
                <a:solidFill>
                  <a:srgbClr val="00002E"/>
                </a:solidFill>
                <a:latin typeface="PT Sans" pitchFamily="34" charset="0"/>
                <a:ea typeface="PT Sans" pitchFamily="34" charset="-122"/>
                <a:cs typeface="PT Sans" pitchFamily="34" charset="-120"/>
              </a:rPr>
              <a:t> network), </a:t>
            </a:r>
            <a:r>
              <a:rPr lang="en-US" sz="1150" b="1" dirty="0">
                <a:solidFill>
                  <a:srgbClr val="00002E"/>
                </a:solidFill>
                <a:latin typeface="PT Sans" pitchFamily="34" charset="0"/>
                <a:ea typeface="PT Sans" pitchFamily="34" charset="-122"/>
                <a:cs typeface="PT Sans" pitchFamily="34" charset="-120"/>
              </a:rPr>
              <a:t>Detective Hat</a:t>
            </a:r>
            <a:r>
              <a:rPr lang="en-US" sz="1150" dirty="0">
                <a:solidFill>
                  <a:srgbClr val="00002E"/>
                </a:solidFill>
                <a:latin typeface="PT Sans" pitchFamily="34" charset="0"/>
                <a:ea typeface="PT Sans" pitchFamily="34" charset="-122"/>
                <a:cs typeface="PT Sans" pitchFamily="34" charset="-120"/>
              </a:rPr>
              <a:t> for article search &amp; discovery, and fun </a:t>
            </a:r>
            <a:r>
              <a:rPr lang="en-US" sz="1150" b="1" dirty="0">
                <a:solidFill>
                  <a:srgbClr val="00002E"/>
                </a:solidFill>
                <a:latin typeface="PT Sans" pitchFamily="34" charset="0"/>
                <a:ea typeface="PT Sans" pitchFamily="34" charset="-122"/>
                <a:cs typeface="PT Sans" pitchFamily="34" charset="-120"/>
              </a:rPr>
              <a:t>Mood Changer</a:t>
            </a:r>
            <a:r>
              <a:rPr lang="en-US" sz="1150" dirty="0">
                <a:solidFill>
                  <a:srgbClr val="00002E"/>
                </a:solidFill>
                <a:latin typeface="PT Sans" pitchFamily="34" charset="0"/>
                <a:ea typeface="PT Sans" pitchFamily="34" charset="-122"/>
                <a:cs typeface="PT Sans" pitchFamily="34" charset="-120"/>
              </a:rPr>
              <a:t> like/unlike functionality.</a:t>
            </a:r>
            <a:endParaRPr lang="en-US" sz="1150" dirty="0"/>
          </a:p>
        </p:txBody>
      </p:sp>
      <p:sp>
        <p:nvSpPr>
          <p:cNvPr id="12" name="Shape 9"/>
          <p:cNvSpPr/>
          <p:nvPr/>
        </p:nvSpPr>
        <p:spPr>
          <a:xfrm>
            <a:off x="532686" y="4995982"/>
            <a:ext cx="8078629" cy="1136690"/>
          </a:xfrm>
          <a:prstGeom prst="roundRect">
            <a:avLst>
              <a:gd name="adj" fmla="val 6436"/>
            </a:avLst>
          </a:prstGeom>
          <a:solidFill>
            <a:srgbClr val="F3F3FF">
              <a:alpha val="75000"/>
            </a:srgbClr>
          </a:solidFill>
          <a:ln w="15240">
            <a:solidFill>
              <a:srgbClr val="DA33BF"/>
            </a:solidFill>
            <a:prstDash val="solid"/>
          </a:ln>
        </p:spPr>
      </p:sp>
      <p:sp>
        <p:nvSpPr>
          <p:cNvPr id="13" name="Shape 10"/>
          <p:cNvSpPr/>
          <p:nvPr/>
        </p:nvSpPr>
        <p:spPr>
          <a:xfrm>
            <a:off x="517446" y="4995982"/>
            <a:ext cx="60960" cy="1136690"/>
          </a:xfrm>
          <a:prstGeom prst="roundRect">
            <a:avLst>
              <a:gd name="adj" fmla="val 374514"/>
            </a:avLst>
          </a:prstGeom>
          <a:solidFill>
            <a:srgbClr val="DA33BF"/>
          </a:solidFill>
          <a:ln/>
        </p:spPr>
      </p:sp>
      <p:sp>
        <p:nvSpPr>
          <p:cNvPr id="14" name="Text 11"/>
          <p:cNvSpPr/>
          <p:nvPr/>
        </p:nvSpPr>
        <p:spPr>
          <a:xfrm>
            <a:off x="745808" y="5163383"/>
            <a:ext cx="2413754" cy="223838"/>
          </a:xfrm>
          <a:prstGeom prst="rect">
            <a:avLst/>
          </a:prstGeom>
          <a:noFill/>
          <a:ln/>
        </p:spPr>
        <p:txBody>
          <a:bodyPr wrap="none" lIns="0" tIns="0" rIns="0" bIns="0" rtlCol="0" anchor="t"/>
          <a:lstStyle/>
          <a:p>
            <a:pPr marL="0" indent="0" algn="l">
              <a:lnSpc>
                <a:spcPts val="1750"/>
              </a:lnSpc>
              <a:buNone/>
            </a:pPr>
            <a:r>
              <a:rPr lang="en-US" sz="1400" dirty="0">
                <a:solidFill>
                  <a:srgbClr val="00002E"/>
                </a:solidFill>
                <a:latin typeface="Nunito Semi Bold" pitchFamily="34" charset="0"/>
                <a:ea typeface="Nunito Semi Bold" pitchFamily="34" charset="-122"/>
                <a:cs typeface="Nunito Semi Bold" pitchFamily="34" charset="-120"/>
              </a:rPr>
              <a:t>Future-Proof User Experience</a:t>
            </a:r>
            <a:endParaRPr lang="en-US" sz="1400" dirty="0"/>
          </a:p>
        </p:txBody>
      </p:sp>
      <p:sp>
        <p:nvSpPr>
          <p:cNvPr id="15" name="Text 12"/>
          <p:cNvSpPr/>
          <p:nvPr/>
        </p:nvSpPr>
        <p:spPr>
          <a:xfrm>
            <a:off x="745808" y="5478542"/>
            <a:ext cx="7698105" cy="486728"/>
          </a:xfrm>
          <a:prstGeom prst="rect">
            <a:avLst/>
          </a:prstGeom>
          <a:noFill/>
          <a:ln/>
        </p:spPr>
        <p:txBody>
          <a:bodyPr wrap="square" lIns="0" tIns="0" rIns="0" bIns="0" rtlCol="0" anchor="t"/>
          <a:lstStyle/>
          <a:p>
            <a:pPr marL="0" indent="0" algn="l">
              <a:lnSpc>
                <a:spcPts val="1900"/>
              </a:lnSpc>
              <a:buNone/>
            </a:pPr>
            <a:r>
              <a:rPr lang="en-US" sz="1150" dirty="0">
                <a:solidFill>
                  <a:srgbClr val="00002E"/>
                </a:solidFill>
                <a:latin typeface="PT Sans" pitchFamily="34" charset="0"/>
                <a:ea typeface="PT Sans" pitchFamily="34" charset="-122"/>
                <a:cs typeface="PT Sans" pitchFamily="34" charset="-120"/>
              </a:rPr>
              <a:t>Enhance your blog with multi-theme options (light/dark/Doraemon blue, using a </a:t>
            </a:r>
            <a:r>
              <a:rPr lang="en-US" sz="1150" b="1" dirty="0">
                <a:solidFill>
                  <a:srgbClr val="00002E"/>
                </a:solidFill>
                <a:latin typeface="PT Sans" pitchFamily="34" charset="0"/>
                <a:ea typeface="PT Sans" pitchFamily="34" charset="-122"/>
                <a:cs typeface="PT Sans" pitchFamily="34" charset="-120"/>
              </a:rPr>
              <a:t>Color-Changing Cloak</a:t>
            </a:r>
            <a:r>
              <a:rPr lang="en-US" sz="1150" dirty="0">
                <a:solidFill>
                  <a:srgbClr val="00002E"/>
                </a:solidFill>
                <a:latin typeface="PT Sans" pitchFamily="34" charset="0"/>
                <a:ea typeface="PT Sans" pitchFamily="34" charset="-122"/>
                <a:cs typeface="PT Sans" pitchFamily="34" charset="-120"/>
              </a:rPr>
              <a:t> metaphor), a </a:t>
            </a:r>
            <a:r>
              <a:rPr lang="en-US" sz="1150" b="1" dirty="0">
                <a:solidFill>
                  <a:srgbClr val="00002E"/>
                </a:solidFill>
                <a:latin typeface="PT Sans" pitchFamily="34" charset="0"/>
                <a:ea typeface="PT Sans" pitchFamily="34" charset="-122"/>
                <a:cs typeface="PT Sans" pitchFamily="34" charset="-120"/>
              </a:rPr>
              <a:t>Truth Mirror</a:t>
            </a:r>
            <a:r>
              <a:rPr lang="en-US" sz="1150" dirty="0">
                <a:solidFill>
                  <a:srgbClr val="00002E"/>
                </a:solidFill>
                <a:latin typeface="PT Sans" pitchFamily="34" charset="0"/>
                <a:ea typeface="PT Sans" pitchFamily="34" charset="-122"/>
                <a:cs typeface="PT Sans" pitchFamily="34" charset="-120"/>
              </a:rPr>
              <a:t>-like password strength indicator, and daily motivational quotes from our </a:t>
            </a:r>
            <a:r>
              <a:rPr lang="en-US" sz="1150" b="1" dirty="0">
                <a:solidFill>
                  <a:srgbClr val="00002E"/>
                </a:solidFill>
                <a:latin typeface="PT Sans" pitchFamily="34" charset="0"/>
                <a:ea typeface="PT Sans" pitchFamily="34" charset="-122"/>
                <a:cs typeface="PT Sans" pitchFamily="34" charset="-120"/>
              </a:rPr>
              <a:t>Motivation Machine</a:t>
            </a:r>
            <a:r>
              <a:rPr lang="en-US" sz="1150" dirty="0">
                <a:solidFill>
                  <a:srgbClr val="00002E"/>
                </a:solidFill>
                <a:latin typeface="PT Sans" pitchFamily="34" charset="0"/>
                <a:ea typeface="PT Sans" pitchFamily="34" charset="-122"/>
                <a:cs typeface="PT Sans" pitchFamily="34" charset="-120"/>
              </a:rPr>
              <a:t>!</a:t>
            </a:r>
            <a:endParaRPr lang="en-US" sz="1150" dirty="0"/>
          </a:p>
        </p:txBody>
      </p:sp>
      <p:sp>
        <p:nvSpPr>
          <p:cNvPr id="16" name="Shape 13"/>
          <p:cNvSpPr/>
          <p:nvPr/>
        </p:nvSpPr>
        <p:spPr>
          <a:xfrm>
            <a:off x="532686" y="6284833"/>
            <a:ext cx="8078629" cy="1136690"/>
          </a:xfrm>
          <a:prstGeom prst="roundRect">
            <a:avLst>
              <a:gd name="adj" fmla="val 6436"/>
            </a:avLst>
          </a:prstGeom>
          <a:solidFill>
            <a:srgbClr val="F3F3FF">
              <a:alpha val="75000"/>
            </a:srgbClr>
          </a:solidFill>
          <a:ln w="15240">
            <a:solidFill>
              <a:srgbClr val="2D4DF2"/>
            </a:solidFill>
            <a:prstDash val="solid"/>
          </a:ln>
        </p:spPr>
      </p:sp>
      <p:sp>
        <p:nvSpPr>
          <p:cNvPr id="17" name="Shape 14"/>
          <p:cNvSpPr/>
          <p:nvPr/>
        </p:nvSpPr>
        <p:spPr>
          <a:xfrm>
            <a:off x="517446" y="6284833"/>
            <a:ext cx="60960" cy="1136690"/>
          </a:xfrm>
          <a:prstGeom prst="roundRect">
            <a:avLst>
              <a:gd name="adj" fmla="val 374514"/>
            </a:avLst>
          </a:prstGeom>
          <a:solidFill>
            <a:srgbClr val="2D4DF2"/>
          </a:solidFill>
          <a:ln/>
        </p:spPr>
      </p:sp>
      <p:sp>
        <p:nvSpPr>
          <p:cNvPr id="18" name="Text 15"/>
          <p:cNvSpPr/>
          <p:nvPr/>
        </p:nvSpPr>
        <p:spPr>
          <a:xfrm>
            <a:off x="745808" y="6452235"/>
            <a:ext cx="2569964" cy="223838"/>
          </a:xfrm>
          <a:prstGeom prst="rect">
            <a:avLst/>
          </a:prstGeom>
          <a:noFill/>
          <a:ln/>
        </p:spPr>
        <p:txBody>
          <a:bodyPr wrap="none" lIns="0" tIns="0" rIns="0" bIns="0" rtlCol="0" anchor="t"/>
          <a:lstStyle/>
          <a:p>
            <a:pPr marL="0" indent="0" algn="l">
              <a:lnSpc>
                <a:spcPts val="1750"/>
              </a:lnSpc>
              <a:buNone/>
            </a:pPr>
            <a:r>
              <a:rPr lang="en-US" sz="1400" dirty="0">
                <a:solidFill>
                  <a:srgbClr val="00002E"/>
                </a:solidFill>
                <a:latin typeface="Nunito Semi Bold" pitchFamily="34" charset="0"/>
                <a:ea typeface="Nunito Semi Bold" pitchFamily="34" charset="-122"/>
                <a:cs typeface="Nunito Semi Bold" pitchFamily="34" charset="-120"/>
              </a:rPr>
              <a:t>Advanced Gadgetry for Admins</a:t>
            </a:r>
            <a:endParaRPr lang="en-US" sz="1400" dirty="0"/>
          </a:p>
        </p:txBody>
      </p:sp>
      <p:sp>
        <p:nvSpPr>
          <p:cNvPr id="19" name="Text 16"/>
          <p:cNvSpPr/>
          <p:nvPr/>
        </p:nvSpPr>
        <p:spPr>
          <a:xfrm>
            <a:off x="745808" y="6767393"/>
            <a:ext cx="7698105" cy="486728"/>
          </a:xfrm>
          <a:prstGeom prst="rect">
            <a:avLst/>
          </a:prstGeom>
          <a:noFill/>
          <a:ln/>
        </p:spPr>
        <p:txBody>
          <a:bodyPr wrap="square" lIns="0" tIns="0" rIns="0" bIns="0" rtlCol="0" anchor="t"/>
          <a:lstStyle/>
          <a:p>
            <a:pPr marL="0" indent="0" algn="l">
              <a:lnSpc>
                <a:spcPts val="1900"/>
              </a:lnSpc>
              <a:buNone/>
            </a:pPr>
            <a:r>
              <a:rPr lang="en-US" sz="1150" dirty="0">
                <a:solidFill>
                  <a:srgbClr val="00002E"/>
                </a:solidFill>
                <a:latin typeface="PT Sans" pitchFamily="34" charset="0"/>
                <a:ea typeface="PT Sans" pitchFamily="34" charset="-122"/>
                <a:cs typeface="PT Sans" pitchFamily="34" charset="-120"/>
              </a:rPr>
              <a:t>Unleash powerful features: </a:t>
            </a:r>
            <a:r>
              <a:rPr lang="en-US" sz="1150" b="1" dirty="0">
                <a:solidFill>
                  <a:srgbClr val="00002E"/>
                </a:solidFill>
                <a:latin typeface="PT Sans" pitchFamily="34" charset="0"/>
                <a:ea typeface="PT Sans" pitchFamily="34" charset="-122"/>
                <a:cs typeface="PT Sans" pitchFamily="34" charset="-120"/>
              </a:rPr>
              <a:t>Categorization Chips</a:t>
            </a:r>
            <a:r>
              <a:rPr lang="en-US" sz="1150" dirty="0">
                <a:solidFill>
                  <a:srgbClr val="00002E"/>
                </a:solidFill>
                <a:latin typeface="PT Sans" pitchFamily="34" charset="0"/>
                <a:ea typeface="PT Sans" pitchFamily="34" charset="-122"/>
                <a:cs typeface="PT Sans" pitchFamily="34" charset="-120"/>
              </a:rPr>
              <a:t> for tag-based article organization, </a:t>
            </a:r>
            <a:r>
              <a:rPr lang="en-US" sz="1150" b="1" dirty="0">
                <a:solidFill>
                  <a:srgbClr val="00002E"/>
                </a:solidFill>
                <a:latin typeface="PT Sans" pitchFamily="34" charset="0"/>
                <a:ea typeface="PT Sans" pitchFamily="34" charset="-122"/>
                <a:cs typeface="PT Sans" pitchFamily="34" charset="-120"/>
              </a:rPr>
              <a:t>Friendship Caller</a:t>
            </a:r>
            <a:r>
              <a:rPr lang="en-US" sz="1150" dirty="0">
                <a:solidFill>
                  <a:srgbClr val="00002E"/>
                </a:solidFill>
                <a:latin typeface="PT Sans" pitchFamily="34" charset="0"/>
                <a:ea typeface="PT Sans" pitchFamily="34" charset="-122"/>
                <a:cs typeface="PT Sans" pitchFamily="34" charset="-120"/>
              </a:rPr>
              <a:t> for related article recommendations, and a dedicated Java administrator dashboard, acting as our very own </a:t>
            </a:r>
            <a:r>
              <a:rPr lang="en-US" sz="1150" b="1" dirty="0">
                <a:solidFill>
                  <a:srgbClr val="00002E"/>
                </a:solidFill>
                <a:latin typeface="PT Sans" pitchFamily="34" charset="0"/>
                <a:ea typeface="PT Sans" pitchFamily="34" charset="-122"/>
                <a:cs typeface="PT Sans" pitchFamily="34" charset="-120"/>
              </a:rPr>
              <a:t>Control Panel of the Future</a:t>
            </a:r>
            <a:r>
              <a:rPr lang="en-US" sz="1150" dirty="0">
                <a:solidFill>
                  <a:srgbClr val="00002E"/>
                </a:solidFill>
                <a:latin typeface="PT Sans" pitchFamily="34" charset="0"/>
                <a:ea typeface="PT Sans" pitchFamily="34" charset="-122"/>
                <a:cs typeface="PT Sans" pitchFamily="34" charset="-120"/>
              </a:rPr>
              <a:t>.</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9952" y="447794"/>
            <a:ext cx="4114681" cy="478988"/>
          </a:xfrm>
          <a:prstGeom prst="rect">
            <a:avLst/>
          </a:prstGeom>
          <a:noFill/>
          <a:ln/>
        </p:spPr>
        <p:txBody>
          <a:bodyPr wrap="none" lIns="0" tIns="0" rIns="0" bIns="0" rtlCol="0" anchor="t"/>
          <a:lstStyle/>
          <a:p>
            <a:pPr marL="0" indent="0" algn="l">
              <a:lnSpc>
                <a:spcPts val="3750"/>
              </a:lnSpc>
              <a:buNone/>
            </a:pPr>
            <a:r>
              <a:rPr lang="en-US" sz="3000" dirty="0">
                <a:solidFill>
                  <a:srgbClr val="00002E"/>
                </a:solidFill>
                <a:latin typeface="Nunito Semi Bold" pitchFamily="34" charset="0"/>
                <a:ea typeface="Nunito Semi Bold" pitchFamily="34" charset="-122"/>
                <a:cs typeface="Nunito Semi Bold" pitchFamily="34" charset="-120"/>
              </a:rPr>
              <a:t>DoraBlog: Key Features</a:t>
            </a:r>
            <a:endParaRPr lang="en-US" sz="3000" dirty="0"/>
          </a:p>
        </p:txBody>
      </p:sp>
      <p:sp>
        <p:nvSpPr>
          <p:cNvPr id="3" name="Shape 1"/>
          <p:cNvSpPr/>
          <p:nvPr/>
        </p:nvSpPr>
        <p:spPr>
          <a:xfrm>
            <a:off x="569952" y="1252418"/>
            <a:ext cx="13490496" cy="977146"/>
          </a:xfrm>
          <a:prstGeom prst="roundRect">
            <a:avLst>
              <a:gd name="adj" fmla="val 25002"/>
            </a:avLst>
          </a:prstGeom>
          <a:solidFill>
            <a:srgbClr val="F3F3FF">
              <a:alpha val="75000"/>
            </a:srgbClr>
          </a:solidFill>
          <a:ln w="22860">
            <a:solidFill>
              <a:srgbClr val="2D4DF2"/>
            </a:solidFill>
            <a:prstDash val="solid"/>
          </a:ln>
        </p:spPr>
      </p:sp>
      <p:sp>
        <p:nvSpPr>
          <p:cNvPr id="4" name="Shape 2"/>
          <p:cNvSpPr/>
          <p:nvPr/>
        </p:nvSpPr>
        <p:spPr>
          <a:xfrm>
            <a:off x="592812" y="1275278"/>
            <a:ext cx="651391" cy="931426"/>
          </a:xfrm>
          <a:prstGeom prst="roundRect">
            <a:avLst>
              <a:gd name="adj" fmla="val 33293"/>
            </a:avLst>
          </a:prstGeom>
          <a:solidFill>
            <a:srgbClr val="F3F3FF"/>
          </a:solidFill>
          <a:ln/>
        </p:spPr>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88789" y="1618774"/>
            <a:ext cx="244197" cy="244197"/>
          </a:xfrm>
          <a:prstGeom prst="rect">
            <a:avLst/>
          </a:prstGeom>
        </p:spPr>
      </p:pic>
      <p:sp>
        <p:nvSpPr>
          <p:cNvPr id="6" name="Text 3"/>
          <p:cNvSpPr/>
          <p:nvPr/>
        </p:nvSpPr>
        <p:spPr>
          <a:xfrm>
            <a:off x="1406962" y="1438037"/>
            <a:ext cx="2547937" cy="239435"/>
          </a:xfrm>
          <a:prstGeom prst="rect">
            <a:avLst/>
          </a:prstGeom>
          <a:noFill/>
          <a:ln/>
        </p:spPr>
        <p:txBody>
          <a:bodyPr wrap="none" lIns="0" tIns="0" rIns="0" bIns="0" rtlCol="0" anchor="t"/>
          <a:lstStyle/>
          <a:p>
            <a:pPr marL="0" indent="0" algn="l">
              <a:lnSpc>
                <a:spcPts val="1850"/>
              </a:lnSpc>
              <a:buNone/>
            </a:pPr>
            <a:r>
              <a:rPr lang="en-US" sz="1500" dirty="0">
                <a:solidFill>
                  <a:srgbClr val="00002E"/>
                </a:solidFill>
                <a:latin typeface="Nunito Semi Bold" pitchFamily="34" charset="0"/>
                <a:ea typeface="Nunito Semi Bold" pitchFamily="34" charset="-122"/>
                <a:cs typeface="Nunito Semi Bold" pitchFamily="34" charset="-120"/>
              </a:rPr>
              <a:t>Imaginative Content Creation</a:t>
            </a:r>
            <a:endParaRPr lang="en-US" sz="1500" dirty="0"/>
          </a:p>
        </p:txBody>
      </p:sp>
      <p:sp>
        <p:nvSpPr>
          <p:cNvPr id="7" name="Text 4"/>
          <p:cNvSpPr/>
          <p:nvPr/>
        </p:nvSpPr>
        <p:spPr>
          <a:xfrm>
            <a:off x="1406962" y="1775103"/>
            <a:ext cx="12467868" cy="260509"/>
          </a:xfrm>
          <a:prstGeom prst="rect">
            <a:avLst/>
          </a:prstGeom>
          <a:noFill/>
          <a:ln/>
        </p:spPr>
        <p:txBody>
          <a:bodyPr wrap="none" lIns="0" tIns="0" rIns="0" bIns="0" rtlCol="0" anchor="t"/>
          <a:lstStyle/>
          <a:p>
            <a:pPr marL="0" indent="0" algn="l">
              <a:lnSpc>
                <a:spcPts val="2050"/>
              </a:lnSpc>
              <a:buNone/>
            </a:pPr>
            <a:r>
              <a:rPr lang="en-US" sz="1250" dirty="0">
                <a:solidFill>
                  <a:srgbClr val="00002E"/>
                </a:solidFill>
                <a:latin typeface="PT Sans" pitchFamily="34" charset="0"/>
                <a:ea typeface="PT Sans" pitchFamily="34" charset="-122"/>
                <a:cs typeface="PT Sans" pitchFamily="34" charset="-120"/>
              </a:rPr>
              <a:t>Unleash your creativity with our </a:t>
            </a:r>
            <a:r>
              <a:rPr lang="en-US" sz="1250" b="1" dirty="0">
                <a:solidFill>
                  <a:srgbClr val="00002E"/>
                </a:solidFill>
                <a:latin typeface="PT Sans" pitchFamily="34" charset="0"/>
                <a:ea typeface="PT Sans" pitchFamily="34" charset="-122"/>
                <a:cs typeface="PT Sans" pitchFamily="34" charset="-120"/>
              </a:rPr>
              <a:t>rich-text editor</a:t>
            </a:r>
            <a:r>
              <a:rPr lang="en-US" sz="1250" dirty="0">
                <a:solidFill>
                  <a:srgbClr val="00002E"/>
                </a:solidFill>
                <a:latin typeface="PT Sans" pitchFamily="34" charset="0"/>
                <a:ea typeface="PT Sans" pitchFamily="34" charset="-122"/>
                <a:cs typeface="PT Sans" pitchFamily="34" charset="-120"/>
              </a:rPr>
              <a:t>, inspired by Doraemon's Word-Processor Pencil. Craft engaging articles, </a:t>
            </a:r>
            <a:r>
              <a:rPr lang="en-US" sz="1250" b="1" dirty="0">
                <a:solidFill>
                  <a:srgbClr val="00002E"/>
                </a:solidFill>
                <a:latin typeface="PT Sans" pitchFamily="34" charset="0"/>
                <a:ea typeface="PT Sans" pitchFamily="34" charset="-122"/>
                <a:cs typeface="PT Sans" pitchFamily="34" charset="-120"/>
              </a:rPr>
              <a:t>seamlessly upload images</a:t>
            </a:r>
            <a:r>
              <a:rPr lang="en-US" sz="1250" dirty="0">
                <a:solidFill>
                  <a:srgbClr val="00002E"/>
                </a:solidFill>
                <a:latin typeface="PT Sans" pitchFamily="34" charset="0"/>
                <a:ea typeface="PT Sans" pitchFamily="34" charset="-122"/>
                <a:cs typeface="PT Sans" pitchFamily="34" charset="-120"/>
              </a:rPr>
              <a:t>.</a:t>
            </a:r>
            <a:endParaRPr lang="en-US" sz="1250" dirty="0"/>
          </a:p>
        </p:txBody>
      </p:sp>
      <p:sp>
        <p:nvSpPr>
          <p:cNvPr id="8" name="Shape 5"/>
          <p:cNvSpPr/>
          <p:nvPr/>
        </p:nvSpPr>
        <p:spPr>
          <a:xfrm>
            <a:off x="569952" y="2392323"/>
            <a:ext cx="13490496" cy="1229320"/>
          </a:xfrm>
          <a:prstGeom prst="roundRect">
            <a:avLst>
              <a:gd name="adj" fmla="val 19873"/>
            </a:avLst>
          </a:prstGeom>
          <a:solidFill>
            <a:srgbClr val="F3F3FF">
              <a:alpha val="75000"/>
            </a:srgbClr>
          </a:solidFill>
          <a:ln w="22860">
            <a:solidFill>
              <a:srgbClr val="018CE1"/>
            </a:solidFill>
            <a:prstDash val="solid"/>
          </a:ln>
        </p:spPr>
      </p:sp>
      <p:sp>
        <p:nvSpPr>
          <p:cNvPr id="9" name="Shape 6"/>
          <p:cNvSpPr/>
          <p:nvPr/>
        </p:nvSpPr>
        <p:spPr>
          <a:xfrm>
            <a:off x="592812" y="2415183"/>
            <a:ext cx="651391" cy="1183600"/>
          </a:xfrm>
          <a:prstGeom prst="roundRect">
            <a:avLst>
              <a:gd name="adj" fmla="val 33293"/>
            </a:avLst>
          </a:prstGeom>
          <a:solidFill>
            <a:srgbClr val="F3F3FF"/>
          </a:solidFill>
          <a:ln/>
        </p:spPr>
      </p:sp>
      <p:pic>
        <p:nvPicPr>
          <p:cNvPr id="10"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8789" y="2884765"/>
            <a:ext cx="244197" cy="244197"/>
          </a:xfrm>
          <a:prstGeom prst="rect">
            <a:avLst/>
          </a:prstGeom>
        </p:spPr>
      </p:pic>
      <p:sp>
        <p:nvSpPr>
          <p:cNvPr id="11" name="Text 7"/>
          <p:cNvSpPr/>
          <p:nvPr/>
        </p:nvSpPr>
        <p:spPr>
          <a:xfrm>
            <a:off x="1406962" y="2577941"/>
            <a:ext cx="2319695" cy="239435"/>
          </a:xfrm>
          <a:prstGeom prst="rect">
            <a:avLst/>
          </a:prstGeom>
          <a:noFill/>
          <a:ln/>
        </p:spPr>
        <p:txBody>
          <a:bodyPr wrap="none" lIns="0" tIns="0" rIns="0" bIns="0" rtlCol="0" anchor="t"/>
          <a:lstStyle/>
          <a:p>
            <a:pPr marL="0" indent="0" algn="l">
              <a:lnSpc>
                <a:spcPts val="1850"/>
              </a:lnSpc>
              <a:buNone/>
            </a:pPr>
            <a:r>
              <a:rPr lang="en-US" sz="1500" dirty="0">
                <a:solidFill>
                  <a:srgbClr val="00002E"/>
                </a:solidFill>
                <a:latin typeface="Nunito Semi Bold" pitchFamily="34" charset="0"/>
                <a:ea typeface="Nunito Semi Bold" pitchFamily="34" charset="-122"/>
                <a:cs typeface="Nunito Semi Bold" pitchFamily="34" charset="-120"/>
              </a:rPr>
              <a:t>Secure &amp; Seamless Access</a:t>
            </a:r>
            <a:endParaRPr lang="en-US" sz="1500" dirty="0"/>
          </a:p>
        </p:txBody>
      </p:sp>
      <p:sp>
        <p:nvSpPr>
          <p:cNvPr id="12" name="Text 8"/>
          <p:cNvSpPr/>
          <p:nvPr/>
        </p:nvSpPr>
        <p:spPr>
          <a:xfrm>
            <a:off x="1406962" y="2915007"/>
            <a:ext cx="12467868" cy="521017"/>
          </a:xfrm>
          <a:prstGeom prst="rect">
            <a:avLst/>
          </a:prstGeom>
          <a:noFill/>
          <a:ln/>
        </p:spPr>
        <p:txBody>
          <a:bodyPr wrap="square" lIns="0" tIns="0" rIns="0" bIns="0" rtlCol="0" anchor="t"/>
          <a:lstStyle/>
          <a:p>
            <a:pPr marL="0" indent="0" algn="l">
              <a:lnSpc>
                <a:spcPts val="2050"/>
              </a:lnSpc>
              <a:buNone/>
            </a:pPr>
            <a:r>
              <a:rPr lang="en-US" sz="1250" dirty="0">
                <a:solidFill>
                  <a:srgbClr val="00002E"/>
                </a:solidFill>
                <a:latin typeface="PT Sans" pitchFamily="34" charset="0"/>
                <a:ea typeface="PT Sans" pitchFamily="34" charset="-122"/>
                <a:cs typeface="PT Sans" pitchFamily="34" charset="-120"/>
              </a:rPr>
              <a:t>Our robust</a:t>
            </a:r>
            <a:r>
              <a:rPr lang="en-US" sz="1250" b="1" dirty="0">
                <a:solidFill>
                  <a:srgbClr val="00002E"/>
                </a:solidFill>
                <a:latin typeface="PT Sans" pitchFamily="34" charset="0"/>
                <a:ea typeface="PT Sans" pitchFamily="34" charset="-122"/>
                <a:cs typeface="PT Sans" pitchFamily="34" charset="-120"/>
              </a:rPr>
              <a:t> JSON Web Token</a:t>
            </a:r>
            <a:r>
              <a:rPr lang="en-US" sz="1250" dirty="0">
                <a:solidFill>
                  <a:srgbClr val="00002E"/>
                </a:solidFill>
                <a:latin typeface="PT Sans" pitchFamily="34" charset="0"/>
                <a:ea typeface="PT Sans" pitchFamily="34" charset="-122"/>
                <a:cs typeface="PT Sans" pitchFamily="34" charset="-120"/>
              </a:rPr>
              <a:t> (JWT) system ensures secure and persistent authentication, guarding your DoraBlog account like Doraemon's secret vault. Enjoy a reliable and gadget-proof login experience every time.</a:t>
            </a:r>
            <a:endParaRPr lang="en-US" sz="1250" dirty="0"/>
          </a:p>
        </p:txBody>
      </p:sp>
      <p:sp>
        <p:nvSpPr>
          <p:cNvPr id="13" name="Shape 9"/>
          <p:cNvSpPr/>
          <p:nvPr/>
        </p:nvSpPr>
        <p:spPr>
          <a:xfrm>
            <a:off x="569952" y="3784402"/>
            <a:ext cx="13490496" cy="1229320"/>
          </a:xfrm>
          <a:prstGeom prst="roundRect">
            <a:avLst>
              <a:gd name="adj" fmla="val 19873"/>
            </a:avLst>
          </a:prstGeom>
          <a:solidFill>
            <a:srgbClr val="F3F3FF">
              <a:alpha val="75000"/>
            </a:srgbClr>
          </a:solidFill>
          <a:ln w="22860">
            <a:solidFill>
              <a:srgbClr val="DA33BF"/>
            </a:solidFill>
            <a:prstDash val="solid"/>
          </a:ln>
        </p:spPr>
      </p:sp>
      <p:sp>
        <p:nvSpPr>
          <p:cNvPr id="14" name="Shape 10"/>
          <p:cNvSpPr/>
          <p:nvPr/>
        </p:nvSpPr>
        <p:spPr>
          <a:xfrm>
            <a:off x="592812" y="3807262"/>
            <a:ext cx="651391" cy="1183600"/>
          </a:xfrm>
          <a:prstGeom prst="roundRect">
            <a:avLst>
              <a:gd name="adj" fmla="val 33293"/>
            </a:avLst>
          </a:prstGeom>
          <a:solidFill>
            <a:srgbClr val="F3F3FF"/>
          </a:solidFill>
          <a:ln/>
        </p:spPr>
      </p:sp>
      <p:pic>
        <p:nvPicPr>
          <p:cNvPr id="15"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88789" y="4276844"/>
            <a:ext cx="244197" cy="244197"/>
          </a:xfrm>
          <a:prstGeom prst="rect">
            <a:avLst/>
          </a:prstGeom>
        </p:spPr>
      </p:pic>
      <p:sp>
        <p:nvSpPr>
          <p:cNvPr id="16" name="Text 11"/>
          <p:cNvSpPr/>
          <p:nvPr/>
        </p:nvSpPr>
        <p:spPr>
          <a:xfrm>
            <a:off x="1406962" y="3970020"/>
            <a:ext cx="2712363" cy="239435"/>
          </a:xfrm>
          <a:prstGeom prst="rect">
            <a:avLst/>
          </a:prstGeom>
          <a:noFill/>
          <a:ln/>
        </p:spPr>
        <p:txBody>
          <a:bodyPr wrap="none" lIns="0" tIns="0" rIns="0" bIns="0" rtlCol="0" anchor="t"/>
          <a:lstStyle/>
          <a:p>
            <a:pPr marL="0" indent="0" algn="l">
              <a:lnSpc>
                <a:spcPts val="1850"/>
              </a:lnSpc>
              <a:buNone/>
            </a:pPr>
            <a:r>
              <a:rPr lang="en-US" sz="1500" dirty="0">
                <a:solidFill>
                  <a:srgbClr val="00002E"/>
                </a:solidFill>
                <a:latin typeface="Nunito Semi Bold" pitchFamily="34" charset="0"/>
                <a:ea typeface="Nunito Semi Bold" pitchFamily="34" charset="-122"/>
                <a:cs typeface="Nunito Semi Bold" pitchFamily="34" charset="-120"/>
              </a:rPr>
              <a:t>Dynamic Interactive Comments</a:t>
            </a:r>
            <a:endParaRPr lang="en-US" sz="1500" dirty="0"/>
          </a:p>
        </p:txBody>
      </p:sp>
      <p:sp>
        <p:nvSpPr>
          <p:cNvPr id="17" name="Text 12"/>
          <p:cNvSpPr/>
          <p:nvPr/>
        </p:nvSpPr>
        <p:spPr>
          <a:xfrm>
            <a:off x="1406962" y="4307086"/>
            <a:ext cx="12467868" cy="521017"/>
          </a:xfrm>
          <a:prstGeom prst="rect">
            <a:avLst/>
          </a:prstGeom>
          <a:noFill/>
          <a:ln/>
        </p:spPr>
        <p:txBody>
          <a:bodyPr wrap="square" lIns="0" tIns="0" rIns="0" bIns="0" rtlCol="0" anchor="t"/>
          <a:lstStyle/>
          <a:p>
            <a:pPr marL="0" indent="0" algn="l">
              <a:lnSpc>
                <a:spcPts val="2050"/>
              </a:lnSpc>
              <a:buNone/>
            </a:pPr>
            <a:r>
              <a:rPr lang="en-US" sz="1250" dirty="0">
                <a:solidFill>
                  <a:srgbClr val="00002E"/>
                </a:solidFill>
                <a:latin typeface="PT Sans" pitchFamily="34" charset="0"/>
                <a:ea typeface="PT Sans" pitchFamily="34" charset="-122"/>
                <a:cs typeface="PT Sans" pitchFamily="34" charset="-120"/>
              </a:rPr>
              <a:t>Engage with your audience through a </a:t>
            </a:r>
            <a:r>
              <a:rPr lang="en-US" sz="1250" b="1" dirty="0">
                <a:solidFill>
                  <a:srgbClr val="00002E"/>
                </a:solidFill>
                <a:latin typeface="PT Sans" pitchFamily="34" charset="0"/>
                <a:ea typeface="PT Sans" pitchFamily="34" charset="-122"/>
                <a:cs typeface="PT Sans" pitchFamily="34" charset="-120"/>
              </a:rPr>
              <a:t>hierarchical, nesting comment</a:t>
            </a:r>
            <a:r>
              <a:rPr lang="en-US" sz="1250" dirty="0">
                <a:solidFill>
                  <a:srgbClr val="00002E"/>
                </a:solidFill>
                <a:latin typeface="PT Sans" pitchFamily="34" charset="0"/>
                <a:ea typeface="PT Sans" pitchFamily="34" charset="-122"/>
                <a:cs typeface="PT Sans" pitchFamily="34" charset="-120"/>
              </a:rPr>
              <a:t> system, much like a tiny Thought-Reading Microphone network. Foster vibrant discussions and build a strong community around your captivating content.</a:t>
            </a:r>
            <a:endParaRPr lang="en-US" sz="1250" dirty="0"/>
          </a:p>
        </p:txBody>
      </p:sp>
      <p:sp>
        <p:nvSpPr>
          <p:cNvPr id="18" name="Shape 13"/>
          <p:cNvSpPr/>
          <p:nvPr/>
        </p:nvSpPr>
        <p:spPr>
          <a:xfrm>
            <a:off x="569952" y="5176480"/>
            <a:ext cx="13490496" cy="1229320"/>
          </a:xfrm>
          <a:prstGeom prst="roundRect">
            <a:avLst>
              <a:gd name="adj" fmla="val 19873"/>
            </a:avLst>
          </a:prstGeom>
          <a:solidFill>
            <a:srgbClr val="F3F3FF">
              <a:alpha val="75000"/>
            </a:srgbClr>
          </a:solidFill>
          <a:ln w="22860">
            <a:solidFill>
              <a:srgbClr val="2D4DF2"/>
            </a:solidFill>
            <a:prstDash val="solid"/>
          </a:ln>
        </p:spPr>
      </p:sp>
      <p:sp>
        <p:nvSpPr>
          <p:cNvPr id="19" name="Shape 14"/>
          <p:cNvSpPr/>
          <p:nvPr/>
        </p:nvSpPr>
        <p:spPr>
          <a:xfrm>
            <a:off x="592812" y="5199340"/>
            <a:ext cx="651391" cy="1183600"/>
          </a:xfrm>
          <a:prstGeom prst="roundRect">
            <a:avLst>
              <a:gd name="adj" fmla="val 33293"/>
            </a:avLst>
          </a:prstGeom>
          <a:solidFill>
            <a:srgbClr val="F3F3FF"/>
          </a:solidFill>
          <a:ln/>
        </p:spPr>
      </p:sp>
      <p:pic>
        <p:nvPicPr>
          <p:cNvPr id="20"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88789" y="5668923"/>
            <a:ext cx="244197" cy="244197"/>
          </a:xfrm>
          <a:prstGeom prst="rect">
            <a:avLst/>
          </a:prstGeom>
        </p:spPr>
      </p:pic>
      <p:sp>
        <p:nvSpPr>
          <p:cNvPr id="21" name="Text 15"/>
          <p:cNvSpPr/>
          <p:nvPr/>
        </p:nvSpPr>
        <p:spPr>
          <a:xfrm>
            <a:off x="1406962" y="5362099"/>
            <a:ext cx="2182654" cy="239435"/>
          </a:xfrm>
          <a:prstGeom prst="rect">
            <a:avLst/>
          </a:prstGeom>
          <a:noFill/>
          <a:ln/>
        </p:spPr>
        <p:txBody>
          <a:bodyPr wrap="none" lIns="0" tIns="0" rIns="0" bIns="0" rtlCol="0" anchor="t"/>
          <a:lstStyle/>
          <a:p>
            <a:pPr marL="0" indent="0" algn="l">
              <a:lnSpc>
                <a:spcPts val="1850"/>
              </a:lnSpc>
              <a:buNone/>
            </a:pPr>
            <a:r>
              <a:rPr lang="en-US" sz="1500" dirty="0">
                <a:solidFill>
                  <a:srgbClr val="00002E"/>
                </a:solidFill>
                <a:latin typeface="Nunito Semi Bold" pitchFamily="34" charset="0"/>
                <a:ea typeface="Nunito Semi Bold" pitchFamily="34" charset="-122"/>
                <a:cs typeface="Nunito Semi Bold" pitchFamily="34" charset="-120"/>
              </a:rPr>
              <a:t>Smart Content Discovery</a:t>
            </a:r>
            <a:endParaRPr lang="en-US" sz="1500" dirty="0"/>
          </a:p>
        </p:txBody>
      </p:sp>
      <p:sp>
        <p:nvSpPr>
          <p:cNvPr id="22" name="Text 16"/>
          <p:cNvSpPr/>
          <p:nvPr/>
        </p:nvSpPr>
        <p:spPr>
          <a:xfrm>
            <a:off x="1406962" y="5699165"/>
            <a:ext cx="12467868" cy="521017"/>
          </a:xfrm>
          <a:prstGeom prst="rect">
            <a:avLst/>
          </a:prstGeom>
          <a:noFill/>
          <a:ln/>
        </p:spPr>
        <p:txBody>
          <a:bodyPr wrap="square" lIns="0" tIns="0" rIns="0" bIns="0" rtlCol="0" anchor="t"/>
          <a:lstStyle/>
          <a:p>
            <a:pPr marL="0" indent="0" algn="l">
              <a:lnSpc>
                <a:spcPts val="2050"/>
              </a:lnSpc>
              <a:buNone/>
            </a:pPr>
            <a:r>
              <a:rPr lang="en-US" sz="1250" dirty="0">
                <a:solidFill>
                  <a:srgbClr val="00002E"/>
                </a:solidFill>
                <a:latin typeface="PT Sans" pitchFamily="34" charset="0"/>
                <a:ea typeface="PT Sans" pitchFamily="34" charset="-122"/>
                <a:cs typeface="PT Sans" pitchFamily="34" charset="-120"/>
              </a:rPr>
              <a:t>Navigate the DoraBlog universe with ease. Benefit from </a:t>
            </a:r>
            <a:r>
              <a:rPr lang="en-US" sz="1250" b="1" dirty="0">
                <a:solidFill>
                  <a:srgbClr val="00002E"/>
                </a:solidFill>
                <a:latin typeface="PT Sans" pitchFamily="34" charset="0"/>
                <a:ea typeface="PT Sans" pitchFamily="34" charset="-122"/>
                <a:cs typeface="PT Sans" pitchFamily="34" charset="-120"/>
              </a:rPr>
              <a:t>intelligent article recommendations</a:t>
            </a:r>
            <a:r>
              <a:rPr lang="en-US" sz="1250" dirty="0">
                <a:solidFill>
                  <a:srgbClr val="00002E"/>
                </a:solidFill>
                <a:latin typeface="PT Sans" pitchFamily="34" charset="0"/>
                <a:ea typeface="PT Sans" pitchFamily="34" charset="-122"/>
                <a:cs typeface="PT Sans" pitchFamily="34" charset="-120"/>
              </a:rPr>
              <a:t>, comprehensive </a:t>
            </a:r>
            <a:r>
              <a:rPr lang="en-US" sz="1250" b="1" dirty="0">
                <a:solidFill>
                  <a:srgbClr val="00002E"/>
                </a:solidFill>
                <a:latin typeface="PT Sans" pitchFamily="34" charset="0"/>
                <a:ea typeface="PT Sans" pitchFamily="34" charset="-122"/>
                <a:cs typeface="PT Sans" pitchFamily="34" charset="-120"/>
              </a:rPr>
              <a:t>tagging </a:t>
            </a:r>
            <a:r>
              <a:rPr lang="en-US" sz="1250" dirty="0">
                <a:solidFill>
                  <a:srgbClr val="00002E"/>
                </a:solidFill>
                <a:latin typeface="PT Sans" pitchFamily="34" charset="0"/>
                <a:ea typeface="PT Sans" pitchFamily="34" charset="-122"/>
                <a:cs typeface="PT Sans" pitchFamily="34" charset="-120"/>
              </a:rPr>
              <a:t>for seamless organisation, and powerful search capabilities that help you find exactly what you're looking for.</a:t>
            </a:r>
            <a:endParaRPr lang="en-US" sz="1250" dirty="0"/>
          </a:p>
        </p:txBody>
      </p:sp>
      <p:sp>
        <p:nvSpPr>
          <p:cNvPr id="23" name="Shape 17"/>
          <p:cNvSpPr/>
          <p:nvPr/>
        </p:nvSpPr>
        <p:spPr>
          <a:xfrm>
            <a:off x="569952" y="6568559"/>
            <a:ext cx="13490496" cy="1229320"/>
          </a:xfrm>
          <a:prstGeom prst="roundRect">
            <a:avLst>
              <a:gd name="adj" fmla="val 19873"/>
            </a:avLst>
          </a:prstGeom>
          <a:solidFill>
            <a:srgbClr val="F3F3FF">
              <a:alpha val="75000"/>
            </a:srgbClr>
          </a:solidFill>
          <a:ln w="22860">
            <a:solidFill>
              <a:srgbClr val="018CE1"/>
            </a:solidFill>
            <a:prstDash val="solid"/>
          </a:ln>
        </p:spPr>
      </p:sp>
      <p:sp>
        <p:nvSpPr>
          <p:cNvPr id="24" name="Shape 18"/>
          <p:cNvSpPr/>
          <p:nvPr/>
        </p:nvSpPr>
        <p:spPr>
          <a:xfrm>
            <a:off x="592812" y="6591419"/>
            <a:ext cx="651391" cy="1183600"/>
          </a:xfrm>
          <a:prstGeom prst="roundRect">
            <a:avLst>
              <a:gd name="adj" fmla="val 33293"/>
            </a:avLst>
          </a:prstGeom>
          <a:solidFill>
            <a:srgbClr val="F3F3FF"/>
          </a:solidFill>
          <a:ln/>
        </p:spPr>
      </p:sp>
      <p:pic>
        <p:nvPicPr>
          <p:cNvPr id="25"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88789" y="7061002"/>
            <a:ext cx="244197" cy="244197"/>
          </a:xfrm>
          <a:prstGeom prst="rect">
            <a:avLst/>
          </a:prstGeom>
        </p:spPr>
      </p:pic>
      <p:sp>
        <p:nvSpPr>
          <p:cNvPr id="26" name="Text 19"/>
          <p:cNvSpPr/>
          <p:nvPr/>
        </p:nvSpPr>
        <p:spPr>
          <a:xfrm>
            <a:off x="1406962" y="6754177"/>
            <a:ext cx="2579846" cy="239435"/>
          </a:xfrm>
          <a:prstGeom prst="rect">
            <a:avLst/>
          </a:prstGeom>
          <a:noFill/>
          <a:ln/>
        </p:spPr>
        <p:txBody>
          <a:bodyPr wrap="none" lIns="0" tIns="0" rIns="0" bIns="0" rtlCol="0" anchor="t"/>
          <a:lstStyle/>
          <a:p>
            <a:pPr marL="0" indent="0" algn="l">
              <a:lnSpc>
                <a:spcPts val="1850"/>
              </a:lnSpc>
              <a:buNone/>
            </a:pPr>
            <a:r>
              <a:rPr lang="en-US" sz="1500" dirty="0">
                <a:solidFill>
                  <a:srgbClr val="00002E"/>
                </a:solidFill>
                <a:latin typeface="Nunito Semi Bold" pitchFamily="34" charset="0"/>
                <a:ea typeface="Nunito Semi Bold" pitchFamily="34" charset="-122"/>
                <a:cs typeface="Nunito Semi Bold" pitchFamily="34" charset="-120"/>
              </a:rPr>
              <a:t>Personalised User Experience</a:t>
            </a:r>
            <a:endParaRPr lang="en-US" sz="1500" dirty="0"/>
          </a:p>
        </p:txBody>
      </p:sp>
      <p:sp>
        <p:nvSpPr>
          <p:cNvPr id="27" name="Text 20"/>
          <p:cNvSpPr/>
          <p:nvPr/>
        </p:nvSpPr>
        <p:spPr>
          <a:xfrm>
            <a:off x="1406962" y="7091243"/>
            <a:ext cx="12467868" cy="521017"/>
          </a:xfrm>
          <a:prstGeom prst="rect">
            <a:avLst/>
          </a:prstGeom>
          <a:noFill/>
          <a:ln/>
        </p:spPr>
        <p:txBody>
          <a:bodyPr wrap="square" lIns="0" tIns="0" rIns="0" bIns="0" rtlCol="0" anchor="t"/>
          <a:lstStyle/>
          <a:p>
            <a:pPr marL="0" indent="0" algn="l">
              <a:lnSpc>
                <a:spcPts val="2050"/>
              </a:lnSpc>
              <a:buNone/>
            </a:pPr>
            <a:r>
              <a:rPr lang="en-US" sz="1250" dirty="0">
                <a:solidFill>
                  <a:srgbClr val="00002E"/>
                </a:solidFill>
                <a:latin typeface="PT Sans" pitchFamily="34" charset="0"/>
                <a:ea typeface="PT Sans" pitchFamily="34" charset="-122"/>
                <a:cs typeface="PT Sans" pitchFamily="34" charset="-120"/>
              </a:rPr>
              <a:t>Tailor your DoraBlog journey with </a:t>
            </a:r>
            <a:r>
              <a:rPr lang="en-US" sz="1250" b="1" dirty="0">
                <a:solidFill>
                  <a:srgbClr val="00002E"/>
                </a:solidFill>
                <a:latin typeface="PT Sans" pitchFamily="34" charset="0"/>
                <a:ea typeface="PT Sans" pitchFamily="34" charset="-122"/>
                <a:cs typeface="PT Sans" pitchFamily="34" charset="-120"/>
              </a:rPr>
              <a:t>multi-theme</a:t>
            </a:r>
            <a:r>
              <a:rPr lang="en-US" sz="1250" dirty="0">
                <a:solidFill>
                  <a:srgbClr val="00002E"/>
                </a:solidFill>
                <a:latin typeface="PT Sans" pitchFamily="34" charset="0"/>
                <a:ea typeface="PT Sans" pitchFamily="34" charset="-122"/>
                <a:cs typeface="PT Sans" pitchFamily="34" charset="-120"/>
              </a:rPr>
              <a:t> options, a visual </a:t>
            </a:r>
            <a:r>
              <a:rPr lang="en-US" sz="1250" b="1" dirty="0">
                <a:solidFill>
                  <a:srgbClr val="00002E"/>
                </a:solidFill>
                <a:latin typeface="PT Sans" pitchFamily="34" charset="0"/>
                <a:ea typeface="PT Sans" pitchFamily="34" charset="-122"/>
                <a:cs typeface="PT Sans" pitchFamily="34" charset="-120"/>
              </a:rPr>
              <a:t>password strength indicator</a:t>
            </a:r>
            <a:r>
              <a:rPr lang="en-US" sz="1250" dirty="0">
                <a:solidFill>
                  <a:srgbClr val="00002E"/>
                </a:solidFill>
                <a:latin typeface="PT Sans" pitchFamily="34" charset="0"/>
                <a:ea typeface="PT Sans" pitchFamily="34" charset="-122"/>
                <a:cs typeface="PT Sans" pitchFamily="34" charset="-120"/>
              </a:rPr>
              <a:t> for enhanced security, and </a:t>
            </a:r>
            <a:r>
              <a:rPr lang="en-US" sz="1250" b="1" dirty="0">
                <a:solidFill>
                  <a:srgbClr val="00002E"/>
                </a:solidFill>
                <a:latin typeface="PT Sans" pitchFamily="34" charset="0"/>
                <a:ea typeface="PT Sans" pitchFamily="34" charset="-122"/>
                <a:cs typeface="PT Sans" pitchFamily="34" charset="-120"/>
              </a:rPr>
              <a:t>daily motivational quotes</a:t>
            </a:r>
            <a:r>
              <a:rPr lang="en-US" sz="1250" dirty="0">
                <a:solidFill>
                  <a:srgbClr val="00002E"/>
                </a:solidFill>
                <a:latin typeface="PT Sans" pitchFamily="34" charset="0"/>
                <a:ea typeface="PT Sans" pitchFamily="34" charset="-122"/>
                <a:cs typeface="PT Sans" pitchFamily="34" charset="-120"/>
              </a:rPr>
              <a:t> to inspire your storytelling adventures.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4706" y="511850"/>
            <a:ext cx="5035987" cy="424101"/>
          </a:xfrm>
          <a:prstGeom prst="rect">
            <a:avLst/>
          </a:prstGeom>
          <a:noFill/>
          <a:ln/>
        </p:spPr>
        <p:txBody>
          <a:bodyPr wrap="none" lIns="0" tIns="0" rIns="0" bIns="0" rtlCol="0" anchor="t"/>
          <a:lstStyle/>
          <a:p>
            <a:pPr marL="0" indent="0" algn="l">
              <a:lnSpc>
                <a:spcPts val="3300"/>
              </a:lnSpc>
              <a:buNone/>
            </a:pPr>
            <a:r>
              <a:rPr lang="en-US" sz="2650" dirty="0">
                <a:solidFill>
                  <a:srgbClr val="00002E"/>
                </a:solidFill>
                <a:latin typeface="Nunito Semi Bold" pitchFamily="34" charset="0"/>
                <a:ea typeface="Nunito Semi Bold" pitchFamily="34" charset="-122"/>
                <a:cs typeface="Nunito Semi Bold" pitchFamily="34" charset="-120"/>
              </a:rPr>
              <a:t>DoraBlog Architecture Overview</a:t>
            </a:r>
            <a:endParaRPr lang="en-US" sz="2650" dirty="0"/>
          </a:p>
        </p:txBody>
      </p:sp>
      <p:pic>
        <p:nvPicPr>
          <p:cNvPr id="3" name="Image 0" descr="preencoded.png"/>
          <p:cNvPicPr>
            <a:picLocks noChangeAspect="1"/>
          </p:cNvPicPr>
          <p:nvPr/>
        </p:nvPicPr>
        <p:blipFill>
          <a:blip r:embed="rId3"/>
          <a:stretch>
            <a:fillRect/>
          </a:stretch>
        </p:blipFill>
        <p:spPr>
          <a:xfrm>
            <a:off x="3650754" y="1224320"/>
            <a:ext cx="7328892" cy="5639395"/>
          </a:xfrm>
          <a:prstGeom prst="rect">
            <a:avLst/>
          </a:prstGeom>
        </p:spPr>
      </p:pic>
      <p:sp>
        <p:nvSpPr>
          <p:cNvPr id="4" name="Text 1"/>
          <p:cNvSpPr/>
          <p:nvPr/>
        </p:nvSpPr>
        <p:spPr>
          <a:xfrm>
            <a:off x="504706" y="7025878"/>
            <a:ext cx="13620988" cy="691872"/>
          </a:xfrm>
          <a:prstGeom prst="rect">
            <a:avLst/>
          </a:prstGeom>
          <a:noFill/>
          <a:ln/>
        </p:spPr>
        <p:txBody>
          <a:bodyPr wrap="square" lIns="0" tIns="0" rIns="0" bIns="0" rtlCol="0" anchor="t"/>
          <a:lstStyle/>
          <a:p>
            <a:pPr marL="0" indent="0" algn="l">
              <a:lnSpc>
                <a:spcPts val="1800"/>
              </a:lnSpc>
              <a:buNone/>
            </a:pPr>
            <a:r>
              <a:rPr lang="en-US" sz="1100" dirty="0">
                <a:solidFill>
                  <a:srgbClr val="00002E"/>
                </a:solidFill>
                <a:latin typeface="PT Sans" pitchFamily="34" charset="0"/>
                <a:ea typeface="PT Sans" pitchFamily="34" charset="-122"/>
                <a:cs typeface="PT Sans" pitchFamily="34" charset="-120"/>
              </a:rPr>
              <a:t>Just like Doraemon's complex internal wiring, our DoraBlog has a cleverly designed architecture! This diagram is your </a:t>
            </a:r>
            <a:r>
              <a:rPr lang="en-US" sz="1100" b="1" dirty="0">
                <a:solidFill>
                  <a:srgbClr val="00002E"/>
                </a:solidFill>
                <a:latin typeface="PT Sans" pitchFamily="34" charset="0"/>
                <a:ea typeface="PT Sans" pitchFamily="34" charset="-122"/>
                <a:cs typeface="PT Sans" pitchFamily="34" charset="-120"/>
              </a:rPr>
              <a:t>"Time Machine"</a:t>
            </a:r>
            <a:r>
              <a:rPr lang="en-US" sz="1100" dirty="0">
                <a:solidFill>
                  <a:srgbClr val="00002E"/>
                </a:solidFill>
                <a:latin typeface="PT Sans" pitchFamily="34" charset="0"/>
                <a:ea typeface="PT Sans" pitchFamily="34" charset="-122"/>
                <a:cs typeface="PT Sans" pitchFamily="34" charset="-120"/>
              </a:rPr>
              <a:t> to understanding how all the magic happens. It clearly illustrates the interconnected components of our blogging platform: the front end is designed into home, articles, articleDetail and login, 4 main part. The Java admin follows MVC design pattern. The APIs consist of 4 part and get data by DAOs and pack the data up to front end. The Database is designed to 5 main tables and 3 relation tables, ArticleImg, ArticleLike and ArticleTag</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6140" y="544830"/>
            <a:ext cx="10618946" cy="458986"/>
          </a:xfrm>
          <a:prstGeom prst="rect">
            <a:avLst/>
          </a:prstGeom>
          <a:noFill/>
          <a:ln/>
        </p:spPr>
        <p:txBody>
          <a:bodyPr wrap="none" lIns="0" tIns="0" rIns="0" bIns="0" rtlCol="0" anchor="t"/>
          <a:lstStyle/>
          <a:p>
            <a:pPr marL="0" indent="0" algn="l">
              <a:lnSpc>
                <a:spcPts val="3600"/>
              </a:lnSpc>
              <a:buNone/>
            </a:pPr>
            <a:r>
              <a:rPr lang="en-US" sz="2850" dirty="0">
                <a:solidFill>
                  <a:srgbClr val="00002E"/>
                </a:solidFill>
                <a:latin typeface="Nunito Semi Bold" pitchFamily="34" charset="0"/>
                <a:ea typeface="Nunito Semi Bold" pitchFamily="34" charset="-122"/>
                <a:cs typeface="Nunito Semi Bold" pitchFamily="34" charset="-120"/>
              </a:rPr>
              <a:t>Doraemon's Time Machine: Project Timeline &amp; Agile Adventure!</a:t>
            </a:r>
            <a:endParaRPr lang="en-US" sz="2850" dirty="0"/>
          </a:p>
        </p:txBody>
      </p:sp>
      <p:sp>
        <p:nvSpPr>
          <p:cNvPr id="3" name="Text 1"/>
          <p:cNvSpPr/>
          <p:nvPr/>
        </p:nvSpPr>
        <p:spPr>
          <a:xfrm>
            <a:off x="546140" y="1315879"/>
            <a:ext cx="13538121" cy="499348"/>
          </a:xfrm>
          <a:prstGeom prst="rect">
            <a:avLst/>
          </a:prstGeom>
          <a:noFill/>
          <a:ln/>
        </p:spPr>
        <p:txBody>
          <a:bodyPr wrap="square" lIns="0" tIns="0" rIns="0" bIns="0" rtlCol="0" anchor="t"/>
          <a:lstStyle/>
          <a:p>
            <a:pPr marL="0" indent="0" algn="l">
              <a:lnSpc>
                <a:spcPts val="1950"/>
              </a:lnSpc>
              <a:buNone/>
            </a:pPr>
            <a:r>
              <a:rPr lang="en-US" sz="1200" dirty="0">
                <a:solidFill>
                  <a:srgbClr val="00002E"/>
                </a:solidFill>
                <a:latin typeface="PT Sans" pitchFamily="34" charset="0"/>
                <a:ea typeface="PT Sans" pitchFamily="34" charset="-122"/>
                <a:cs typeface="PT Sans" pitchFamily="34" charset="-120"/>
              </a:rPr>
              <a:t>Our team developed the whole project using </a:t>
            </a:r>
            <a:r>
              <a:rPr lang="en-US" sz="1200" b="1" dirty="0">
                <a:solidFill>
                  <a:srgbClr val="00002E"/>
                </a:solidFill>
                <a:latin typeface="PT Sans" pitchFamily="34" charset="0"/>
                <a:ea typeface="PT Sans" pitchFamily="34" charset="-122"/>
                <a:cs typeface="PT Sans" pitchFamily="34" charset="-120"/>
              </a:rPr>
              <a:t>agile development</a:t>
            </a:r>
            <a:r>
              <a:rPr lang="en-US" sz="1200" dirty="0">
                <a:solidFill>
                  <a:srgbClr val="00002E"/>
                </a:solidFill>
                <a:latin typeface="PT Sans" pitchFamily="34" charset="0"/>
                <a:ea typeface="PT Sans" pitchFamily="34" charset="-122"/>
                <a:cs typeface="PT Sans" pitchFamily="34" charset="-120"/>
              </a:rPr>
              <a:t> methods. There is a short meeting to discuss current progress and problems every morning. Besides, Kanban board is used to assign and record our tasks, which is divided into small pieces.</a:t>
            </a:r>
            <a:endParaRPr lang="en-US" sz="1200" dirty="0"/>
          </a:p>
        </p:txBody>
      </p:sp>
      <p:sp>
        <p:nvSpPr>
          <p:cNvPr id="4" name="Shape 2"/>
          <p:cNvSpPr/>
          <p:nvPr/>
        </p:nvSpPr>
        <p:spPr>
          <a:xfrm>
            <a:off x="7303770" y="1990725"/>
            <a:ext cx="22860" cy="5268754"/>
          </a:xfrm>
          <a:prstGeom prst="roundRect">
            <a:avLst>
              <a:gd name="adj" fmla="val 1023892"/>
            </a:avLst>
          </a:prstGeom>
          <a:solidFill>
            <a:srgbClr val="000000">
              <a:alpha val="8000"/>
            </a:srgbClr>
          </a:solidFill>
          <a:ln/>
        </p:spPr>
      </p:sp>
      <p:sp>
        <p:nvSpPr>
          <p:cNvPr id="5" name="Shape 3"/>
          <p:cNvSpPr/>
          <p:nvPr/>
        </p:nvSpPr>
        <p:spPr>
          <a:xfrm>
            <a:off x="7025997" y="2154793"/>
            <a:ext cx="312063" cy="22860"/>
          </a:xfrm>
          <a:prstGeom prst="roundRect">
            <a:avLst>
              <a:gd name="adj" fmla="val 1023892"/>
            </a:avLst>
          </a:prstGeom>
          <a:solidFill>
            <a:srgbClr val="4666FF"/>
          </a:solidFill>
          <a:ln/>
        </p:spPr>
      </p:sp>
      <p:sp>
        <p:nvSpPr>
          <p:cNvPr id="6" name="Shape 4"/>
          <p:cNvSpPr/>
          <p:nvPr/>
        </p:nvSpPr>
        <p:spPr>
          <a:xfrm>
            <a:off x="7256740" y="2107763"/>
            <a:ext cx="116919" cy="116919"/>
          </a:xfrm>
          <a:prstGeom prst="roundRect">
            <a:avLst>
              <a:gd name="adj" fmla="val 391040"/>
            </a:avLst>
          </a:prstGeom>
          <a:solidFill>
            <a:srgbClr val="2D4DF2"/>
          </a:solidFill>
          <a:ln/>
        </p:spPr>
      </p:sp>
      <p:sp>
        <p:nvSpPr>
          <p:cNvPr id="7" name="Text 5"/>
          <p:cNvSpPr/>
          <p:nvPr/>
        </p:nvSpPr>
        <p:spPr>
          <a:xfrm>
            <a:off x="3409831" y="2044303"/>
            <a:ext cx="3281243" cy="237053"/>
          </a:xfrm>
          <a:prstGeom prst="rect">
            <a:avLst/>
          </a:prstGeom>
          <a:noFill/>
          <a:ln/>
        </p:spPr>
        <p:txBody>
          <a:bodyPr wrap="none" lIns="0" tIns="0" rIns="0" bIns="0" rtlCol="0" anchor="t"/>
          <a:lstStyle/>
          <a:p>
            <a:pPr marL="0" indent="0" algn="r">
              <a:lnSpc>
                <a:spcPts val="1800"/>
              </a:lnSpc>
              <a:buNone/>
            </a:pPr>
            <a:r>
              <a:rPr lang="en-US" sz="1400" dirty="0">
                <a:solidFill>
                  <a:srgbClr val="00002E"/>
                </a:solidFill>
                <a:latin typeface="Nunito Semi Bold" pitchFamily="34" charset="0"/>
                <a:ea typeface="Nunito Semi Bold" pitchFamily="34" charset="-122"/>
                <a:cs typeface="Nunito Semi Bold" pitchFamily="34" charset="-120"/>
              </a:rPr>
              <a:t>Days 1-2: Blueprint &amp; Design Phase </a:t>
            </a:r>
            <a:r>
              <a:rPr lang="en-US" sz="1400" dirty="0">
                <a:solidFill>
                  <a:srgbClr val="000000"/>
                </a:solidFill>
                <a:latin typeface="Nunito Semi Bold" pitchFamily="34" charset="0"/>
                <a:ea typeface="Nunito Semi Bold" pitchFamily="34" charset="-122"/>
                <a:cs typeface="Nunito Semi Bold" pitchFamily="34" charset="-120"/>
              </a:rPr>
              <a:t>🎨</a:t>
            </a:r>
            <a:endParaRPr lang="en-US" sz="1400" dirty="0"/>
          </a:p>
        </p:txBody>
      </p:sp>
      <p:sp>
        <p:nvSpPr>
          <p:cNvPr id="8" name="Text 6"/>
          <p:cNvSpPr/>
          <p:nvPr/>
        </p:nvSpPr>
        <p:spPr>
          <a:xfrm>
            <a:off x="546140" y="2374940"/>
            <a:ext cx="6144935" cy="499348"/>
          </a:xfrm>
          <a:prstGeom prst="rect">
            <a:avLst/>
          </a:prstGeom>
          <a:noFill/>
          <a:ln/>
        </p:spPr>
        <p:txBody>
          <a:bodyPr wrap="square" lIns="0" tIns="0" rIns="0" bIns="0" rtlCol="0" anchor="t"/>
          <a:lstStyle/>
          <a:p>
            <a:pPr marL="342900" indent="-342900" algn="l">
              <a:lnSpc>
                <a:spcPts val="1950"/>
              </a:lnSpc>
              <a:buSzPct val="100000"/>
              <a:buChar char="•"/>
            </a:pPr>
            <a:r>
              <a:rPr lang="en-US" sz="1200" dirty="0">
                <a:solidFill>
                  <a:srgbClr val="00002E"/>
                </a:solidFill>
                <a:latin typeface="PT Sans" pitchFamily="34" charset="0"/>
                <a:ea typeface="PT Sans" pitchFamily="34" charset="-122"/>
                <a:cs typeface="PT Sans" pitchFamily="34" charset="-120"/>
              </a:rPr>
              <a:t>Designed UI and decided the whole visual style (like choosing the perfect gadget design!)</a:t>
            </a:r>
            <a:endParaRPr lang="en-US" sz="1200" dirty="0"/>
          </a:p>
        </p:txBody>
      </p:sp>
      <p:sp>
        <p:nvSpPr>
          <p:cNvPr id="9" name="Text 7"/>
          <p:cNvSpPr/>
          <p:nvPr/>
        </p:nvSpPr>
        <p:spPr>
          <a:xfrm>
            <a:off x="546140" y="2928818"/>
            <a:ext cx="6144935" cy="249674"/>
          </a:xfrm>
          <a:prstGeom prst="rect">
            <a:avLst/>
          </a:prstGeom>
          <a:noFill/>
          <a:ln/>
        </p:spPr>
        <p:txBody>
          <a:bodyPr wrap="none" lIns="0" tIns="0" rIns="0" bIns="0" rtlCol="0" anchor="t"/>
          <a:lstStyle/>
          <a:p>
            <a:pPr marL="342900" indent="-342900" algn="l">
              <a:lnSpc>
                <a:spcPts val="1950"/>
              </a:lnSpc>
              <a:buSzPct val="100000"/>
              <a:buChar char="•"/>
            </a:pPr>
            <a:r>
              <a:rPr lang="en-US" sz="1200" dirty="0">
                <a:solidFill>
                  <a:srgbClr val="00002E"/>
                </a:solidFill>
                <a:latin typeface="PT Sans" pitchFamily="34" charset="0"/>
                <a:ea typeface="PT Sans" pitchFamily="34" charset="-122"/>
                <a:cs typeface="PT Sans" pitchFamily="34" charset="-120"/>
              </a:rPr>
              <a:t>Created ER diagram and API architecture</a:t>
            </a:r>
            <a:endParaRPr lang="en-US" sz="1200" dirty="0"/>
          </a:p>
        </p:txBody>
      </p:sp>
      <p:sp>
        <p:nvSpPr>
          <p:cNvPr id="10" name="Text 8"/>
          <p:cNvSpPr/>
          <p:nvPr/>
        </p:nvSpPr>
        <p:spPr>
          <a:xfrm>
            <a:off x="546140" y="3233023"/>
            <a:ext cx="6144935" cy="249674"/>
          </a:xfrm>
          <a:prstGeom prst="rect">
            <a:avLst/>
          </a:prstGeom>
          <a:noFill/>
          <a:ln/>
        </p:spPr>
        <p:txBody>
          <a:bodyPr wrap="none" lIns="0" tIns="0" rIns="0" bIns="0" rtlCol="0" anchor="t"/>
          <a:lstStyle/>
          <a:p>
            <a:pPr marL="342900" indent="-342900" algn="l">
              <a:lnSpc>
                <a:spcPts val="1950"/>
              </a:lnSpc>
              <a:buSzPct val="100000"/>
              <a:buChar char="•"/>
            </a:pPr>
            <a:r>
              <a:rPr lang="en-US" sz="1200" dirty="0">
                <a:solidFill>
                  <a:srgbClr val="00002E"/>
                </a:solidFill>
                <a:latin typeface="PT Sans" pitchFamily="34" charset="0"/>
                <a:ea typeface="PT Sans" pitchFamily="34" charset="-122"/>
                <a:cs typeface="PT Sans" pitchFamily="34" charset="-120"/>
              </a:rPr>
              <a:t>Developed comprehensive development plan and time management strategy</a:t>
            </a:r>
            <a:endParaRPr lang="en-US" sz="1200" dirty="0"/>
          </a:p>
        </p:txBody>
      </p:sp>
      <p:sp>
        <p:nvSpPr>
          <p:cNvPr id="11" name="Shape 9"/>
          <p:cNvSpPr/>
          <p:nvPr/>
        </p:nvSpPr>
        <p:spPr>
          <a:xfrm>
            <a:off x="7292340" y="3090982"/>
            <a:ext cx="312063" cy="22860"/>
          </a:xfrm>
          <a:prstGeom prst="roundRect">
            <a:avLst>
              <a:gd name="adj" fmla="val 1023892"/>
            </a:avLst>
          </a:prstGeom>
          <a:solidFill>
            <a:srgbClr val="1AA5FA"/>
          </a:solidFill>
          <a:ln/>
        </p:spPr>
      </p:sp>
      <p:sp>
        <p:nvSpPr>
          <p:cNvPr id="12" name="Shape 10"/>
          <p:cNvSpPr/>
          <p:nvPr/>
        </p:nvSpPr>
        <p:spPr>
          <a:xfrm>
            <a:off x="7256740" y="3043952"/>
            <a:ext cx="116919" cy="116919"/>
          </a:xfrm>
          <a:prstGeom prst="roundRect">
            <a:avLst>
              <a:gd name="adj" fmla="val 391040"/>
            </a:avLst>
          </a:prstGeom>
          <a:solidFill>
            <a:srgbClr val="018CE1"/>
          </a:solidFill>
          <a:ln/>
        </p:spPr>
      </p:sp>
      <p:sp>
        <p:nvSpPr>
          <p:cNvPr id="13" name="Text 11"/>
          <p:cNvSpPr/>
          <p:nvPr/>
        </p:nvSpPr>
        <p:spPr>
          <a:xfrm>
            <a:off x="7939326" y="2980492"/>
            <a:ext cx="2820829" cy="237053"/>
          </a:xfrm>
          <a:prstGeom prst="rect">
            <a:avLst/>
          </a:prstGeom>
          <a:noFill/>
          <a:ln/>
        </p:spPr>
        <p:txBody>
          <a:bodyPr wrap="none" lIns="0" tIns="0" rIns="0" bIns="0" rtlCol="0" anchor="t"/>
          <a:lstStyle/>
          <a:p>
            <a:pPr marL="0" indent="0" algn="l">
              <a:lnSpc>
                <a:spcPts val="1800"/>
              </a:lnSpc>
              <a:buNone/>
            </a:pPr>
            <a:r>
              <a:rPr lang="en-US" sz="1400" dirty="0">
                <a:solidFill>
                  <a:srgbClr val="00002E"/>
                </a:solidFill>
                <a:latin typeface="Nunito Semi Bold" pitchFamily="34" charset="0"/>
                <a:ea typeface="Nunito Semi Bold" pitchFamily="34" charset="-122"/>
                <a:cs typeface="Nunito Semi Bold" pitchFamily="34" charset="-120"/>
              </a:rPr>
              <a:t>Days 3-4: Foundation Building </a:t>
            </a:r>
            <a:r>
              <a:rPr lang="en-US" sz="1400" dirty="0">
                <a:solidFill>
                  <a:srgbClr val="000000"/>
                </a:solidFill>
                <a:latin typeface="Nunito Semi Bold" pitchFamily="34" charset="0"/>
                <a:ea typeface="Nunito Semi Bold" pitchFamily="34" charset="-122"/>
                <a:cs typeface="Nunito Semi Bold" pitchFamily="34" charset="-120"/>
              </a:rPr>
              <a:t>🔧</a:t>
            </a:r>
            <a:endParaRPr lang="en-US" sz="1400" dirty="0"/>
          </a:p>
        </p:txBody>
      </p:sp>
      <p:sp>
        <p:nvSpPr>
          <p:cNvPr id="14" name="Text 12"/>
          <p:cNvSpPr/>
          <p:nvPr/>
        </p:nvSpPr>
        <p:spPr>
          <a:xfrm>
            <a:off x="7939326" y="3311128"/>
            <a:ext cx="6144935" cy="249674"/>
          </a:xfrm>
          <a:prstGeom prst="rect">
            <a:avLst/>
          </a:prstGeom>
          <a:noFill/>
          <a:ln/>
        </p:spPr>
        <p:txBody>
          <a:bodyPr wrap="none" lIns="0" tIns="0" rIns="0" bIns="0" rtlCol="0" anchor="t"/>
          <a:lstStyle/>
          <a:p>
            <a:pPr marL="342900" indent="-342900" algn="l">
              <a:lnSpc>
                <a:spcPts val="1950"/>
              </a:lnSpc>
              <a:buSzPct val="100000"/>
              <a:buChar char="•"/>
            </a:pPr>
            <a:r>
              <a:rPr lang="en-US" sz="1200" dirty="0">
                <a:solidFill>
                  <a:srgbClr val="00002E"/>
                </a:solidFill>
                <a:latin typeface="PT Sans" pitchFamily="34" charset="0"/>
                <a:ea typeface="PT Sans" pitchFamily="34" charset="-122"/>
                <a:cs typeface="PT Sans" pitchFamily="34" charset="-120"/>
              </a:rPr>
              <a:t>Developed SQL database structure (our 4D Pocket storage system!)</a:t>
            </a:r>
            <a:endParaRPr lang="en-US" sz="1200" dirty="0"/>
          </a:p>
        </p:txBody>
      </p:sp>
      <p:sp>
        <p:nvSpPr>
          <p:cNvPr id="15" name="Text 13"/>
          <p:cNvSpPr/>
          <p:nvPr/>
        </p:nvSpPr>
        <p:spPr>
          <a:xfrm>
            <a:off x="7939326" y="3615333"/>
            <a:ext cx="6144935" cy="249674"/>
          </a:xfrm>
          <a:prstGeom prst="rect">
            <a:avLst/>
          </a:prstGeom>
          <a:noFill/>
          <a:ln/>
        </p:spPr>
        <p:txBody>
          <a:bodyPr wrap="none" lIns="0" tIns="0" rIns="0" bIns="0" rtlCol="0" anchor="t"/>
          <a:lstStyle/>
          <a:p>
            <a:pPr marL="342900" indent="-342900" algn="l">
              <a:lnSpc>
                <a:spcPts val="1950"/>
              </a:lnSpc>
              <a:buSzPct val="100000"/>
              <a:buChar char="•"/>
            </a:pPr>
            <a:r>
              <a:rPr lang="en-US" sz="1200" dirty="0">
                <a:solidFill>
                  <a:srgbClr val="00002E"/>
                </a:solidFill>
                <a:latin typeface="PT Sans" pitchFamily="34" charset="0"/>
                <a:ea typeface="PT Sans" pitchFamily="34" charset="-122"/>
                <a:cs typeface="PT Sans" pitchFamily="34" charset="-120"/>
              </a:rPr>
              <a:t>Built most APIs (our Anywhere Door endpoints!)</a:t>
            </a:r>
            <a:endParaRPr lang="en-US" sz="1200" dirty="0"/>
          </a:p>
        </p:txBody>
      </p:sp>
      <p:sp>
        <p:nvSpPr>
          <p:cNvPr id="16" name="Text 14"/>
          <p:cNvSpPr/>
          <p:nvPr/>
        </p:nvSpPr>
        <p:spPr>
          <a:xfrm>
            <a:off x="7939326" y="3919538"/>
            <a:ext cx="6144935" cy="249674"/>
          </a:xfrm>
          <a:prstGeom prst="rect">
            <a:avLst/>
          </a:prstGeom>
          <a:noFill/>
          <a:ln/>
        </p:spPr>
        <p:txBody>
          <a:bodyPr wrap="none" lIns="0" tIns="0" rIns="0" bIns="0" rtlCol="0" anchor="t"/>
          <a:lstStyle/>
          <a:p>
            <a:pPr marL="342900" indent="-342900" algn="l">
              <a:lnSpc>
                <a:spcPts val="1950"/>
              </a:lnSpc>
              <a:buSzPct val="100000"/>
              <a:buChar char="•"/>
            </a:pPr>
            <a:r>
              <a:rPr lang="en-US" sz="1200" dirty="0">
                <a:solidFill>
                  <a:srgbClr val="00002E"/>
                </a:solidFill>
                <a:latin typeface="PT Sans" pitchFamily="34" charset="0"/>
                <a:ea typeface="PT Sans" pitchFamily="34" charset="-122"/>
                <a:cs typeface="PT Sans" pitchFamily="34" charset="-120"/>
              </a:rPr>
              <a:t>Created static web pages: home, login, and article details</a:t>
            </a:r>
            <a:endParaRPr lang="en-US" sz="1200" dirty="0"/>
          </a:p>
        </p:txBody>
      </p:sp>
      <p:sp>
        <p:nvSpPr>
          <p:cNvPr id="17" name="Shape 15"/>
          <p:cNvSpPr/>
          <p:nvPr/>
        </p:nvSpPr>
        <p:spPr>
          <a:xfrm>
            <a:off x="7025997" y="3958828"/>
            <a:ext cx="312063" cy="22860"/>
          </a:xfrm>
          <a:prstGeom prst="roundRect">
            <a:avLst>
              <a:gd name="adj" fmla="val 1023892"/>
            </a:avLst>
          </a:prstGeom>
          <a:solidFill>
            <a:srgbClr val="F34CD8"/>
          </a:solidFill>
          <a:ln/>
        </p:spPr>
      </p:sp>
      <p:sp>
        <p:nvSpPr>
          <p:cNvPr id="18" name="Shape 16"/>
          <p:cNvSpPr/>
          <p:nvPr/>
        </p:nvSpPr>
        <p:spPr>
          <a:xfrm>
            <a:off x="7256740" y="3911798"/>
            <a:ext cx="116919" cy="116919"/>
          </a:xfrm>
          <a:prstGeom prst="roundRect">
            <a:avLst>
              <a:gd name="adj" fmla="val 391040"/>
            </a:avLst>
          </a:prstGeom>
          <a:solidFill>
            <a:srgbClr val="DA33BF"/>
          </a:solidFill>
          <a:ln/>
        </p:spPr>
      </p:sp>
      <p:sp>
        <p:nvSpPr>
          <p:cNvPr id="19" name="Text 17"/>
          <p:cNvSpPr/>
          <p:nvPr/>
        </p:nvSpPr>
        <p:spPr>
          <a:xfrm>
            <a:off x="4095869" y="3848338"/>
            <a:ext cx="2595205" cy="237053"/>
          </a:xfrm>
          <a:prstGeom prst="rect">
            <a:avLst/>
          </a:prstGeom>
          <a:noFill/>
          <a:ln/>
        </p:spPr>
        <p:txBody>
          <a:bodyPr wrap="none" lIns="0" tIns="0" rIns="0" bIns="0" rtlCol="0" anchor="t"/>
          <a:lstStyle/>
          <a:p>
            <a:pPr marL="0" indent="0" algn="r">
              <a:lnSpc>
                <a:spcPts val="1800"/>
              </a:lnSpc>
              <a:buNone/>
            </a:pPr>
            <a:r>
              <a:rPr lang="en-US" sz="1400" dirty="0">
                <a:solidFill>
                  <a:srgbClr val="00002E"/>
                </a:solidFill>
                <a:latin typeface="Nunito Semi Bold" pitchFamily="34" charset="0"/>
                <a:ea typeface="Nunito Semi Bold" pitchFamily="34" charset="-122"/>
                <a:cs typeface="Nunito Semi Bold" pitchFamily="34" charset="-120"/>
              </a:rPr>
              <a:t>Days 5-7: Magic Integration </a:t>
            </a:r>
            <a:r>
              <a:rPr lang="en-US" sz="1400" dirty="0">
                <a:solidFill>
                  <a:srgbClr val="000000"/>
                </a:solidFill>
                <a:latin typeface="Nunito Semi Bold" pitchFamily="34" charset="0"/>
                <a:ea typeface="Nunito Semi Bold" pitchFamily="34" charset="-122"/>
                <a:cs typeface="Nunito Semi Bold" pitchFamily="34" charset="-120"/>
              </a:rPr>
              <a:t>✨</a:t>
            </a:r>
            <a:endParaRPr lang="en-US" sz="1400" dirty="0"/>
          </a:p>
        </p:txBody>
      </p:sp>
      <p:sp>
        <p:nvSpPr>
          <p:cNvPr id="20" name="Text 18"/>
          <p:cNvSpPr/>
          <p:nvPr/>
        </p:nvSpPr>
        <p:spPr>
          <a:xfrm>
            <a:off x="546140" y="4178975"/>
            <a:ext cx="6144935" cy="249674"/>
          </a:xfrm>
          <a:prstGeom prst="rect">
            <a:avLst/>
          </a:prstGeom>
          <a:noFill/>
          <a:ln/>
        </p:spPr>
        <p:txBody>
          <a:bodyPr wrap="none" lIns="0" tIns="0" rIns="0" bIns="0" rtlCol="0" anchor="t"/>
          <a:lstStyle/>
          <a:p>
            <a:pPr marL="342900" indent="-342900" algn="l">
              <a:lnSpc>
                <a:spcPts val="1950"/>
              </a:lnSpc>
              <a:buSzPct val="100000"/>
              <a:buChar char="•"/>
            </a:pPr>
            <a:r>
              <a:rPr lang="en-US" sz="1200" dirty="0">
                <a:solidFill>
                  <a:srgbClr val="00002E"/>
                </a:solidFill>
                <a:latin typeface="PT Sans" pitchFamily="34" charset="0"/>
                <a:ea typeface="PT Sans" pitchFamily="34" charset="-122"/>
                <a:cs typeface="PT Sans" pitchFamily="34" charset="-120"/>
              </a:rPr>
              <a:t>Rendered pages with APIs (bringing our gadgets to life!)</a:t>
            </a:r>
            <a:endParaRPr lang="en-US" sz="1200" dirty="0"/>
          </a:p>
        </p:txBody>
      </p:sp>
      <p:sp>
        <p:nvSpPr>
          <p:cNvPr id="21" name="Text 19"/>
          <p:cNvSpPr/>
          <p:nvPr/>
        </p:nvSpPr>
        <p:spPr>
          <a:xfrm>
            <a:off x="546140" y="4483179"/>
            <a:ext cx="6144935" cy="249674"/>
          </a:xfrm>
          <a:prstGeom prst="rect">
            <a:avLst/>
          </a:prstGeom>
          <a:noFill/>
          <a:ln/>
        </p:spPr>
        <p:txBody>
          <a:bodyPr wrap="none" lIns="0" tIns="0" rIns="0" bIns="0" rtlCol="0" anchor="t"/>
          <a:lstStyle/>
          <a:p>
            <a:pPr marL="342900" indent="-342900" algn="l">
              <a:lnSpc>
                <a:spcPts val="1950"/>
              </a:lnSpc>
              <a:buSzPct val="100000"/>
              <a:buChar char="•"/>
            </a:pPr>
            <a:r>
              <a:rPr lang="en-US" sz="1200" dirty="0">
                <a:solidFill>
                  <a:srgbClr val="00002E"/>
                </a:solidFill>
                <a:latin typeface="PT Sans" pitchFamily="34" charset="0"/>
                <a:ea typeface="PT Sans" pitchFamily="34" charset="-122"/>
                <a:cs typeface="PT Sans" pitchFamily="34" charset="-120"/>
              </a:rPr>
              <a:t>Added router jumping and navigation</a:t>
            </a:r>
            <a:endParaRPr lang="en-US" sz="1200" dirty="0"/>
          </a:p>
        </p:txBody>
      </p:sp>
      <p:sp>
        <p:nvSpPr>
          <p:cNvPr id="22" name="Text 20"/>
          <p:cNvSpPr/>
          <p:nvPr/>
        </p:nvSpPr>
        <p:spPr>
          <a:xfrm>
            <a:off x="546140" y="4787384"/>
            <a:ext cx="6144935" cy="249674"/>
          </a:xfrm>
          <a:prstGeom prst="rect">
            <a:avLst/>
          </a:prstGeom>
          <a:noFill/>
          <a:ln/>
        </p:spPr>
        <p:txBody>
          <a:bodyPr wrap="none" lIns="0" tIns="0" rIns="0" bIns="0" rtlCol="0" anchor="t"/>
          <a:lstStyle/>
          <a:p>
            <a:pPr marL="342900" indent="-342900" algn="l">
              <a:lnSpc>
                <a:spcPts val="1950"/>
              </a:lnSpc>
              <a:buSzPct val="100000"/>
              <a:buChar char="•"/>
            </a:pPr>
            <a:r>
              <a:rPr lang="en-US" sz="1200" dirty="0">
                <a:solidFill>
                  <a:srgbClr val="00002E"/>
                </a:solidFill>
                <a:latin typeface="PT Sans" pitchFamily="34" charset="0"/>
                <a:ea typeface="PT Sans" pitchFamily="34" charset="-122"/>
                <a:cs typeface="PT Sans" pitchFamily="34" charset="-120"/>
              </a:rPr>
              <a:t>Implemented article editing features</a:t>
            </a:r>
            <a:endParaRPr lang="en-US" sz="1200" dirty="0"/>
          </a:p>
        </p:txBody>
      </p:sp>
      <p:sp>
        <p:nvSpPr>
          <p:cNvPr id="23" name="Text 21"/>
          <p:cNvSpPr/>
          <p:nvPr/>
        </p:nvSpPr>
        <p:spPr>
          <a:xfrm>
            <a:off x="546140" y="5091589"/>
            <a:ext cx="6144935" cy="249674"/>
          </a:xfrm>
          <a:prstGeom prst="rect">
            <a:avLst/>
          </a:prstGeom>
          <a:noFill/>
          <a:ln/>
        </p:spPr>
        <p:txBody>
          <a:bodyPr wrap="none" lIns="0" tIns="0" rIns="0" bIns="0" rtlCol="0" anchor="t"/>
          <a:lstStyle/>
          <a:p>
            <a:pPr marL="342900" indent="-342900" algn="l">
              <a:lnSpc>
                <a:spcPts val="1950"/>
              </a:lnSpc>
              <a:buSzPct val="100000"/>
              <a:buChar char="•"/>
            </a:pPr>
            <a:r>
              <a:rPr lang="en-US" sz="1200" dirty="0">
                <a:solidFill>
                  <a:srgbClr val="00002E"/>
                </a:solidFill>
                <a:latin typeface="PT Sans" pitchFamily="34" charset="0"/>
                <a:ea typeface="PT Sans" pitchFamily="34" charset="-122"/>
                <a:cs typeface="PT Sans" pitchFamily="34" charset="-120"/>
              </a:rPr>
              <a:t>Added password hashing security</a:t>
            </a:r>
            <a:endParaRPr lang="en-US" sz="1200" dirty="0"/>
          </a:p>
        </p:txBody>
      </p:sp>
      <p:sp>
        <p:nvSpPr>
          <p:cNvPr id="24" name="Text 22"/>
          <p:cNvSpPr/>
          <p:nvPr/>
        </p:nvSpPr>
        <p:spPr>
          <a:xfrm>
            <a:off x="546140" y="5395793"/>
            <a:ext cx="6144935" cy="249674"/>
          </a:xfrm>
          <a:prstGeom prst="rect">
            <a:avLst/>
          </a:prstGeom>
          <a:noFill/>
          <a:ln/>
        </p:spPr>
        <p:txBody>
          <a:bodyPr wrap="none" lIns="0" tIns="0" rIns="0" bIns="0" rtlCol="0" anchor="t"/>
          <a:lstStyle/>
          <a:p>
            <a:pPr marL="342900" indent="-342900" algn="l">
              <a:lnSpc>
                <a:spcPts val="1950"/>
              </a:lnSpc>
              <a:buSzPct val="100000"/>
              <a:buChar char="•"/>
            </a:pPr>
            <a:r>
              <a:rPr lang="en-US" sz="1200" dirty="0">
                <a:solidFill>
                  <a:srgbClr val="00002E"/>
                </a:solidFill>
                <a:latin typeface="PT Sans" pitchFamily="34" charset="0"/>
                <a:ea typeface="PT Sans" pitchFamily="34" charset="-122"/>
                <a:cs typeface="PT Sans" pitchFamily="34" charset="-120"/>
              </a:rPr>
              <a:t>Developed nesting comments system </a:t>
            </a:r>
            <a:endParaRPr lang="en-US" sz="1200" dirty="0"/>
          </a:p>
        </p:txBody>
      </p:sp>
      <p:sp>
        <p:nvSpPr>
          <p:cNvPr id="25" name="Shape 23"/>
          <p:cNvSpPr/>
          <p:nvPr/>
        </p:nvSpPr>
        <p:spPr>
          <a:xfrm>
            <a:off x="7292340" y="5040154"/>
            <a:ext cx="312063" cy="22860"/>
          </a:xfrm>
          <a:prstGeom prst="roundRect">
            <a:avLst>
              <a:gd name="adj" fmla="val 1023892"/>
            </a:avLst>
          </a:prstGeom>
          <a:solidFill>
            <a:srgbClr val="4666FF"/>
          </a:solidFill>
          <a:ln/>
        </p:spPr>
      </p:sp>
      <p:sp>
        <p:nvSpPr>
          <p:cNvPr id="26" name="Shape 24"/>
          <p:cNvSpPr/>
          <p:nvPr/>
        </p:nvSpPr>
        <p:spPr>
          <a:xfrm>
            <a:off x="7256740" y="4993124"/>
            <a:ext cx="116919" cy="116919"/>
          </a:xfrm>
          <a:prstGeom prst="roundRect">
            <a:avLst>
              <a:gd name="adj" fmla="val 391040"/>
            </a:avLst>
          </a:prstGeom>
          <a:solidFill>
            <a:srgbClr val="2D4DF2"/>
          </a:solidFill>
          <a:ln/>
        </p:spPr>
      </p:sp>
      <p:sp>
        <p:nvSpPr>
          <p:cNvPr id="27" name="Text 25"/>
          <p:cNvSpPr/>
          <p:nvPr/>
        </p:nvSpPr>
        <p:spPr>
          <a:xfrm>
            <a:off x="7939326" y="4929664"/>
            <a:ext cx="2908340" cy="237053"/>
          </a:xfrm>
          <a:prstGeom prst="rect">
            <a:avLst/>
          </a:prstGeom>
          <a:noFill/>
          <a:ln/>
        </p:spPr>
        <p:txBody>
          <a:bodyPr wrap="none" lIns="0" tIns="0" rIns="0" bIns="0" rtlCol="0" anchor="t"/>
          <a:lstStyle/>
          <a:p>
            <a:pPr marL="0" indent="0" algn="l">
              <a:lnSpc>
                <a:spcPts val="1800"/>
              </a:lnSpc>
              <a:buNone/>
            </a:pPr>
            <a:r>
              <a:rPr lang="en-US" sz="1400" dirty="0">
                <a:solidFill>
                  <a:srgbClr val="00002E"/>
                </a:solidFill>
                <a:latin typeface="Nunito Semi Bold" pitchFamily="34" charset="0"/>
                <a:ea typeface="Nunito Semi Bold" pitchFamily="34" charset="-122"/>
                <a:cs typeface="Nunito Semi Bold" pitchFamily="34" charset="-120"/>
              </a:rPr>
              <a:t>Days 8-10: Advanced Gadgetry </a:t>
            </a:r>
            <a:r>
              <a:rPr lang="en-US" sz="1400" dirty="0">
                <a:solidFill>
                  <a:srgbClr val="000000"/>
                </a:solidFill>
                <a:latin typeface="Nunito Semi Bold" pitchFamily="34" charset="0"/>
                <a:ea typeface="Nunito Semi Bold" pitchFamily="34" charset="-122"/>
                <a:cs typeface="Nunito Semi Bold" pitchFamily="34" charset="-120"/>
              </a:rPr>
              <a:t>🚀</a:t>
            </a:r>
            <a:endParaRPr lang="en-US" sz="1400" dirty="0"/>
          </a:p>
        </p:txBody>
      </p:sp>
      <p:sp>
        <p:nvSpPr>
          <p:cNvPr id="28" name="Text 26"/>
          <p:cNvSpPr/>
          <p:nvPr/>
        </p:nvSpPr>
        <p:spPr>
          <a:xfrm>
            <a:off x="7939326" y="5260300"/>
            <a:ext cx="6144935" cy="249674"/>
          </a:xfrm>
          <a:prstGeom prst="rect">
            <a:avLst/>
          </a:prstGeom>
          <a:noFill/>
          <a:ln/>
        </p:spPr>
        <p:txBody>
          <a:bodyPr wrap="none" lIns="0" tIns="0" rIns="0" bIns="0" rtlCol="0" anchor="t"/>
          <a:lstStyle/>
          <a:p>
            <a:pPr marL="342900" indent="-342900" algn="l">
              <a:lnSpc>
                <a:spcPts val="1950"/>
              </a:lnSpc>
              <a:buSzPct val="100000"/>
              <a:buChar char="•"/>
            </a:pPr>
            <a:r>
              <a:rPr lang="en-US" sz="1200" dirty="0">
                <a:solidFill>
                  <a:srgbClr val="00002E"/>
                </a:solidFill>
                <a:latin typeface="PT Sans" pitchFamily="34" charset="0"/>
                <a:ea typeface="PT Sans" pitchFamily="34" charset="-122"/>
                <a:cs typeface="PT Sans" pitchFamily="34" charset="-120"/>
              </a:rPr>
              <a:t>Added additional features and enhancements</a:t>
            </a:r>
            <a:endParaRPr lang="en-US" sz="1200" dirty="0"/>
          </a:p>
        </p:txBody>
      </p:sp>
      <p:sp>
        <p:nvSpPr>
          <p:cNvPr id="29" name="Text 27"/>
          <p:cNvSpPr/>
          <p:nvPr/>
        </p:nvSpPr>
        <p:spPr>
          <a:xfrm>
            <a:off x="7939326" y="5564505"/>
            <a:ext cx="6144935" cy="249674"/>
          </a:xfrm>
          <a:prstGeom prst="rect">
            <a:avLst/>
          </a:prstGeom>
          <a:noFill/>
          <a:ln/>
        </p:spPr>
        <p:txBody>
          <a:bodyPr wrap="none" lIns="0" tIns="0" rIns="0" bIns="0" rtlCol="0" anchor="t"/>
          <a:lstStyle/>
          <a:p>
            <a:pPr marL="342900" indent="-342900" algn="l">
              <a:lnSpc>
                <a:spcPts val="1950"/>
              </a:lnSpc>
              <a:buSzPct val="100000"/>
              <a:buChar char="•"/>
            </a:pPr>
            <a:r>
              <a:rPr lang="en-US" sz="1200" dirty="0">
                <a:solidFill>
                  <a:srgbClr val="00002E"/>
                </a:solidFill>
                <a:latin typeface="PT Sans" pitchFamily="34" charset="0"/>
                <a:ea typeface="PT Sans" pitchFamily="34" charset="-122"/>
                <a:cs typeface="PT Sans" pitchFamily="34" charset="-120"/>
              </a:rPr>
              <a:t>Developed Java admin panel (our Control Panel of the Future!)</a:t>
            </a:r>
            <a:endParaRPr lang="en-US" sz="1200" dirty="0"/>
          </a:p>
        </p:txBody>
      </p:sp>
      <p:sp>
        <p:nvSpPr>
          <p:cNvPr id="30" name="Shape 28"/>
          <p:cNvSpPr/>
          <p:nvPr/>
        </p:nvSpPr>
        <p:spPr>
          <a:xfrm>
            <a:off x="7025997" y="6121598"/>
            <a:ext cx="312063" cy="22860"/>
          </a:xfrm>
          <a:prstGeom prst="roundRect">
            <a:avLst>
              <a:gd name="adj" fmla="val 1023892"/>
            </a:avLst>
          </a:prstGeom>
          <a:solidFill>
            <a:srgbClr val="1AA5FA"/>
          </a:solidFill>
          <a:ln/>
        </p:spPr>
      </p:sp>
      <p:sp>
        <p:nvSpPr>
          <p:cNvPr id="31" name="Shape 29"/>
          <p:cNvSpPr/>
          <p:nvPr/>
        </p:nvSpPr>
        <p:spPr>
          <a:xfrm>
            <a:off x="7256740" y="6074569"/>
            <a:ext cx="116919" cy="116919"/>
          </a:xfrm>
          <a:prstGeom prst="roundRect">
            <a:avLst>
              <a:gd name="adj" fmla="val 391040"/>
            </a:avLst>
          </a:prstGeom>
          <a:solidFill>
            <a:srgbClr val="018CE1"/>
          </a:solidFill>
          <a:ln/>
        </p:spPr>
      </p:sp>
      <p:sp>
        <p:nvSpPr>
          <p:cNvPr id="32" name="Text 30"/>
          <p:cNvSpPr/>
          <p:nvPr/>
        </p:nvSpPr>
        <p:spPr>
          <a:xfrm>
            <a:off x="3916442" y="6011108"/>
            <a:ext cx="2774633" cy="237053"/>
          </a:xfrm>
          <a:prstGeom prst="rect">
            <a:avLst/>
          </a:prstGeom>
          <a:noFill/>
          <a:ln/>
        </p:spPr>
        <p:txBody>
          <a:bodyPr wrap="none" lIns="0" tIns="0" rIns="0" bIns="0" rtlCol="0" anchor="t"/>
          <a:lstStyle/>
          <a:p>
            <a:pPr marL="0" indent="0" algn="r">
              <a:lnSpc>
                <a:spcPts val="1800"/>
              </a:lnSpc>
              <a:buNone/>
            </a:pPr>
            <a:r>
              <a:rPr lang="en-US" sz="1400" dirty="0">
                <a:solidFill>
                  <a:srgbClr val="00002E"/>
                </a:solidFill>
                <a:latin typeface="Nunito Semi Bold" pitchFamily="34" charset="0"/>
                <a:ea typeface="Nunito Semi Bold" pitchFamily="34" charset="-122"/>
                <a:cs typeface="Nunito Semi Bold" pitchFamily="34" charset="-120"/>
              </a:rPr>
              <a:t>Final Days: Quality Assurance </a:t>
            </a:r>
            <a:r>
              <a:rPr lang="en-US" sz="1400" dirty="0">
                <a:solidFill>
                  <a:srgbClr val="000000"/>
                </a:solidFill>
                <a:latin typeface="Nunito Semi Bold" pitchFamily="34" charset="0"/>
                <a:ea typeface="Nunito Semi Bold" pitchFamily="34" charset="-122"/>
                <a:cs typeface="Nunito Semi Bold" pitchFamily="34" charset="-120"/>
              </a:rPr>
              <a:t>🔍</a:t>
            </a:r>
            <a:endParaRPr lang="en-US" sz="1400" dirty="0"/>
          </a:p>
        </p:txBody>
      </p:sp>
      <p:sp>
        <p:nvSpPr>
          <p:cNvPr id="33" name="Text 31"/>
          <p:cNvSpPr/>
          <p:nvPr/>
        </p:nvSpPr>
        <p:spPr>
          <a:xfrm>
            <a:off x="546140" y="6341745"/>
            <a:ext cx="6144935" cy="249674"/>
          </a:xfrm>
          <a:prstGeom prst="rect">
            <a:avLst/>
          </a:prstGeom>
          <a:noFill/>
          <a:ln/>
        </p:spPr>
        <p:txBody>
          <a:bodyPr wrap="none" lIns="0" tIns="0" rIns="0" bIns="0" rtlCol="0" anchor="t"/>
          <a:lstStyle/>
          <a:p>
            <a:pPr marL="342900" indent="-342900" algn="l">
              <a:lnSpc>
                <a:spcPts val="1950"/>
              </a:lnSpc>
              <a:buSzPct val="100000"/>
              <a:buChar char="•"/>
            </a:pPr>
            <a:r>
              <a:rPr lang="en-US" sz="1200" dirty="0">
                <a:solidFill>
                  <a:srgbClr val="00002E"/>
                </a:solidFill>
                <a:latin typeface="PT Sans" pitchFamily="34" charset="0"/>
                <a:ea typeface="PT Sans" pitchFamily="34" charset="-122"/>
                <a:cs typeface="PT Sans" pitchFamily="34" charset="-120"/>
              </a:rPr>
              <a:t>Debugging and comprehensive testing</a:t>
            </a:r>
            <a:endParaRPr lang="en-US" sz="1200" dirty="0"/>
          </a:p>
        </p:txBody>
      </p:sp>
      <p:sp>
        <p:nvSpPr>
          <p:cNvPr id="34" name="Text 32"/>
          <p:cNvSpPr/>
          <p:nvPr/>
        </p:nvSpPr>
        <p:spPr>
          <a:xfrm>
            <a:off x="546140" y="6645950"/>
            <a:ext cx="6144935" cy="249674"/>
          </a:xfrm>
          <a:prstGeom prst="rect">
            <a:avLst/>
          </a:prstGeom>
          <a:noFill/>
          <a:ln/>
        </p:spPr>
        <p:txBody>
          <a:bodyPr wrap="none" lIns="0" tIns="0" rIns="0" bIns="0" rtlCol="0" anchor="t"/>
          <a:lstStyle/>
          <a:p>
            <a:pPr marL="342900" indent="-342900" algn="l">
              <a:lnSpc>
                <a:spcPts val="1950"/>
              </a:lnSpc>
              <a:buSzPct val="100000"/>
              <a:buChar char="•"/>
            </a:pPr>
            <a:r>
              <a:rPr lang="en-US" sz="1200" dirty="0">
                <a:solidFill>
                  <a:srgbClr val="00002E"/>
                </a:solidFill>
                <a:latin typeface="PT Sans" pitchFamily="34" charset="0"/>
                <a:ea typeface="PT Sans" pitchFamily="34" charset="-122"/>
                <a:cs typeface="PT Sans" pitchFamily="34" charset="-120"/>
              </a:rPr>
              <a:t>Final polish and optimization</a:t>
            </a:r>
            <a:endParaRPr lang="en-US" sz="1200" dirty="0"/>
          </a:p>
        </p:txBody>
      </p:sp>
      <p:sp>
        <p:nvSpPr>
          <p:cNvPr id="35" name="Text 33"/>
          <p:cNvSpPr/>
          <p:nvPr/>
        </p:nvSpPr>
        <p:spPr>
          <a:xfrm>
            <a:off x="546140" y="7434977"/>
            <a:ext cx="13538121" cy="249674"/>
          </a:xfrm>
          <a:prstGeom prst="rect">
            <a:avLst/>
          </a:prstGeom>
          <a:noFill/>
          <a:ln/>
        </p:spPr>
        <p:txBody>
          <a:bodyPr wrap="none" lIns="0" tIns="0" rIns="0" bIns="0" rtlCol="0" anchor="t"/>
          <a:lstStyle/>
          <a:p>
            <a:pPr marL="0" indent="0" algn="l">
              <a:lnSpc>
                <a:spcPts val="1950"/>
              </a:lnSpc>
              <a:buNone/>
            </a:pPr>
            <a:r>
              <a:rPr lang="en-US" sz="1200" dirty="0">
                <a:solidFill>
                  <a:srgbClr val="00002E"/>
                </a:solidFill>
                <a:latin typeface="PT Sans" pitchFamily="34" charset="0"/>
                <a:ea typeface="PT Sans" pitchFamily="34" charset="-122"/>
                <a:cs typeface="PT Sans" pitchFamily="34" charset="-120"/>
              </a:rPr>
              <a:t>This agile approach ensured smooth collaboration and timely delivery, just like Doraemon's perfectly timed gadget solutions!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05683" y="554355"/>
            <a:ext cx="6193512" cy="593050"/>
          </a:xfrm>
          <a:prstGeom prst="rect">
            <a:avLst/>
          </a:prstGeom>
          <a:noFill/>
          <a:ln/>
        </p:spPr>
        <p:txBody>
          <a:bodyPr wrap="none" lIns="0" tIns="0" rIns="0" bIns="0" rtlCol="0" anchor="t"/>
          <a:lstStyle/>
          <a:p>
            <a:pPr marL="0" indent="0" algn="l">
              <a:lnSpc>
                <a:spcPts val="4650"/>
              </a:lnSpc>
              <a:buNone/>
            </a:pPr>
            <a:r>
              <a:rPr lang="en-US" sz="3700" dirty="0">
                <a:solidFill>
                  <a:srgbClr val="00002E"/>
                </a:solidFill>
                <a:latin typeface="Nunito Semi Bold" pitchFamily="34" charset="0"/>
                <a:ea typeface="Nunito Semi Bold" pitchFamily="34" charset="-122"/>
                <a:cs typeface="Nunito Semi Bold" pitchFamily="34" charset="-120"/>
              </a:rPr>
              <a:t>Comments components(Leo)</a:t>
            </a:r>
            <a:endParaRPr lang="en-US" sz="3700" dirty="0"/>
          </a:p>
        </p:txBody>
      </p:sp>
      <p:pic>
        <p:nvPicPr>
          <p:cNvPr id="3" name="Image 0" descr="preencoded.png"/>
          <p:cNvPicPr>
            <a:picLocks noChangeAspect="1"/>
          </p:cNvPicPr>
          <p:nvPr/>
        </p:nvPicPr>
        <p:blipFill>
          <a:blip r:embed="rId3"/>
          <a:stretch>
            <a:fillRect/>
          </a:stretch>
        </p:blipFill>
        <p:spPr>
          <a:xfrm>
            <a:off x="705683" y="1676638"/>
            <a:ext cx="4209693" cy="4559498"/>
          </a:xfrm>
          <a:prstGeom prst="rect">
            <a:avLst/>
          </a:prstGeom>
        </p:spPr>
      </p:pic>
      <p:sp>
        <p:nvSpPr>
          <p:cNvPr id="4" name="Text 1"/>
          <p:cNvSpPr/>
          <p:nvPr/>
        </p:nvSpPr>
        <p:spPr>
          <a:xfrm>
            <a:off x="705683" y="6462951"/>
            <a:ext cx="2371963" cy="296466"/>
          </a:xfrm>
          <a:prstGeom prst="rect">
            <a:avLst/>
          </a:prstGeom>
          <a:noFill/>
          <a:ln/>
        </p:spPr>
        <p:txBody>
          <a:bodyPr wrap="none" lIns="0" tIns="0" rIns="0" bIns="0" rtlCol="0" anchor="t"/>
          <a:lstStyle/>
          <a:p>
            <a:pPr marL="0" indent="0" algn="l">
              <a:lnSpc>
                <a:spcPts val="2300"/>
              </a:lnSpc>
              <a:buNone/>
            </a:pPr>
            <a:r>
              <a:rPr lang="en-US" sz="1850" dirty="0">
                <a:solidFill>
                  <a:srgbClr val="00002E"/>
                </a:solidFill>
                <a:latin typeface="Nunito Semi Bold" pitchFamily="34" charset="0"/>
                <a:ea typeface="Nunito Semi Bold" pitchFamily="34" charset="-122"/>
                <a:cs typeface="Nunito Semi Bold" pitchFamily="34" charset="-120"/>
              </a:rPr>
              <a:t>Graphic UI</a:t>
            </a:r>
            <a:endParaRPr lang="en-US" sz="1850" dirty="0"/>
          </a:p>
        </p:txBody>
      </p:sp>
      <p:sp>
        <p:nvSpPr>
          <p:cNvPr id="5" name="Text 2"/>
          <p:cNvSpPr/>
          <p:nvPr/>
        </p:nvSpPr>
        <p:spPr>
          <a:xfrm>
            <a:off x="705683" y="6960989"/>
            <a:ext cx="6363653" cy="322421"/>
          </a:xfrm>
          <a:prstGeom prst="rect">
            <a:avLst/>
          </a:prstGeom>
          <a:noFill/>
          <a:ln/>
        </p:spPr>
        <p:txBody>
          <a:bodyPr wrap="none" lIns="0" tIns="0" rIns="0" bIns="0" rtlCol="0" anchor="t"/>
          <a:lstStyle/>
          <a:p>
            <a:pPr marL="0" indent="0" algn="l">
              <a:lnSpc>
                <a:spcPts val="2500"/>
              </a:lnSpc>
              <a:buNone/>
            </a:pPr>
            <a:r>
              <a:rPr lang="en-US" sz="1550" dirty="0">
                <a:solidFill>
                  <a:srgbClr val="00002E"/>
                </a:solidFill>
                <a:latin typeface="PT Sans" pitchFamily="34" charset="0"/>
                <a:ea typeface="PT Sans" pitchFamily="34" charset="-122"/>
                <a:cs typeface="PT Sans" pitchFamily="34" charset="-120"/>
              </a:rPr>
              <a:t>CommentsList → CommentItem : svelte:self</a:t>
            </a:r>
            <a:endParaRPr lang="en-US" sz="1550" dirty="0"/>
          </a:p>
        </p:txBody>
      </p:sp>
      <p:pic>
        <p:nvPicPr>
          <p:cNvPr id="6" name="Image 1" descr="preencoded.png"/>
          <p:cNvPicPr>
            <a:picLocks noChangeAspect="1"/>
          </p:cNvPicPr>
          <p:nvPr/>
        </p:nvPicPr>
        <p:blipFill>
          <a:blip r:embed="rId4"/>
          <a:stretch>
            <a:fillRect/>
          </a:stretch>
        </p:blipFill>
        <p:spPr>
          <a:xfrm>
            <a:off x="7568684" y="1676638"/>
            <a:ext cx="2978706" cy="4770239"/>
          </a:xfrm>
          <a:prstGeom prst="rect">
            <a:avLst/>
          </a:prstGeom>
        </p:spPr>
      </p:pic>
      <p:sp>
        <p:nvSpPr>
          <p:cNvPr id="7" name="Text 3"/>
          <p:cNvSpPr/>
          <p:nvPr/>
        </p:nvSpPr>
        <p:spPr>
          <a:xfrm>
            <a:off x="7568684" y="6673691"/>
            <a:ext cx="2371963" cy="296466"/>
          </a:xfrm>
          <a:prstGeom prst="rect">
            <a:avLst/>
          </a:prstGeom>
          <a:noFill/>
          <a:ln/>
        </p:spPr>
        <p:txBody>
          <a:bodyPr wrap="none" lIns="0" tIns="0" rIns="0" bIns="0" rtlCol="0" anchor="t"/>
          <a:lstStyle/>
          <a:p>
            <a:pPr marL="0" indent="0" algn="l">
              <a:lnSpc>
                <a:spcPts val="2300"/>
              </a:lnSpc>
              <a:buNone/>
            </a:pPr>
            <a:r>
              <a:rPr lang="en-US" sz="1850" dirty="0">
                <a:solidFill>
                  <a:srgbClr val="00002E"/>
                </a:solidFill>
                <a:latin typeface="Nunito Semi Bold" pitchFamily="34" charset="0"/>
                <a:ea typeface="Nunito Semi Bold" pitchFamily="34" charset="-122"/>
                <a:cs typeface="Nunito Semi Bold" pitchFamily="34" charset="-120"/>
              </a:rPr>
              <a:t>API response</a:t>
            </a:r>
            <a:endParaRPr lang="en-US" sz="1850" dirty="0"/>
          </a:p>
        </p:txBody>
      </p:sp>
      <p:sp>
        <p:nvSpPr>
          <p:cNvPr id="8" name="Text 4"/>
          <p:cNvSpPr/>
          <p:nvPr/>
        </p:nvSpPr>
        <p:spPr>
          <a:xfrm>
            <a:off x="7568684" y="7171730"/>
            <a:ext cx="6363653" cy="322421"/>
          </a:xfrm>
          <a:prstGeom prst="rect">
            <a:avLst/>
          </a:prstGeom>
          <a:noFill/>
          <a:ln/>
        </p:spPr>
        <p:txBody>
          <a:bodyPr wrap="none" lIns="0" tIns="0" rIns="0" bIns="0" rtlCol="0" anchor="t"/>
          <a:lstStyle/>
          <a:p>
            <a:pPr marL="0" indent="0" algn="l">
              <a:lnSpc>
                <a:spcPts val="2500"/>
              </a:lnSpc>
              <a:buNone/>
            </a:pPr>
            <a:r>
              <a:rPr lang="en-US" sz="1550" dirty="0">
                <a:solidFill>
                  <a:srgbClr val="00002E"/>
                </a:solidFill>
                <a:latin typeface="PT Sans" pitchFamily="34" charset="0"/>
                <a:ea typeface="PT Sans" pitchFamily="34" charset="-122"/>
                <a:cs typeface="PT Sans" pitchFamily="34" charset="-120"/>
              </a:rPr>
              <a:t>parentCommentId &amp; childrenComments contribute to different depth</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837724" y="994529"/>
            <a:ext cx="8466653" cy="704017"/>
          </a:xfrm>
          <a:prstGeom prst="rect">
            <a:avLst/>
          </a:prstGeom>
          <a:noFill/>
          <a:ln/>
        </p:spPr>
        <p:txBody>
          <a:bodyPr wrap="none" lIns="0" tIns="0" rIns="0" bIns="0" rtlCol="0" anchor="t"/>
          <a:lstStyle/>
          <a:p>
            <a:pPr marL="0" indent="0" algn="l">
              <a:lnSpc>
                <a:spcPts val="5500"/>
              </a:lnSpc>
              <a:buNone/>
            </a:pPr>
            <a:r>
              <a:rPr lang="en-US" sz="4400" dirty="0">
                <a:solidFill>
                  <a:srgbClr val="00002E"/>
                </a:solidFill>
                <a:latin typeface="Nunito Semi Bold" pitchFamily="34" charset="0"/>
                <a:ea typeface="Nunito Semi Bold" pitchFamily="34" charset="-122"/>
                <a:cs typeface="Nunito Semi Bold" pitchFamily="34" charset="-120"/>
              </a:rPr>
              <a:t>JAVA swing admin interface(Leo)</a:t>
            </a:r>
            <a:endParaRPr lang="en-US" sz="4400" dirty="0"/>
          </a:p>
        </p:txBody>
      </p:sp>
      <p:sp>
        <p:nvSpPr>
          <p:cNvPr id="3" name="Text 1"/>
          <p:cNvSpPr/>
          <p:nvPr/>
        </p:nvSpPr>
        <p:spPr>
          <a:xfrm>
            <a:off x="837724" y="2272903"/>
            <a:ext cx="6185535" cy="1149072"/>
          </a:xfrm>
          <a:prstGeom prst="rect">
            <a:avLst/>
          </a:prstGeom>
          <a:noFill/>
          <a:ln/>
        </p:spPr>
        <p:txBody>
          <a:bodyPr wrap="square" lIns="0" tIns="0" rIns="0" bIns="0" rtlCol="0" anchor="t"/>
          <a:lstStyle/>
          <a:p>
            <a:pPr marL="342900" indent="-342900" algn="l">
              <a:lnSpc>
                <a:spcPts val="3000"/>
              </a:lnSpc>
              <a:buSzPct val="100000"/>
              <a:buChar char="•"/>
            </a:pPr>
            <a:r>
              <a:rPr lang="en-US" sz="1850" dirty="0">
                <a:solidFill>
                  <a:srgbClr val="00002E"/>
                </a:solidFill>
                <a:latin typeface="PT Sans" pitchFamily="34" charset="0"/>
                <a:ea typeface="PT Sans" pitchFamily="34" charset="-122"/>
                <a:cs typeface="PT Sans" pitchFamily="34" charset="-120"/>
              </a:rPr>
              <a:t>Main file: User(pojos), AdminFrame(view), AdminController, UserModel(TableModel &amp; observer), API</a:t>
            </a:r>
            <a:endParaRPr lang="en-US" sz="1850" dirty="0"/>
          </a:p>
        </p:txBody>
      </p:sp>
      <p:sp>
        <p:nvSpPr>
          <p:cNvPr id="4" name="Text 2"/>
          <p:cNvSpPr/>
          <p:nvPr/>
        </p:nvSpPr>
        <p:spPr>
          <a:xfrm>
            <a:off x="837724" y="3505676"/>
            <a:ext cx="6185535"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00002E"/>
                </a:solidFill>
                <a:latin typeface="PT Sans" pitchFamily="34" charset="0"/>
                <a:ea typeface="PT Sans" pitchFamily="34" charset="-122"/>
                <a:cs typeface="PT Sans" pitchFamily="34" charset="-120"/>
              </a:rPr>
              <a:t>AdminFrame with BorderLayout</a:t>
            </a:r>
            <a:endParaRPr lang="en-US" sz="1850" dirty="0"/>
          </a:p>
        </p:txBody>
      </p:sp>
      <p:sp>
        <p:nvSpPr>
          <p:cNvPr id="5" name="Text 3"/>
          <p:cNvSpPr/>
          <p:nvPr/>
        </p:nvSpPr>
        <p:spPr>
          <a:xfrm>
            <a:off x="837724" y="3972401"/>
            <a:ext cx="6185535"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00002E"/>
                </a:solidFill>
                <a:latin typeface="PT Sans" pitchFamily="34" charset="0"/>
                <a:ea typeface="PT Sans" pitchFamily="34" charset="-122"/>
                <a:cs typeface="PT Sans" pitchFamily="34" charset="-120"/>
              </a:rPr>
              <a:t>AdminController deals with click action</a:t>
            </a:r>
            <a:endParaRPr lang="en-US" sz="1850" dirty="0"/>
          </a:p>
        </p:txBody>
      </p:sp>
      <p:sp>
        <p:nvSpPr>
          <p:cNvPr id="6" name="Text 4"/>
          <p:cNvSpPr/>
          <p:nvPr/>
        </p:nvSpPr>
        <p:spPr>
          <a:xfrm>
            <a:off x="837724" y="4439126"/>
            <a:ext cx="6185535" cy="766048"/>
          </a:xfrm>
          <a:prstGeom prst="rect">
            <a:avLst/>
          </a:prstGeom>
          <a:noFill/>
          <a:ln/>
        </p:spPr>
        <p:txBody>
          <a:bodyPr wrap="square" lIns="0" tIns="0" rIns="0" bIns="0" rtlCol="0" anchor="t"/>
          <a:lstStyle/>
          <a:p>
            <a:pPr marL="342900" indent="-342900" algn="l">
              <a:lnSpc>
                <a:spcPts val="3000"/>
              </a:lnSpc>
              <a:buSzPct val="100000"/>
              <a:buChar char="•"/>
            </a:pPr>
            <a:r>
              <a:rPr lang="en-US" sz="1850" dirty="0">
                <a:solidFill>
                  <a:srgbClr val="00002E"/>
                </a:solidFill>
                <a:latin typeface="PT Sans" pitchFamily="34" charset="0"/>
                <a:ea typeface="PT Sans" pitchFamily="34" charset="-122"/>
                <a:cs typeface="PT Sans" pitchFamily="34" charset="-120"/>
              </a:rPr>
              <a:t>UserModel extends AbstractTableModel, notify observer (adapter and observer)</a:t>
            </a:r>
            <a:endParaRPr lang="en-US" sz="1850" dirty="0"/>
          </a:p>
        </p:txBody>
      </p:sp>
      <p:sp>
        <p:nvSpPr>
          <p:cNvPr id="7" name="Text 5"/>
          <p:cNvSpPr/>
          <p:nvPr/>
        </p:nvSpPr>
        <p:spPr>
          <a:xfrm>
            <a:off x="837724" y="5420558"/>
            <a:ext cx="6185535" cy="383024"/>
          </a:xfrm>
          <a:prstGeom prst="rect">
            <a:avLst/>
          </a:prstGeom>
          <a:noFill/>
          <a:ln/>
        </p:spPr>
        <p:txBody>
          <a:bodyPr wrap="none" lIns="0" tIns="0" rIns="0" bIns="0" rtlCol="0" anchor="t"/>
          <a:lstStyle/>
          <a:p>
            <a:pPr marL="0" indent="0" algn="l">
              <a:lnSpc>
                <a:spcPts val="3000"/>
              </a:lnSpc>
              <a:buNone/>
            </a:pPr>
            <a:endParaRPr lang="en-US" sz="1850" dirty="0"/>
          </a:p>
        </p:txBody>
      </p:sp>
      <p:pic>
        <p:nvPicPr>
          <p:cNvPr id="8" name="Image 0" descr="preencoded.png"/>
          <p:cNvPicPr>
            <a:picLocks noChangeAspect="1"/>
          </p:cNvPicPr>
          <p:nvPr/>
        </p:nvPicPr>
        <p:blipFill>
          <a:blip r:embed="rId3"/>
          <a:stretch>
            <a:fillRect/>
          </a:stretch>
        </p:blipFill>
        <p:spPr>
          <a:xfrm>
            <a:off x="7614761" y="2326719"/>
            <a:ext cx="6185535" cy="463915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1944529"/>
          </a:xfrm>
          <a:prstGeom prst="rect">
            <a:avLst/>
          </a:prstGeom>
        </p:spPr>
      </p:pic>
      <p:sp>
        <p:nvSpPr>
          <p:cNvPr id="3" name="Text 0"/>
          <p:cNvSpPr/>
          <p:nvPr/>
        </p:nvSpPr>
        <p:spPr>
          <a:xfrm>
            <a:off x="544354" y="2372320"/>
            <a:ext cx="9470112" cy="457438"/>
          </a:xfrm>
          <a:prstGeom prst="rect">
            <a:avLst/>
          </a:prstGeom>
          <a:noFill/>
          <a:ln/>
        </p:spPr>
        <p:txBody>
          <a:bodyPr wrap="none" lIns="0" tIns="0" rIns="0" bIns="0" rtlCol="0" anchor="t"/>
          <a:lstStyle/>
          <a:p>
            <a:pPr marL="0" indent="0" algn="l">
              <a:lnSpc>
                <a:spcPts val="3600"/>
              </a:lnSpc>
              <a:buNone/>
            </a:pPr>
            <a:r>
              <a:rPr lang="en-US" sz="2850" dirty="0">
                <a:solidFill>
                  <a:srgbClr val="00002E"/>
                </a:solidFill>
                <a:latin typeface="Nunito Semi Bold" pitchFamily="34" charset="0"/>
                <a:ea typeface="Nunito Semi Bold" pitchFamily="34" charset="-122"/>
                <a:cs typeface="Nunito Semi Bold" pitchFamily="34" charset="-120"/>
              </a:rPr>
              <a:t>Doraemon's Gadget Workshop: Teamwork &amp; Tech Magic!</a:t>
            </a:r>
            <a:endParaRPr lang="en-US" sz="2850" dirty="0"/>
          </a:p>
        </p:txBody>
      </p:sp>
      <p:sp>
        <p:nvSpPr>
          <p:cNvPr id="4" name="Text 1"/>
          <p:cNvSpPr/>
          <p:nvPr/>
        </p:nvSpPr>
        <p:spPr>
          <a:xfrm>
            <a:off x="544354" y="3063002"/>
            <a:ext cx="13541693" cy="497919"/>
          </a:xfrm>
          <a:prstGeom prst="rect">
            <a:avLst/>
          </a:prstGeom>
          <a:noFill/>
          <a:ln/>
        </p:spPr>
        <p:txBody>
          <a:bodyPr wrap="square" lIns="0" tIns="0" rIns="0" bIns="0" rtlCol="0" anchor="t"/>
          <a:lstStyle/>
          <a:p>
            <a:pPr marL="0" indent="0" algn="l">
              <a:lnSpc>
                <a:spcPts val="1950"/>
              </a:lnSpc>
              <a:buNone/>
            </a:pPr>
            <a:r>
              <a:rPr lang="en-US" sz="1200" dirty="0">
                <a:solidFill>
                  <a:srgbClr val="00002E"/>
                </a:solidFill>
                <a:latin typeface="PT Sans" pitchFamily="34" charset="0"/>
                <a:ea typeface="PT Sans" pitchFamily="34" charset="-122"/>
                <a:cs typeface="PT Sans" pitchFamily="34" charset="-120"/>
              </a:rPr>
              <a:t>Here at </a:t>
            </a:r>
            <a:r>
              <a:rPr lang="en-US" sz="1200" b="1" dirty="0">
                <a:solidFill>
                  <a:srgbClr val="00002E"/>
                </a:solidFill>
                <a:latin typeface="PT Sans" pitchFamily="34" charset="0"/>
                <a:ea typeface="PT Sans" pitchFamily="34" charset="-122"/>
                <a:cs typeface="PT Sans" pitchFamily="34" charset="-120"/>
              </a:rPr>
              <a:t>Doraemon's Tech Team</a:t>
            </a:r>
            <a:r>
              <a:rPr lang="en-US" sz="1200" dirty="0">
                <a:solidFill>
                  <a:srgbClr val="00002E"/>
                </a:solidFill>
                <a:latin typeface="PT Sans" pitchFamily="34" charset="0"/>
                <a:ea typeface="PT Sans" pitchFamily="34" charset="-122"/>
                <a:cs typeface="PT Sans" pitchFamily="34" charset="-120"/>
              </a:rPr>
              <a:t>, we embrace agile development with the enthusiasm of a robotic cat discovering a new gadget! We ensure successful project delivery through stellar code quality and super collaborative processes, just like Doraemon and friends working together to help Nobita.</a:t>
            </a:r>
            <a:endParaRPr lang="en-US" sz="1200" dirty="0"/>
          </a:p>
        </p:txBody>
      </p:sp>
      <p:sp>
        <p:nvSpPr>
          <p:cNvPr id="5" name="Shape 2"/>
          <p:cNvSpPr/>
          <p:nvPr/>
        </p:nvSpPr>
        <p:spPr>
          <a:xfrm>
            <a:off x="544354" y="5769173"/>
            <a:ext cx="13541693" cy="22860"/>
          </a:xfrm>
          <a:prstGeom prst="roundRect">
            <a:avLst>
              <a:gd name="adj" fmla="val 1020752"/>
            </a:avLst>
          </a:prstGeom>
          <a:solidFill>
            <a:srgbClr val="000000">
              <a:alpha val="8000"/>
            </a:srgbClr>
          </a:solidFill>
          <a:ln/>
        </p:spPr>
      </p:sp>
      <p:sp>
        <p:nvSpPr>
          <p:cNvPr id="6" name="Shape 3"/>
          <p:cNvSpPr/>
          <p:nvPr/>
        </p:nvSpPr>
        <p:spPr>
          <a:xfrm>
            <a:off x="3182898" y="5458123"/>
            <a:ext cx="22860" cy="311110"/>
          </a:xfrm>
          <a:prstGeom prst="roundRect">
            <a:avLst>
              <a:gd name="adj" fmla="val 1020752"/>
            </a:avLst>
          </a:prstGeom>
          <a:solidFill>
            <a:srgbClr val="4666FF"/>
          </a:solidFill>
          <a:ln/>
        </p:spPr>
      </p:sp>
      <p:sp>
        <p:nvSpPr>
          <p:cNvPr id="7" name="Shape 4"/>
          <p:cNvSpPr/>
          <p:nvPr/>
        </p:nvSpPr>
        <p:spPr>
          <a:xfrm>
            <a:off x="3136047" y="5710833"/>
            <a:ext cx="116562" cy="116562"/>
          </a:xfrm>
          <a:prstGeom prst="roundRect">
            <a:avLst>
              <a:gd name="adj" fmla="val 392238"/>
            </a:avLst>
          </a:prstGeom>
          <a:solidFill>
            <a:srgbClr val="2D4DF2"/>
          </a:solidFill>
          <a:ln/>
        </p:spPr>
      </p:sp>
      <p:sp>
        <p:nvSpPr>
          <p:cNvPr id="8" name="Text 5"/>
          <p:cNvSpPr/>
          <p:nvPr/>
        </p:nvSpPr>
        <p:spPr>
          <a:xfrm>
            <a:off x="1650802" y="3735824"/>
            <a:ext cx="3086933" cy="228719"/>
          </a:xfrm>
          <a:prstGeom prst="rect">
            <a:avLst/>
          </a:prstGeom>
          <a:noFill/>
          <a:ln/>
        </p:spPr>
        <p:txBody>
          <a:bodyPr wrap="none" lIns="0" tIns="0" rIns="0" bIns="0" rtlCol="0" anchor="t"/>
          <a:lstStyle/>
          <a:p>
            <a:pPr marL="0" indent="0" algn="ctr">
              <a:lnSpc>
                <a:spcPts val="1800"/>
              </a:lnSpc>
              <a:buNone/>
            </a:pPr>
            <a:r>
              <a:rPr lang="en-US" sz="1400" dirty="0">
                <a:solidFill>
                  <a:srgbClr val="00002E"/>
                </a:solidFill>
                <a:latin typeface="Nunito Semi Bold" pitchFamily="34" charset="0"/>
                <a:ea typeface="Nunito Semi Bold" pitchFamily="34" charset="-122"/>
                <a:cs typeface="Nunito Semi Bold" pitchFamily="34" charset="-120"/>
              </a:rPr>
              <a:t>The Time Machine of Version Control</a:t>
            </a:r>
            <a:endParaRPr lang="en-US" sz="1400" dirty="0"/>
          </a:p>
        </p:txBody>
      </p:sp>
      <p:sp>
        <p:nvSpPr>
          <p:cNvPr id="9" name="Text 6"/>
          <p:cNvSpPr/>
          <p:nvPr/>
        </p:nvSpPr>
        <p:spPr>
          <a:xfrm>
            <a:off x="699849" y="4057769"/>
            <a:ext cx="4988957" cy="995839"/>
          </a:xfrm>
          <a:prstGeom prst="rect">
            <a:avLst/>
          </a:prstGeom>
          <a:noFill/>
          <a:ln/>
        </p:spPr>
        <p:txBody>
          <a:bodyPr wrap="square" lIns="0" tIns="0" rIns="0" bIns="0" rtlCol="0" anchor="t"/>
          <a:lstStyle/>
          <a:p>
            <a:pPr marL="0" indent="0" algn="ctr">
              <a:lnSpc>
                <a:spcPts val="1950"/>
              </a:lnSpc>
              <a:buNone/>
            </a:pPr>
            <a:r>
              <a:rPr lang="en-US" sz="1200" dirty="0">
                <a:solidFill>
                  <a:srgbClr val="00002E"/>
                </a:solidFill>
                <a:latin typeface="PT Sans" pitchFamily="34" charset="0"/>
                <a:ea typeface="PT Sans" pitchFamily="34" charset="-122"/>
                <a:cs typeface="PT Sans" pitchFamily="34" charset="-120"/>
              </a:rPr>
              <a:t>We harness the power of version control, much like Doraemon's </a:t>
            </a:r>
            <a:r>
              <a:rPr lang="en-US" sz="1200" b="1" dirty="0">
                <a:solidFill>
                  <a:srgbClr val="00002E"/>
                </a:solidFill>
                <a:latin typeface="PT Sans" pitchFamily="34" charset="0"/>
                <a:ea typeface="PT Sans" pitchFamily="34" charset="-122"/>
                <a:cs typeface="PT Sans" pitchFamily="34" charset="-120"/>
              </a:rPr>
              <a:t>Time Machine</a:t>
            </a:r>
            <a:r>
              <a:rPr lang="en-US" sz="1200" dirty="0">
                <a:solidFill>
                  <a:srgbClr val="00002E"/>
                </a:solidFill>
                <a:latin typeface="PT Sans" pitchFamily="34" charset="0"/>
                <a:ea typeface="PT Sans" pitchFamily="34" charset="-122"/>
                <a:cs typeface="PT Sans" pitchFamily="34" charset="-120"/>
              </a:rPr>
              <a:t>! Utilizing Git Pull Requests (PRs) and peer code reviews, we ensure every change is perfectly recorded and reviewed, preventing any temporal paradoxes in our code and keeping our team synchronized.</a:t>
            </a:r>
            <a:endParaRPr lang="en-US" sz="1200" dirty="0"/>
          </a:p>
        </p:txBody>
      </p:sp>
      <p:sp>
        <p:nvSpPr>
          <p:cNvPr id="10" name="Shape 7"/>
          <p:cNvSpPr/>
          <p:nvPr/>
        </p:nvSpPr>
        <p:spPr>
          <a:xfrm>
            <a:off x="5930027" y="5769114"/>
            <a:ext cx="22860" cy="311110"/>
          </a:xfrm>
          <a:prstGeom prst="roundRect">
            <a:avLst>
              <a:gd name="adj" fmla="val 1020752"/>
            </a:avLst>
          </a:prstGeom>
          <a:solidFill>
            <a:srgbClr val="1AA5FA"/>
          </a:solidFill>
          <a:ln/>
        </p:spPr>
      </p:sp>
      <p:sp>
        <p:nvSpPr>
          <p:cNvPr id="11" name="Shape 8"/>
          <p:cNvSpPr/>
          <p:nvPr/>
        </p:nvSpPr>
        <p:spPr>
          <a:xfrm>
            <a:off x="5883176" y="5710833"/>
            <a:ext cx="116562" cy="116562"/>
          </a:xfrm>
          <a:prstGeom prst="roundRect">
            <a:avLst>
              <a:gd name="adj" fmla="val 392238"/>
            </a:avLst>
          </a:prstGeom>
          <a:solidFill>
            <a:srgbClr val="018CE1"/>
          </a:solidFill>
          <a:ln/>
        </p:spPr>
      </p:sp>
      <p:sp>
        <p:nvSpPr>
          <p:cNvPr id="12" name="Text 9"/>
          <p:cNvSpPr/>
          <p:nvPr/>
        </p:nvSpPr>
        <p:spPr>
          <a:xfrm>
            <a:off x="4559141" y="6235779"/>
            <a:ext cx="2764631" cy="228719"/>
          </a:xfrm>
          <a:prstGeom prst="rect">
            <a:avLst/>
          </a:prstGeom>
          <a:noFill/>
          <a:ln/>
        </p:spPr>
        <p:txBody>
          <a:bodyPr wrap="none" lIns="0" tIns="0" rIns="0" bIns="0" rtlCol="0" anchor="t"/>
          <a:lstStyle/>
          <a:p>
            <a:pPr marL="0" indent="0" algn="ctr">
              <a:lnSpc>
                <a:spcPts val="1800"/>
              </a:lnSpc>
              <a:buNone/>
            </a:pPr>
            <a:r>
              <a:rPr lang="en-US" sz="1400" dirty="0">
                <a:solidFill>
                  <a:srgbClr val="00002E"/>
                </a:solidFill>
                <a:latin typeface="Nunito Semi Bold" pitchFamily="34" charset="0"/>
                <a:ea typeface="Nunito Semi Bold" pitchFamily="34" charset="-122"/>
                <a:cs typeface="Nunito Semi Bold" pitchFamily="34" charset="-120"/>
              </a:rPr>
              <a:t>Cross-Dimensional Contributions</a:t>
            </a:r>
            <a:endParaRPr lang="en-US" sz="1400" dirty="0"/>
          </a:p>
        </p:txBody>
      </p:sp>
      <p:sp>
        <p:nvSpPr>
          <p:cNvPr id="13" name="Text 10"/>
          <p:cNvSpPr/>
          <p:nvPr/>
        </p:nvSpPr>
        <p:spPr>
          <a:xfrm>
            <a:off x="3446978" y="6557724"/>
            <a:ext cx="4989076" cy="995839"/>
          </a:xfrm>
          <a:prstGeom prst="rect">
            <a:avLst/>
          </a:prstGeom>
          <a:noFill/>
          <a:ln/>
        </p:spPr>
        <p:txBody>
          <a:bodyPr wrap="square" lIns="0" tIns="0" rIns="0" bIns="0" rtlCol="0" anchor="t"/>
          <a:lstStyle/>
          <a:p>
            <a:pPr marL="0" indent="0" algn="ctr">
              <a:lnSpc>
                <a:spcPts val="1950"/>
              </a:lnSpc>
              <a:buNone/>
            </a:pPr>
            <a:r>
              <a:rPr lang="en-US" sz="1200" dirty="0">
                <a:solidFill>
                  <a:srgbClr val="00002E"/>
                </a:solidFill>
                <a:latin typeface="PT Sans" pitchFamily="34" charset="0"/>
                <a:ea typeface="PT Sans" pitchFamily="34" charset="-122"/>
                <a:cs typeface="PT Sans" pitchFamily="34" charset="-120"/>
              </a:rPr>
              <a:t>Just as Doraemon can pull out any gadget from his pocket, our team members are multi-talented! Everyone contributes across front-end, back-end, and integration tasks, fostering full-stack skill development. It's like everyone has their own mini-pocket of helpful gadgets!</a:t>
            </a:r>
            <a:endParaRPr lang="en-US" sz="1200" dirty="0"/>
          </a:p>
        </p:txBody>
      </p:sp>
      <p:sp>
        <p:nvSpPr>
          <p:cNvPr id="14" name="Shape 11"/>
          <p:cNvSpPr/>
          <p:nvPr/>
        </p:nvSpPr>
        <p:spPr>
          <a:xfrm>
            <a:off x="8677275" y="5458123"/>
            <a:ext cx="22860" cy="311110"/>
          </a:xfrm>
          <a:prstGeom prst="roundRect">
            <a:avLst>
              <a:gd name="adj" fmla="val 1020752"/>
            </a:avLst>
          </a:prstGeom>
          <a:solidFill>
            <a:srgbClr val="F34CD8"/>
          </a:solidFill>
          <a:ln/>
        </p:spPr>
      </p:sp>
      <p:sp>
        <p:nvSpPr>
          <p:cNvPr id="15" name="Shape 12"/>
          <p:cNvSpPr/>
          <p:nvPr/>
        </p:nvSpPr>
        <p:spPr>
          <a:xfrm>
            <a:off x="8630424" y="5710833"/>
            <a:ext cx="116562" cy="116562"/>
          </a:xfrm>
          <a:prstGeom prst="roundRect">
            <a:avLst>
              <a:gd name="adj" fmla="val 392238"/>
            </a:avLst>
          </a:prstGeom>
          <a:solidFill>
            <a:srgbClr val="DA33BF"/>
          </a:solidFill>
          <a:ln/>
        </p:spPr>
      </p:sp>
      <p:sp>
        <p:nvSpPr>
          <p:cNvPr id="16" name="Text 13"/>
          <p:cNvSpPr/>
          <p:nvPr/>
        </p:nvSpPr>
        <p:spPr>
          <a:xfrm>
            <a:off x="7261384" y="3735824"/>
            <a:ext cx="2854762" cy="228719"/>
          </a:xfrm>
          <a:prstGeom prst="rect">
            <a:avLst/>
          </a:prstGeom>
          <a:noFill/>
          <a:ln/>
        </p:spPr>
        <p:txBody>
          <a:bodyPr wrap="none" lIns="0" tIns="0" rIns="0" bIns="0" rtlCol="0" anchor="t"/>
          <a:lstStyle/>
          <a:p>
            <a:pPr marL="0" indent="0" algn="ctr">
              <a:lnSpc>
                <a:spcPts val="1800"/>
              </a:lnSpc>
              <a:buNone/>
            </a:pPr>
            <a:r>
              <a:rPr lang="en-US" sz="1400" dirty="0">
                <a:solidFill>
                  <a:srgbClr val="00002E"/>
                </a:solidFill>
                <a:latin typeface="Nunito Semi Bold" pitchFamily="34" charset="0"/>
                <a:ea typeface="Nunito Semi Bold" pitchFamily="34" charset="-122"/>
                <a:cs typeface="Nunito Semi Bold" pitchFamily="34" charset="-120"/>
              </a:rPr>
              <a:t>Anywhere Door for API Standards</a:t>
            </a:r>
            <a:endParaRPr lang="en-US" sz="1400" dirty="0"/>
          </a:p>
        </p:txBody>
      </p:sp>
      <p:sp>
        <p:nvSpPr>
          <p:cNvPr id="17" name="Text 14"/>
          <p:cNvSpPr/>
          <p:nvPr/>
        </p:nvSpPr>
        <p:spPr>
          <a:xfrm>
            <a:off x="6194227" y="4057769"/>
            <a:ext cx="4989076" cy="1244798"/>
          </a:xfrm>
          <a:prstGeom prst="rect">
            <a:avLst/>
          </a:prstGeom>
          <a:noFill/>
          <a:ln/>
        </p:spPr>
        <p:txBody>
          <a:bodyPr wrap="square" lIns="0" tIns="0" rIns="0" bIns="0" rtlCol="0" anchor="t"/>
          <a:lstStyle/>
          <a:p>
            <a:pPr marL="0" indent="0" algn="ctr">
              <a:lnSpc>
                <a:spcPts val="1950"/>
              </a:lnSpc>
              <a:buNone/>
            </a:pPr>
            <a:r>
              <a:rPr lang="en-US" sz="1200" dirty="0">
                <a:solidFill>
                  <a:srgbClr val="00002E"/>
                </a:solidFill>
                <a:latin typeface="PT Sans" pitchFamily="34" charset="0"/>
                <a:ea typeface="PT Sans" pitchFamily="34" charset="-122"/>
                <a:cs typeface="PT Sans" pitchFamily="34" charset="-120"/>
              </a:rPr>
              <a:t>Our code quality and standards are as sturdy as Doraemon's robotic frame! We maintain consistent code formatting with Prettier, adhere to clear branch naming conventions, and use "Anywhere Door" level API documentation standards, making sure our connections are always seamless and accessible.</a:t>
            </a:r>
            <a:endParaRPr lang="en-US" sz="1200" dirty="0"/>
          </a:p>
        </p:txBody>
      </p:sp>
      <p:sp>
        <p:nvSpPr>
          <p:cNvPr id="18" name="Shape 15"/>
          <p:cNvSpPr/>
          <p:nvPr/>
        </p:nvSpPr>
        <p:spPr>
          <a:xfrm>
            <a:off x="11424523" y="5769114"/>
            <a:ext cx="22860" cy="311110"/>
          </a:xfrm>
          <a:prstGeom prst="roundRect">
            <a:avLst>
              <a:gd name="adj" fmla="val 1020752"/>
            </a:avLst>
          </a:prstGeom>
          <a:solidFill>
            <a:srgbClr val="4666FF"/>
          </a:solidFill>
          <a:ln/>
        </p:spPr>
      </p:sp>
      <p:sp>
        <p:nvSpPr>
          <p:cNvPr id="19" name="Shape 16"/>
          <p:cNvSpPr/>
          <p:nvPr/>
        </p:nvSpPr>
        <p:spPr>
          <a:xfrm>
            <a:off x="11377672" y="5710833"/>
            <a:ext cx="116562" cy="116562"/>
          </a:xfrm>
          <a:prstGeom prst="roundRect">
            <a:avLst>
              <a:gd name="adj" fmla="val 392238"/>
            </a:avLst>
          </a:prstGeom>
          <a:solidFill>
            <a:srgbClr val="2D4DF2"/>
          </a:solidFill>
          <a:ln/>
        </p:spPr>
      </p:sp>
      <p:sp>
        <p:nvSpPr>
          <p:cNvPr id="20" name="Text 17"/>
          <p:cNvSpPr/>
          <p:nvPr/>
        </p:nvSpPr>
        <p:spPr>
          <a:xfrm>
            <a:off x="9802058" y="6235779"/>
            <a:ext cx="3267908" cy="228719"/>
          </a:xfrm>
          <a:prstGeom prst="rect">
            <a:avLst/>
          </a:prstGeom>
          <a:noFill/>
          <a:ln/>
        </p:spPr>
        <p:txBody>
          <a:bodyPr wrap="none" lIns="0" tIns="0" rIns="0" bIns="0" rtlCol="0" anchor="t"/>
          <a:lstStyle/>
          <a:p>
            <a:pPr marL="0" indent="0" algn="ctr">
              <a:lnSpc>
                <a:spcPts val="1800"/>
              </a:lnSpc>
              <a:buNone/>
            </a:pPr>
            <a:r>
              <a:rPr lang="en-US" sz="1400" dirty="0">
                <a:solidFill>
                  <a:srgbClr val="00002E"/>
                </a:solidFill>
                <a:latin typeface="Nunito Semi Bold" pitchFamily="34" charset="0"/>
                <a:ea typeface="Nunito Semi Bold" pitchFamily="34" charset="-122"/>
                <a:cs typeface="Nunito Semi Bold" pitchFamily="34" charset="-120"/>
              </a:rPr>
              <a:t>Gadget-Powered Challenge Resolution</a:t>
            </a:r>
            <a:endParaRPr lang="en-US" sz="1400" dirty="0"/>
          </a:p>
        </p:txBody>
      </p:sp>
      <p:sp>
        <p:nvSpPr>
          <p:cNvPr id="21" name="Text 18"/>
          <p:cNvSpPr/>
          <p:nvPr/>
        </p:nvSpPr>
        <p:spPr>
          <a:xfrm>
            <a:off x="8941475" y="6557724"/>
            <a:ext cx="4989076" cy="1244798"/>
          </a:xfrm>
          <a:prstGeom prst="rect">
            <a:avLst/>
          </a:prstGeom>
          <a:noFill/>
          <a:ln/>
        </p:spPr>
        <p:txBody>
          <a:bodyPr wrap="square" lIns="0" tIns="0" rIns="0" bIns="0" rtlCol="0" anchor="t"/>
          <a:lstStyle/>
          <a:p>
            <a:pPr marL="0" indent="0" algn="ctr">
              <a:lnSpc>
                <a:spcPts val="1950"/>
              </a:lnSpc>
              <a:buNone/>
            </a:pPr>
            <a:r>
              <a:rPr lang="en-US" sz="1200" dirty="0">
                <a:solidFill>
                  <a:srgbClr val="00002E"/>
                </a:solidFill>
                <a:latin typeface="PT Sans" pitchFamily="34" charset="0"/>
                <a:ea typeface="PT Sans" pitchFamily="34" charset="-122"/>
                <a:cs typeface="PT Sans" pitchFamily="34" charset="-120"/>
              </a:rPr>
              <a:t>No challenge is too big for Doraemon's Tech Team! We've successfully navigated complex technical puzzles, including intricate comment thread logic, secure JWT token management, efficient image uploads, and even multi-theme persistence – finding the perfect gadget for every tricky situation!</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54712" y="435888"/>
            <a:ext cx="9968151" cy="466130"/>
          </a:xfrm>
          <a:prstGeom prst="rect">
            <a:avLst/>
          </a:prstGeom>
          <a:noFill/>
          <a:ln/>
        </p:spPr>
        <p:txBody>
          <a:bodyPr wrap="none" lIns="0" tIns="0" rIns="0" bIns="0" rtlCol="0" anchor="t"/>
          <a:lstStyle/>
          <a:p>
            <a:pPr marL="0" indent="0" algn="l">
              <a:lnSpc>
                <a:spcPts val="3650"/>
              </a:lnSpc>
              <a:buNone/>
            </a:pPr>
            <a:r>
              <a:rPr lang="en-US" sz="2900" dirty="0">
                <a:solidFill>
                  <a:srgbClr val="00002E"/>
                </a:solidFill>
                <a:latin typeface="Nunito Semi Bold" pitchFamily="34" charset="0"/>
                <a:ea typeface="Nunito Semi Bold" pitchFamily="34" charset="-122"/>
                <a:cs typeface="Nunito Semi Bold" pitchFamily="34" charset="-120"/>
              </a:rPr>
              <a:t>DoraBlog's Grand Adventures: Gadget-Powered Triumphs!</a:t>
            </a:r>
            <a:endParaRPr lang="en-US" sz="2900" dirty="0"/>
          </a:p>
        </p:txBody>
      </p:sp>
      <p:sp>
        <p:nvSpPr>
          <p:cNvPr id="3" name="Text 1"/>
          <p:cNvSpPr/>
          <p:nvPr/>
        </p:nvSpPr>
        <p:spPr>
          <a:xfrm>
            <a:off x="554712" y="1298138"/>
            <a:ext cx="4048958" cy="279559"/>
          </a:xfrm>
          <a:prstGeom prst="rect">
            <a:avLst/>
          </a:prstGeom>
          <a:noFill/>
          <a:ln/>
        </p:spPr>
        <p:txBody>
          <a:bodyPr wrap="none" lIns="0" tIns="0" rIns="0" bIns="0" rtlCol="0" anchor="t"/>
          <a:lstStyle/>
          <a:p>
            <a:pPr marL="0" indent="0" algn="l">
              <a:lnSpc>
                <a:spcPts val="2200"/>
              </a:lnSpc>
              <a:buNone/>
            </a:pPr>
            <a:r>
              <a:rPr lang="en-US" sz="1750" dirty="0">
                <a:solidFill>
                  <a:srgbClr val="00002E"/>
                </a:solidFill>
                <a:latin typeface="Nunito Semi Bold" pitchFamily="34" charset="0"/>
                <a:ea typeface="Nunito Semi Bold" pitchFamily="34" charset="-122"/>
                <a:cs typeface="Nunito Semi Bold" pitchFamily="34" charset="-120"/>
              </a:rPr>
              <a:t>Amazing Deliverables, Doraemon Style!</a:t>
            </a:r>
            <a:endParaRPr lang="en-US" sz="1750" dirty="0"/>
          </a:p>
        </p:txBody>
      </p:sp>
      <p:sp>
        <p:nvSpPr>
          <p:cNvPr id="4" name="Text 2"/>
          <p:cNvSpPr/>
          <p:nvPr/>
        </p:nvSpPr>
        <p:spPr>
          <a:xfrm>
            <a:off x="554712" y="1736169"/>
            <a:ext cx="6567130" cy="506968"/>
          </a:xfrm>
          <a:prstGeom prst="rect">
            <a:avLst/>
          </a:prstGeom>
          <a:noFill/>
          <a:ln/>
        </p:spPr>
        <p:txBody>
          <a:bodyPr wrap="square" lIns="0" tIns="0" rIns="0" bIns="0" rtlCol="0" anchor="t"/>
          <a:lstStyle/>
          <a:p>
            <a:pPr marL="342900" indent="-342900" algn="l">
              <a:lnSpc>
                <a:spcPts val="1950"/>
              </a:lnSpc>
              <a:buSzPct val="100000"/>
              <a:buChar char="•"/>
            </a:pPr>
            <a:r>
              <a:rPr lang="en-US" sz="1200" dirty="0">
                <a:solidFill>
                  <a:srgbClr val="00002E"/>
                </a:solidFill>
                <a:latin typeface="PT Sans" pitchFamily="34" charset="0"/>
                <a:ea typeface="PT Sans" pitchFamily="34" charset="-122"/>
                <a:cs typeface="PT Sans" pitchFamily="34" charset="-120"/>
              </a:rPr>
              <a:t>A fully functional blog platform with over 15 </a:t>
            </a:r>
            <a:r>
              <a:rPr lang="en-US" sz="1200" b="1" dirty="0">
                <a:solidFill>
                  <a:srgbClr val="00002E"/>
                </a:solidFill>
                <a:latin typeface="PT Sans" pitchFamily="34" charset="0"/>
                <a:ea typeface="PT Sans" pitchFamily="34" charset="-122"/>
                <a:cs typeface="PT Sans" pitchFamily="34" charset="-120"/>
              </a:rPr>
              <a:t>Anywhere Door</a:t>
            </a:r>
            <a:r>
              <a:rPr lang="en-US" sz="1200" dirty="0">
                <a:solidFill>
                  <a:srgbClr val="00002E"/>
                </a:solidFill>
                <a:latin typeface="PT Sans" pitchFamily="34" charset="0"/>
                <a:ea typeface="PT Sans" pitchFamily="34" charset="-122"/>
                <a:cs typeface="PT Sans" pitchFamily="34" charset="-120"/>
              </a:rPr>
              <a:t> API endpoints, connecting users to data in a flash!</a:t>
            </a:r>
            <a:endParaRPr lang="en-US" sz="1200" dirty="0"/>
          </a:p>
        </p:txBody>
      </p:sp>
      <p:sp>
        <p:nvSpPr>
          <p:cNvPr id="5" name="Text 3"/>
          <p:cNvSpPr/>
          <p:nvPr/>
        </p:nvSpPr>
        <p:spPr>
          <a:xfrm>
            <a:off x="554712" y="2298502"/>
            <a:ext cx="6567130" cy="506968"/>
          </a:xfrm>
          <a:prstGeom prst="rect">
            <a:avLst/>
          </a:prstGeom>
          <a:noFill/>
          <a:ln/>
        </p:spPr>
        <p:txBody>
          <a:bodyPr wrap="square" lIns="0" tIns="0" rIns="0" bIns="0" rtlCol="0" anchor="t"/>
          <a:lstStyle/>
          <a:p>
            <a:pPr marL="342900" indent="-342900" algn="l">
              <a:lnSpc>
                <a:spcPts val="1950"/>
              </a:lnSpc>
              <a:buSzPct val="100000"/>
              <a:buChar char="•"/>
            </a:pPr>
            <a:r>
              <a:rPr lang="en-US" sz="1200" dirty="0">
                <a:solidFill>
                  <a:srgbClr val="00002E"/>
                </a:solidFill>
                <a:latin typeface="PT Sans" pitchFamily="34" charset="0"/>
                <a:ea typeface="PT Sans" pitchFamily="34" charset="-122"/>
                <a:cs typeface="PT Sans" pitchFamily="34" charset="-120"/>
              </a:rPr>
              <a:t>A sleek, responsive SvelteKit frontend for Noby and friends, and a dedicated Java admin client, like Doraemon's own personal control panel.</a:t>
            </a:r>
            <a:endParaRPr lang="en-US" sz="1200" dirty="0"/>
          </a:p>
        </p:txBody>
      </p:sp>
      <p:sp>
        <p:nvSpPr>
          <p:cNvPr id="6" name="Text 4"/>
          <p:cNvSpPr/>
          <p:nvPr/>
        </p:nvSpPr>
        <p:spPr>
          <a:xfrm>
            <a:off x="554712" y="2860834"/>
            <a:ext cx="6567130" cy="506968"/>
          </a:xfrm>
          <a:prstGeom prst="rect">
            <a:avLst/>
          </a:prstGeom>
          <a:noFill/>
          <a:ln/>
        </p:spPr>
        <p:txBody>
          <a:bodyPr wrap="square" lIns="0" tIns="0" rIns="0" bIns="0" rtlCol="0" anchor="t"/>
          <a:lstStyle/>
          <a:p>
            <a:pPr marL="342900" indent="-342900" algn="l">
              <a:lnSpc>
                <a:spcPts val="1950"/>
              </a:lnSpc>
              <a:buSzPct val="100000"/>
              <a:buChar char="•"/>
            </a:pPr>
            <a:r>
              <a:rPr lang="en-US" sz="1200" dirty="0">
                <a:solidFill>
                  <a:srgbClr val="00002E"/>
                </a:solidFill>
                <a:latin typeface="PT Sans" pitchFamily="34" charset="0"/>
                <a:ea typeface="PT Sans" pitchFamily="34" charset="-122"/>
                <a:cs typeface="PT Sans" pitchFamily="34" charset="-120"/>
              </a:rPr>
              <a:t>Comprehensive technical documentation, including API blueprints and Entity Relationship Diagrams (ERD) – our secret guide to the Dora-verse of data.</a:t>
            </a:r>
            <a:endParaRPr lang="en-US" sz="1200" dirty="0"/>
          </a:p>
        </p:txBody>
      </p:sp>
      <p:sp>
        <p:nvSpPr>
          <p:cNvPr id="7" name="Text 5"/>
          <p:cNvSpPr/>
          <p:nvPr/>
        </p:nvSpPr>
        <p:spPr>
          <a:xfrm>
            <a:off x="792361" y="3546038"/>
            <a:ext cx="6329482" cy="633889"/>
          </a:xfrm>
          <a:prstGeom prst="rect">
            <a:avLst/>
          </a:prstGeom>
          <a:noFill/>
          <a:ln/>
        </p:spPr>
        <p:txBody>
          <a:bodyPr wrap="square" lIns="0" tIns="0" rIns="0" bIns="0" rtlCol="0" anchor="t"/>
          <a:lstStyle/>
          <a:p>
            <a:pPr marL="0" indent="0" algn="l">
              <a:lnSpc>
                <a:spcPts val="2450"/>
              </a:lnSpc>
              <a:buNone/>
            </a:pPr>
            <a:r>
              <a:rPr lang="en-US" sz="1550" dirty="0">
                <a:solidFill>
                  <a:srgbClr val="00002E"/>
                </a:solidFill>
                <a:latin typeface="PT Sans" pitchFamily="34" charset="0"/>
                <a:ea typeface="PT Sans" pitchFamily="34" charset="-122"/>
                <a:cs typeface="PT Sans" pitchFamily="34" charset="-120"/>
              </a:rPr>
              <a:t>We didn't just build an application, we journeyed through the full-stack development lifecycle, powered by Doraemon's Tech Team!</a:t>
            </a:r>
            <a:endParaRPr lang="en-US" sz="1550" dirty="0"/>
          </a:p>
        </p:txBody>
      </p:sp>
      <p:sp>
        <p:nvSpPr>
          <p:cNvPr id="8" name="Shape 6"/>
          <p:cNvSpPr/>
          <p:nvPr/>
        </p:nvSpPr>
        <p:spPr>
          <a:xfrm>
            <a:off x="554712" y="3546038"/>
            <a:ext cx="22860" cy="633889"/>
          </a:xfrm>
          <a:prstGeom prst="rect">
            <a:avLst/>
          </a:prstGeom>
          <a:solidFill>
            <a:srgbClr val="2D4DF2"/>
          </a:solidFill>
          <a:ln/>
        </p:spPr>
      </p:sp>
      <p:sp>
        <p:nvSpPr>
          <p:cNvPr id="9" name="Text 7"/>
          <p:cNvSpPr/>
          <p:nvPr/>
        </p:nvSpPr>
        <p:spPr>
          <a:xfrm>
            <a:off x="7516177" y="1298138"/>
            <a:ext cx="2866311" cy="279559"/>
          </a:xfrm>
          <a:prstGeom prst="rect">
            <a:avLst/>
          </a:prstGeom>
          <a:noFill/>
          <a:ln/>
        </p:spPr>
        <p:txBody>
          <a:bodyPr wrap="none" lIns="0" tIns="0" rIns="0" bIns="0" rtlCol="0" anchor="t"/>
          <a:lstStyle/>
          <a:p>
            <a:pPr marL="0" indent="0" algn="l">
              <a:lnSpc>
                <a:spcPts val="2200"/>
              </a:lnSpc>
              <a:buNone/>
            </a:pPr>
            <a:r>
              <a:rPr lang="en-US" sz="1750" dirty="0">
                <a:solidFill>
                  <a:srgbClr val="00002E"/>
                </a:solidFill>
                <a:latin typeface="Nunito Semi Bold" pitchFamily="34" charset="0"/>
                <a:ea typeface="Nunito Semi Bold" pitchFamily="34" charset="-122"/>
                <a:cs typeface="Nunito Semi Bold" pitchFamily="34" charset="-120"/>
              </a:rPr>
              <a:t>Core Gadget Skills Acquired</a:t>
            </a:r>
            <a:endParaRPr lang="en-US" sz="1750" dirty="0"/>
          </a:p>
        </p:txBody>
      </p:sp>
      <p:sp>
        <p:nvSpPr>
          <p:cNvPr id="10" name="Shape 8"/>
          <p:cNvSpPr/>
          <p:nvPr/>
        </p:nvSpPr>
        <p:spPr>
          <a:xfrm>
            <a:off x="7516177" y="1835110"/>
            <a:ext cx="5905976" cy="198120"/>
          </a:xfrm>
          <a:prstGeom prst="roundRect">
            <a:avLst>
              <a:gd name="adj" fmla="val 120008"/>
            </a:avLst>
          </a:prstGeom>
          <a:solidFill>
            <a:srgbClr val="F3F3FF"/>
          </a:solidFill>
          <a:ln w="15240">
            <a:solidFill>
              <a:srgbClr val="2D4DF2"/>
            </a:solidFill>
            <a:prstDash val="solid"/>
          </a:ln>
        </p:spPr>
      </p:sp>
      <p:sp>
        <p:nvSpPr>
          <p:cNvPr id="11" name="Shape 9"/>
          <p:cNvSpPr/>
          <p:nvPr/>
        </p:nvSpPr>
        <p:spPr>
          <a:xfrm>
            <a:off x="7516177" y="1835110"/>
            <a:ext cx="5905976" cy="198120"/>
          </a:xfrm>
          <a:prstGeom prst="roundRect">
            <a:avLst>
              <a:gd name="adj" fmla="val 120008"/>
            </a:avLst>
          </a:prstGeom>
          <a:solidFill>
            <a:srgbClr val="2D4DF2"/>
          </a:solidFill>
          <a:ln/>
        </p:spPr>
      </p:sp>
      <p:sp>
        <p:nvSpPr>
          <p:cNvPr id="12" name="Text 10"/>
          <p:cNvSpPr/>
          <p:nvPr/>
        </p:nvSpPr>
        <p:spPr>
          <a:xfrm>
            <a:off x="13540978" y="1835110"/>
            <a:ext cx="542330" cy="198120"/>
          </a:xfrm>
          <a:prstGeom prst="rect">
            <a:avLst/>
          </a:prstGeom>
          <a:noFill/>
          <a:ln/>
        </p:spPr>
        <p:txBody>
          <a:bodyPr wrap="none" lIns="0" tIns="0" rIns="0" bIns="0" rtlCol="0" anchor="t"/>
          <a:lstStyle/>
          <a:p>
            <a:pPr marL="0" indent="0" algn="l">
              <a:lnSpc>
                <a:spcPts val="1550"/>
              </a:lnSpc>
              <a:buNone/>
            </a:pPr>
            <a:r>
              <a:rPr lang="en-US" sz="1550" dirty="0">
                <a:solidFill>
                  <a:srgbClr val="00002E"/>
                </a:solidFill>
                <a:latin typeface="Nunito Semi Bold" pitchFamily="34" charset="0"/>
                <a:ea typeface="Nunito Semi Bold" pitchFamily="34" charset="-122"/>
                <a:cs typeface="Nunito Semi Bold" pitchFamily="34" charset="-120"/>
              </a:rPr>
              <a:t>100%</a:t>
            </a:r>
            <a:endParaRPr lang="en-US" sz="1550" dirty="0"/>
          </a:p>
        </p:txBody>
      </p:sp>
      <p:sp>
        <p:nvSpPr>
          <p:cNvPr id="13" name="Text 11"/>
          <p:cNvSpPr/>
          <p:nvPr/>
        </p:nvSpPr>
        <p:spPr>
          <a:xfrm>
            <a:off x="7516177" y="2231231"/>
            <a:ext cx="1864757" cy="233005"/>
          </a:xfrm>
          <a:prstGeom prst="rect">
            <a:avLst/>
          </a:prstGeom>
          <a:noFill/>
          <a:ln/>
        </p:spPr>
        <p:txBody>
          <a:bodyPr wrap="none" lIns="0" tIns="0" rIns="0" bIns="0" rtlCol="0" anchor="t"/>
          <a:lstStyle/>
          <a:p>
            <a:pPr marL="0" indent="0" algn="l">
              <a:lnSpc>
                <a:spcPts val="1800"/>
              </a:lnSpc>
              <a:buNone/>
            </a:pPr>
            <a:r>
              <a:rPr lang="en-US" sz="1450" dirty="0">
                <a:solidFill>
                  <a:srgbClr val="00002E"/>
                </a:solidFill>
                <a:latin typeface="Nunito Semi Bold" pitchFamily="34" charset="0"/>
                <a:ea typeface="Nunito Semi Bold" pitchFamily="34" charset="-122"/>
                <a:cs typeface="Nunito Semi Bold" pitchFamily="34" charset="-120"/>
              </a:rPr>
              <a:t>Full-Stack Mastery</a:t>
            </a:r>
            <a:endParaRPr lang="en-US" sz="1450" dirty="0"/>
          </a:p>
        </p:txBody>
      </p:sp>
      <p:sp>
        <p:nvSpPr>
          <p:cNvPr id="14" name="Text 12"/>
          <p:cNvSpPr/>
          <p:nvPr/>
        </p:nvSpPr>
        <p:spPr>
          <a:xfrm>
            <a:off x="7516177" y="2622709"/>
            <a:ext cx="6567130" cy="506968"/>
          </a:xfrm>
          <a:prstGeom prst="rect">
            <a:avLst/>
          </a:prstGeom>
          <a:noFill/>
          <a:ln/>
        </p:spPr>
        <p:txBody>
          <a:bodyPr wrap="square" lIns="0" tIns="0" rIns="0" bIns="0" rtlCol="0" anchor="t"/>
          <a:lstStyle/>
          <a:p>
            <a:pPr marL="0" indent="0" algn="l">
              <a:lnSpc>
                <a:spcPts val="1950"/>
              </a:lnSpc>
              <a:buNone/>
            </a:pPr>
            <a:r>
              <a:rPr lang="en-US" sz="1200" dirty="0">
                <a:solidFill>
                  <a:srgbClr val="00002E"/>
                </a:solidFill>
                <a:latin typeface="PT Sans" pitchFamily="34" charset="0"/>
                <a:ea typeface="PT Sans" pitchFamily="34" charset="-122"/>
                <a:cs typeface="PT Sans" pitchFamily="34" charset="-120"/>
              </a:rPr>
              <a:t>Mastered Node.js and SvelteKit to implement a decoupled frontend and backend architecture, just like Doraemon's multi-functional toolkit!</a:t>
            </a:r>
            <a:endParaRPr lang="en-US" sz="1200" dirty="0"/>
          </a:p>
        </p:txBody>
      </p:sp>
      <p:sp>
        <p:nvSpPr>
          <p:cNvPr id="15" name="Shape 13"/>
          <p:cNvSpPr/>
          <p:nvPr/>
        </p:nvSpPr>
        <p:spPr>
          <a:xfrm>
            <a:off x="7516177" y="3525798"/>
            <a:ext cx="6024920" cy="198120"/>
          </a:xfrm>
          <a:prstGeom prst="roundRect">
            <a:avLst>
              <a:gd name="adj" fmla="val 120008"/>
            </a:avLst>
          </a:prstGeom>
          <a:solidFill>
            <a:srgbClr val="F3F3FF"/>
          </a:solidFill>
          <a:ln w="15240">
            <a:solidFill>
              <a:srgbClr val="018CE1"/>
            </a:solidFill>
            <a:prstDash val="solid"/>
          </a:ln>
        </p:spPr>
      </p:sp>
      <p:sp>
        <p:nvSpPr>
          <p:cNvPr id="16" name="Shape 14"/>
          <p:cNvSpPr/>
          <p:nvPr/>
        </p:nvSpPr>
        <p:spPr>
          <a:xfrm>
            <a:off x="7516177" y="3525798"/>
            <a:ext cx="5723573" cy="198120"/>
          </a:xfrm>
          <a:prstGeom prst="roundRect">
            <a:avLst>
              <a:gd name="adj" fmla="val 120008"/>
            </a:avLst>
          </a:prstGeom>
          <a:solidFill>
            <a:srgbClr val="018CE1"/>
          </a:solidFill>
          <a:ln/>
        </p:spPr>
      </p:sp>
      <p:sp>
        <p:nvSpPr>
          <p:cNvPr id="17" name="Text 15"/>
          <p:cNvSpPr/>
          <p:nvPr/>
        </p:nvSpPr>
        <p:spPr>
          <a:xfrm>
            <a:off x="13659922" y="3525798"/>
            <a:ext cx="423386" cy="198120"/>
          </a:xfrm>
          <a:prstGeom prst="rect">
            <a:avLst/>
          </a:prstGeom>
          <a:noFill/>
          <a:ln/>
        </p:spPr>
        <p:txBody>
          <a:bodyPr wrap="none" lIns="0" tIns="0" rIns="0" bIns="0" rtlCol="0" anchor="t"/>
          <a:lstStyle/>
          <a:p>
            <a:pPr marL="0" indent="0" algn="l">
              <a:lnSpc>
                <a:spcPts val="1550"/>
              </a:lnSpc>
              <a:buNone/>
            </a:pPr>
            <a:r>
              <a:rPr lang="en-US" sz="1550" dirty="0">
                <a:solidFill>
                  <a:srgbClr val="00002E"/>
                </a:solidFill>
                <a:latin typeface="Nunito Semi Bold" pitchFamily="34" charset="0"/>
                <a:ea typeface="Nunito Semi Bold" pitchFamily="34" charset="-122"/>
                <a:cs typeface="Nunito Semi Bold" pitchFamily="34" charset="-120"/>
              </a:rPr>
              <a:t>95%</a:t>
            </a:r>
            <a:endParaRPr lang="en-US" sz="1550" dirty="0"/>
          </a:p>
        </p:txBody>
      </p:sp>
      <p:sp>
        <p:nvSpPr>
          <p:cNvPr id="18" name="Text 16"/>
          <p:cNvSpPr/>
          <p:nvPr/>
        </p:nvSpPr>
        <p:spPr>
          <a:xfrm>
            <a:off x="7516177" y="3921919"/>
            <a:ext cx="2876669" cy="233005"/>
          </a:xfrm>
          <a:prstGeom prst="rect">
            <a:avLst/>
          </a:prstGeom>
          <a:noFill/>
          <a:ln/>
        </p:spPr>
        <p:txBody>
          <a:bodyPr wrap="none" lIns="0" tIns="0" rIns="0" bIns="0" rtlCol="0" anchor="t"/>
          <a:lstStyle/>
          <a:p>
            <a:pPr marL="0" indent="0" algn="l">
              <a:lnSpc>
                <a:spcPts val="1800"/>
              </a:lnSpc>
              <a:buNone/>
            </a:pPr>
            <a:r>
              <a:rPr lang="en-US" sz="1450" dirty="0">
                <a:solidFill>
                  <a:srgbClr val="00002E"/>
                </a:solidFill>
                <a:latin typeface="Nunito Semi Bold" pitchFamily="34" charset="0"/>
                <a:ea typeface="Nunito Semi Bold" pitchFamily="34" charset="-122"/>
                <a:cs typeface="Nunito Semi Bold" pitchFamily="34" charset="-120"/>
              </a:rPr>
              <a:t>Agile &amp; Time Travel Collaboration</a:t>
            </a:r>
            <a:endParaRPr lang="en-US" sz="1450" dirty="0"/>
          </a:p>
        </p:txBody>
      </p:sp>
      <p:sp>
        <p:nvSpPr>
          <p:cNvPr id="19" name="Text 17"/>
          <p:cNvSpPr/>
          <p:nvPr/>
        </p:nvSpPr>
        <p:spPr>
          <a:xfrm>
            <a:off x="7516177" y="4313396"/>
            <a:ext cx="6567130" cy="506968"/>
          </a:xfrm>
          <a:prstGeom prst="rect">
            <a:avLst/>
          </a:prstGeom>
          <a:noFill/>
          <a:ln/>
        </p:spPr>
        <p:txBody>
          <a:bodyPr wrap="square" lIns="0" tIns="0" rIns="0" bIns="0" rtlCol="0" anchor="t"/>
          <a:lstStyle/>
          <a:p>
            <a:pPr marL="0" indent="0" algn="l">
              <a:lnSpc>
                <a:spcPts val="1950"/>
              </a:lnSpc>
              <a:buNone/>
            </a:pPr>
            <a:r>
              <a:rPr lang="en-US" sz="1200" dirty="0">
                <a:solidFill>
                  <a:srgbClr val="00002E"/>
                </a:solidFill>
                <a:latin typeface="PT Sans" pitchFamily="34" charset="0"/>
                <a:ea typeface="PT Sans" pitchFamily="34" charset="-122"/>
                <a:cs typeface="PT Sans" pitchFamily="34" charset="-120"/>
              </a:rPr>
              <a:t>Utilized Git workflow and peer code reviews, ensuring our project evolves smoothly, much like a </a:t>
            </a:r>
            <a:r>
              <a:rPr lang="en-US" sz="1200" b="1" dirty="0">
                <a:solidFill>
                  <a:srgbClr val="00002E"/>
                </a:solidFill>
                <a:latin typeface="PT Sans" pitchFamily="34" charset="0"/>
                <a:ea typeface="PT Sans" pitchFamily="34" charset="-122"/>
                <a:cs typeface="PT Sans" pitchFamily="34" charset="-120"/>
              </a:rPr>
              <a:t>Time Machine</a:t>
            </a:r>
            <a:r>
              <a:rPr lang="en-US" sz="1200" dirty="0">
                <a:solidFill>
                  <a:srgbClr val="00002E"/>
                </a:solidFill>
                <a:latin typeface="PT Sans" pitchFamily="34" charset="0"/>
                <a:ea typeface="PT Sans" pitchFamily="34" charset="-122"/>
                <a:cs typeface="PT Sans" pitchFamily="34" charset="-120"/>
              </a:rPr>
              <a:t> for version control and teamwork!</a:t>
            </a:r>
            <a:endParaRPr lang="en-US" sz="1200" dirty="0"/>
          </a:p>
        </p:txBody>
      </p:sp>
      <p:sp>
        <p:nvSpPr>
          <p:cNvPr id="20" name="Shape 18"/>
          <p:cNvSpPr/>
          <p:nvPr/>
        </p:nvSpPr>
        <p:spPr>
          <a:xfrm>
            <a:off x="7516177" y="5216485"/>
            <a:ext cx="6024920" cy="198120"/>
          </a:xfrm>
          <a:prstGeom prst="roundRect">
            <a:avLst>
              <a:gd name="adj" fmla="val 120008"/>
            </a:avLst>
          </a:prstGeom>
          <a:solidFill>
            <a:srgbClr val="F3F3FF"/>
          </a:solidFill>
          <a:ln w="15240">
            <a:solidFill>
              <a:srgbClr val="DA33BF"/>
            </a:solidFill>
            <a:prstDash val="solid"/>
          </a:ln>
        </p:spPr>
      </p:sp>
      <p:sp>
        <p:nvSpPr>
          <p:cNvPr id="21" name="Shape 19"/>
          <p:cNvSpPr/>
          <p:nvPr/>
        </p:nvSpPr>
        <p:spPr>
          <a:xfrm>
            <a:off x="7516177" y="5216485"/>
            <a:ext cx="5422344" cy="198120"/>
          </a:xfrm>
          <a:prstGeom prst="roundRect">
            <a:avLst>
              <a:gd name="adj" fmla="val 120008"/>
            </a:avLst>
          </a:prstGeom>
          <a:solidFill>
            <a:srgbClr val="DA33BF"/>
          </a:solidFill>
          <a:ln/>
        </p:spPr>
      </p:sp>
      <p:sp>
        <p:nvSpPr>
          <p:cNvPr id="22" name="Text 20"/>
          <p:cNvSpPr/>
          <p:nvPr/>
        </p:nvSpPr>
        <p:spPr>
          <a:xfrm>
            <a:off x="13659922" y="5216485"/>
            <a:ext cx="423386" cy="198120"/>
          </a:xfrm>
          <a:prstGeom prst="rect">
            <a:avLst/>
          </a:prstGeom>
          <a:noFill/>
          <a:ln/>
        </p:spPr>
        <p:txBody>
          <a:bodyPr wrap="none" lIns="0" tIns="0" rIns="0" bIns="0" rtlCol="0" anchor="t"/>
          <a:lstStyle/>
          <a:p>
            <a:pPr marL="0" indent="0" algn="l">
              <a:lnSpc>
                <a:spcPts val="1550"/>
              </a:lnSpc>
              <a:buNone/>
            </a:pPr>
            <a:r>
              <a:rPr lang="en-US" sz="1550" dirty="0">
                <a:solidFill>
                  <a:srgbClr val="00002E"/>
                </a:solidFill>
                <a:latin typeface="Nunito Semi Bold" pitchFamily="34" charset="0"/>
                <a:ea typeface="Nunito Semi Bold" pitchFamily="34" charset="-122"/>
                <a:cs typeface="Nunito Semi Bold" pitchFamily="34" charset="-120"/>
              </a:rPr>
              <a:t>90%</a:t>
            </a:r>
            <a:endParaRPr lang="en-US" sz="1550" dirty="0"/>
          </a:p>
        </p:txBody>
      </p:sp>
      <p:sp>
        <p:nvSpPr>
          <p:cNvPr id="23" name="Text 21"/>
          <p:cNvSpPr/>
          <p:nvPr/>
        </p:nvSpPr>
        <p:spPr>
          <a:xfrm>
            <a:off x="7516177" y="5612606"/>
            <a:ext cx="2522339" cy="233005"/>
          </a:xfrm>
          <a:prstGeom prst="rect">
            <a:avLst/>
          </a:prstGeom>
          <a:noFill/>
          <a:ln/>
        </p:spPr>
        <p:txBody>
          <a:bodyPr wrap="none" lIns="0" tIns="0" rIns="0" bIns="0" rtlCol="0" anchor="t"/>
          <a:lstStyle/>
          <a:p>
            <a:pPr marL="0" indent="0" algn="l">
              <a:lnSpc>
                <a:spcPts val="1800"/>
              </a:lnSpc>
              <a:buNone/>
            </a:pPr>
            <a:r>
              <a:rPr lang="en-US" sz="1450" dirty="0">
                <a:solidFill>
                  <a:srgbClr val="00002E"/>
                </a:solidFill>
                <a:latin typeface="Nunito Semi Bold" pitchFamily="34" charset="0"/>
                <a:ea typeface="Nunito Semi Bold" pitchFamily="34" charset="-122"/>
                <a:cs typeface="Nunito Semi Bold" pitchFamily="34" charset="-120"/>
              </a:rPr>
              <a:t>Security Shield Best Practices</a:t>
            </a:r>
            <a:endParaRPr lang="en-US" sz="1450" dirty="0"/>
          </a:p>
        </p:txBody>
      </p:sp>
      <p:sp>
        <p:nvSpPr>
          <p:cNvPr id="24" name="Text 22"/>
          <p:cNvSpPr/>
          <p:nvPr/>
        </p:nvSpPr>
        <p:spPr>
          <a:xfrm>
            <a:off x="7516177" y="6004084"/>
            <a:ext cx="6567130" cy="506968"/>
          </a:xfrm>
          <a:prstGeom prst="rect">
            <a:avLst/>
          </a:prstGeom>
          <a:noFill/>
          <a:ln/>
        </p:spPr>
        <p:txBody>
          <a:bodyPr wrap="square" lIns="0" tIns="0" rIns="0" bIns="0" rtlCol="0" anchor="t"/>
          <a:lstStyle/>
          <a:p>
            <a:pPr marL="0" indent="0" algn="l">
              <a:lnSpc>
                <a:spcPts val="1950"/>
              </a:lnSpc>
              <a:buNone/>
            </a:pPr>
            <a:r>
              <a:rPr lang="en-US" sz="1200" dirty="0">
                <a:solidFill>
                  <a:srgbClr val="00002E"/>
                </a:solidFill>
                <a:latin typeface="PT Sans" pitchFamily="34" charset="0"/>
                <a:ea typeface="PT Sans" pitchFamily="34" charset="-122"/>
                <a:cs typeface="PT Sans" pitchFamily="34" charset="-120"/>
              </a:rPr>
              <a:t>Proficiently used JWT authentication and Bcrypt hashing, building a strong security shield around DoraBlog's precious data.</a:t>
            </a:r>
            <a:endParaRPr lang="en-US" sz="1200" dirty="0"/>
          </a:p>
        </p:txBody>
      </p:sp>
      <p:sp>
        <p:nvSpPr>
          <p:cNvPr id="25" name="Shape 23"/>
          <p:cNvSpPr/>
          <p:nvPr/>
        </p:nvSpPr>
        <p:spPr>
          <a:xfrm>
            <a:off x="554712" y="6867525"/>
            <a:ext cx="13520976" cy="926783"/>
          </a:xfrm>
          <a:prstGeom prst="roundRect">
            <a:avLst>
              <a:gd name="adj" fmla="val 25654"/>
            </a:avLst>
          </a:prstGeom>
          <a:solidFill>
            <a:srgbClr val="B7C2FB"/>
          </a:solidFill>
          <a:ln/>
        </p:spPr>
      </p:sp>
      <p:pic>
        <p:nvPicPr>
          <p:cNvPr id="26" name="Image 0" descr="preencoded.png"/>
          <p:cNvPicPr>
            <a:picLocks noChangeAspect="1"/>
          </p:cNvPicPr>
          <p:nvPr/>
        </p:nvPicPr>
        <p:blipFill>
          <a:blip r:embed="rId3"/>
          <a:stretch>
            <a:fillRect/>
          </a:stretch>
        </p:blipFill>
        <p:spPr>
          <a:xfrm>
            <a:off x="713184" y="7109698"/>
            <a:ext cx="198120" cy="158472"/>
          </a:xfrm>
          <a:prstGeom prst="rect">
            <a:avLst/>
          </a:prstGeom>
        </p:spPr>
      </p:pic>
      <p:sp>
        <p:nvSpPr>
          <p:cNvPr id="27" name="Text 24"/>
          <p:cNvSpPr/>
          <p:nvPr/>
        </p:nvSpPr>
        <p:spPr>
          <a:xfrm>
            <a:off x="1069777" y="7065526"/>
            <a:ext cx="12847439" cy="506968"/>
          </a:xfrm>
          <a:prstGeom prst="rect">
            <a:avLst/>
          </a:prstGeom>
          <a:noFill/>
          <a:ln/>
        </p:spPr>
        <p:txBody>
          <a:bodyPr wrap="square" lIns="0" tIns="0" rIns="0" bIns="0" rtlCol="0" anchor="t"/>
          <a:lstStyle/>
          <a:p>
            <a:pPr marL="0" indent="0" algn="l">
              <a:lnSpc>
                <a:spcPts val="1950"/>
              </a:lnSpc>
              <a:buNone/>
            </a:pPr>
            <a:r>
              <a:rPr lang="en-US" sz="1200" dirty="0">
                <a:solidFill>
                  <a:srgbClr val="000000"/>
                </a:solidFill>
                <a:latin typeface="PT Sans" pitchFamily="34" charset="0"/>
                <a:ea typeface="PT Sans" pitchFamily="34" charset="-122"/>
                <a:cs typeface="PT Sans" pitchFamily="34" charset="-120"/>
              </a:rPr>
              <a:t>Future Outlook: DoraBlog has boundless potential for expansion, easily integrating new features like email notifications, advanced analytics, and social sharing—imagine what other amazing gadgets we can integrate!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1949887" y="1321951"/>
            <a:ext cx="10730508" cy="520898"/>
          </a:xfrm>
          <a:prstGeom prst="rect">
            <a:avLst/>
          </a:prstGeom>
          <a:noFill/>
          <a:ln/>
        </p:spPr>
        <p:txBody>
          <a:bodyPr wrap="none" lIns="0" tIns="0" rIns="0" bIns="0" rtlCol="0" anchor="t"/>
          <a:lstStyle/>
          <a:p>
            <a:pPr marL="0" indent="0" algn="ctr">
              <a:lnSpc>
                <a:spcPts val="4100"/>
              </a:lnSpc>
              <a:buNone/>
            </a:pPr>
            <a:r>
              <a:rPr lang="en-US" sz="3250" dirty="0">
                <a:solidFill>
                  <a:srgbClr val="00002E"/>
                </a:solidFill>
                <a:latin typeface="Nunito Semi Bold" pitchFamily="34" charset="0"/>
                <a:ea typeface="Nunito Semi Bold" pitchFamily="34" charset="-122"/>
                <a:cs typeface="Nunito Semi Bold" pitchFamily="34" charset="-120"/>
              </a:rPr>
              <a:t>Thank you for joining Doraemon's Tech Team Adventure!</a:t>
            </a:r>
            <a:endParaRPr lang="en-US" sz="3250" dirty="0"/>
          </a:p>
        </p:txBody>
      </p:sp>
      <p:sp>
        <p:nvSpPr>
          <p:cNvPr id="3" name="Text 1"/>
          <p:cNvSpPr/>
          <p:nvPr/>
        </p:nvSpPr>
        <p:spPr>
          <a:xfrm>
            <a:off x="619839" y="2197060"/>
            <a:ext cx="13390721" cy="354092"/>
          </a:xfrm>
          <a:prstGeom prst="rect">
            <a:avLst/>
          </a:prstGeom>
          <a:noFill/>
          <a:ln/>
        </p:spPr>
        <p:txBody>
          <a:bodyPr wrap="none" lIns="0" tIns="0" rIns="0" bIns="0" rtlCol="0" anchor="t"/>
          <a:lstStyle/>
          <a:p>
            <a:pPr marL="0" indent="0" algn="ctr">
              <a:lnSpc>
                <a:spcPts val="2750"/>
              </a:lnSpc>
              <a:buNone/>
            </a:pPr>
            <a:r>
              <a:rPr lang="en-US" sz="1700" dirty="0">
                <a:solidFill>
                  <a:srgbClr val="00002E"/>
                </a:solidFill>
                <a:latin typeface="PT Sans" pitchFamily="34" charset="0"/>
                <a:ea typeface="PT Sans" pitchFamily="34" charset="-122"/>
                <a:cs typeface="PT Sans" pitchFamily="34" charset="-120"/>
              </a:rPr>
              <a:t>Noby and friends are now happy to answer any questions about our incredible DoraBlog project. Get ready for some gadget-powered insights!</a:t>
            </a:r>
            <a:endParaRPr lang="en-US" sz="1700" dirty="0"/>
          </a:p>
        </p:txBody>
      </p:sp>
      <p:pic>
        <p:nvPicPr>
          <p:cNvPr id="4" name="Image 0" descr="preencoded.png"/>
          <p:cNvPicPr>
            <a:picLocks noChangeAspect="1"/>
          </p:cNvPicPr>
          <p:nvPr/>
        </p:nvPicPr>
        <p:blipFill>
          <a:blip r:embed="rId3"/>
          <a:stretch>
            <a:fillRect/>
          </a:stretch>
        </p:blipFill>
        <p:spPr>
          <a:xfrm>
            <a:off x="627340" y="2866073"/>
            <a:ext cx="3237667" cy="2125266"/>
          </a:xfrm>
          <a:prstGeom prst="rect">
            <a:avLst/>
          </a:prstGeom>
        </p:spPr>
      </p:pic>
      <p:pic>
        <p:nvPicPr>
          <p:cNvPr id="5" name="Image 1" descr="preencoded.png"/>
          <p:cNvPicPr>
            <a:picLocks noChangeAspect="1"/>
          </p:cNvPicPr>
          <p:nvPr/>
        </p:nvPicPr>
        <p:blipFill>
          <a:blip r:embed="rId4"/>
          <a:stretch>
            <a:fillRect/>
          </a:stretch>
        </p:blipFill>
        <p:spPr>
          <a:xfrm>
            <a:off x="4006691" y="2866073"/>
            <a:ext cx="3237667" cy="2125266"/>
          </a:xfrm>
          <a:prstGeom prst="rect">
            <a:avLst/>
          </a:prstGeom>
        </p:spPr>
      </p:pic>
      <p:pic>
        <p:nvPicPr>
          <p:cNvPr id="6" name="Image 2" descr="preencoded.png"/>
          <p:cNvPicPr>
            <a:picLocks noChangeAspect="1"/>
          </p:cNvPicPr>
          <p:nvPr/>
        </p:nvPicPr>
        <p:blipFill>
          <a:blip r:embed="rId5"/>
          <a:stretch>
            <a:fillRect/>
          </a:stretch>
        </p:blipFill>
        <p:spPr>
          <a:xfrm>
            <a:off x="7386042" y="2866073"/>
            <a:ext cx="3237667" cy="2125266"/>
          </a:xfrm>
          <a:prstGeom prst="rect">
            <a:avLst/>
          </a:prstGeom>
        </p:spPr>
      </p:pic>
      <p:pic>
        <p:nvPicPr>
          <p:cNvPr id="7" name="Image 3" descr="preencoded.png"/>
          <p:cNvPicPr>
            <a:picLocks noChangeAspect="1"/>
          </p:cNvPicPr>
          <p:nvPr/>
        </p:nvPicPr>
        <p:blipFill>
          <a:blip r:embed="rId6"/>
          <a:stretch>
            <a:fillRect/>
          </a:stretch>
        </p:blipFill>
        <p:spPr>
          <a:xfrm>
            <a:off x="10765393" y="2866073"/>
            <a:ext cx="3237667" cy="2125266"/>
          </a:xfrm>
          <a:prstGeom prst="rect">
            <a:avLst/>
          </a:prstGeom>
        </p:spPr>
      </p:pic>
      <p:sp>
        <p:nvSpPr>
          <p:cNvPr id="8" name="Shape 2"/>
          <p:cNvSpPr/>
          <p:nvPr/>
        </p:nvSpPr>
        <p:spPr>
          <a:xfrm>
            <a:off x="619839" y="5306258"/>
            <a:ext cx="13390721" cy="1601272"/>
          </a:xfrm>
          <a:prstGeom prst="roundRect">
            <a:avLst>
              <a:gd name="adj" fmla="val 16591"/>
            </a:avLst>
          </a:prstGeom>
          <a:solidFill>
            <a:srgbClr val="F3F3FF"/>
          </a:solidFill>
          <a:ln w="15240">
            <a:solidFill>
              <a:srgbClr val="2D4DF2"/>
            </a:solidFill>
            <a:prstDash val="solid"/>
          </a:ln>
        </p:spPr>
      </p:sp>
      <p:sp>
        <p:nvSpPr>
          <p:cNvPr id="9" name="Shape 3"/>
          <p:cNvSpPr/>
          <p:nvPr/>
        </p:nvSpPr>
        <p:spPr>
          <a:xfrm>
            <a:off x="635079" y="5321498"/>
            <a:ext cx="6680121" cy="1570792"/>
          </a:xfrm>
          <a:prstGeom prst="roundRect">
            <a:avLst>
              <a:gd name="adj" fmla="val 16913"/>
            </a:avLst>
          </a:prstGeom>
          <a:solidFill>
            <a:srgbClr val="F3F3FF"/>
          </a:solidFill>
          <a:ln/>
        </p:spPr>
      </p:sp>
      <p:sp>
        <p:nvSpPr>
          <p:cNvPr id="10" name="Text 4"/>
          <p:cNvSpPr/>
          <p:nvPr/>
        </p:nvSpPr>
        <p:spPr>
          <a:xfrm>
            <a:off x="812125" y="5498544"/>
            <a:ext cx="4447223" cy="260390"/>
          </a:xfrm>
          <a:prstGeom prst="rect">
            <a:avLst/>
          </a:prstGeom>
          <a:noFill/>
          <a:ln/>
        </p:spPr>
        <p:txBody>
          <a:bodyPr wrap="none" lIns="0" tIns="0" rIns="0" bIns="0" rtlCol="0" anchor="t"/>
          <a:lstStyle/>
          <a:p>
            <a:pPr marL="0" indent="0" algn="l">
              <a:lnSpc>
                <a:spcPts val="2050"/>
              </a:lnSpc>
              <a:buNone/>
            </a:pPr>
            <a:r>
              <a:rPr lang="en-US" sz="1600" dirty="0">
                <a:solidFill>
                  <a:srgbClr val="0066CC"/>
                </a:solidFill>
                <a:latin typeface="Nunito Semi Bold" pitchFamily="34" charset="0"/>
                <a:ea typeface="Nunito Semi Bold" pitchFamily="34" charset="-122"/>
                <a:cs typeface="Nunito Semi Bold" pitchFamily="34" charset="-120"/>
              </a:rPr>
              <a:t>Gadget Blueprint Archives</a:t>
            </a:r>
            <a:r>
              <a:rPr lang="en-US" sz="1600" dirty="0">
                <a:solidFill>
                  <a:srgbClr val="00002E"/>
                </a:solidFill>
                <a:latin typeface="Nunito Semi Bold" pitchFamily="34" charset="0"/>
                <a:ea typeface="Nunito Semi Bold" pitchFamily="34" charset="-122"/>
                <a:cs typeface="Nunito Semi Bold" pitchFamily="34" charset="-120"/>
              </a:rPr>
              <a:t> (Project Repository)</a:t>
            </a:r>
            <a:endParaRPr lang="en-US" sz="1600" dirty="0"/>
          </a:p>
        </p:txBody>
      </p:sp>
      <p:sp>
        <p:nvSpPr>
          <p:cNvPr id="11" name="Text 5"/>
          <p:cNvSpPr/>
          <p:nvPr/>
        </p:nvSpPr>
        <p:spPr>
          <a:xfrm>
            <a:off x="812125" y="5865138"/>
            <a:ext cx="6326029" cy="566738"/>
          </a:xfrm>
          <a:prstGeom prst="rect">
            <a:avLst/>
          </a:prstGeom>
          <a:noFill/>
          <a:ln/>
        </p:spPr>
        <p:txBody>
          <a:bodyPr wrap="square" lIns="0" tIns="0" rIns="0" bIns="0" rtlCol="0" anchor="t"/>
          <a:lstStyle/>
          <a:p>
            <a:pPr marL="0" indent="0" algn="l">
              <a:lnSpc>
                <a:spcPts val="2200"/>
              </a:lnSpc>
              <a:buNone/>
            </a:pPr>
            <a:r>
              <a:rPr lang="en-US" sz="1350" dirty="0">
                <a:solidFill>
                  <a:srgbClr val="00002E"/>
                </a:solidFill>
                <a:latin typeface="PT Sans" pitchFamily="34" charset="0"/>
                <a:ea typeface="PT Sans" pitchFamily="34" charset="-122"/>
                <a:cs typeface="PT Sans" pitchFamily="34" charset="-120"/>
              </a:rPr>
              <a:t>Our project's very own </a:t>
            </a:r>
            <a:r>
              <a:rPr lang="en-US" sz="1350" b="1" dirty="0">
                <a:solidFill>
                  <a:srgbClr val="00002E"/>
                </a:solidFill>
                <a:latin typeface="PT Sans" pitchFamily="34" charset="0"/>
                <a:ea typeface="PT Sans" pitchFamily="34" charset="-122"/>
                <a:cs typeface="PT Sans" pitchFamily="34" charset="-120"/>
              </a:rPr>
              <a:t>Time Machine</a:t>
            </a:r>
            <a:r>
              <a:rPr lang="en-US" sz="1350" dirty="0">
                <a:solidFill>
                  <a:srgbClr val="00002E"/>
                </a:solidFill>
                <a:latin typeface="PT Sans" pitchFamily="34" charset="0"/>
                <a:ea typeface="PT Sans" pitchFamily="34" charset="-122"/>
                <a:cs typeface="PT Sans" pitchFamily="34" charset="-120"/>
              </a:rPr>
              <a:t> for version control: </a:t>
            </a:r>
            <a:r>
              <a:rPr lang="en-US" sz="1350" dirty="0">
                <a:solidFill>
                  <a:srgbClr val="00002E"/>
                </a:solidFill>
                <a:highlight>
                  <a:srgbClr val="E6E6F2"/>
                </a:highlight>
                <a:latin typeface="Consolas" pitchFamily="34" charset="0"/>
                <a:ea typeface="Consolas" pitchFamily="34" charset="-122"/>
                <a:cs typeface="Consolas" pitchFamily="34" charset="-120"/>
              </a:rPr>
              <a:t>pgcit-final-project-Doraemon's Tech Team</a:t>
            </a:r>
            <a:endParaRPr lang="en-US" sz="1350" dirty="0"/>
          </a:p>
        </p:txBody>
      </p:sp>
      <p:sp>
        <p:nvSpPr>
          <p:cNvPr id="12" name="Shape 6"/>
          <p:cNvSpPr/>
          <p:nvPr/>
        </p:nvSpPr>
        <p:spPr>
          <a:xfrm>
            <a:off x="7315200" y="5321498"/>
            <a:ext cx="6680121" cy="1570792"/>
          </a:xfrm>
          <a:prstGeom prst="rect">
            <a:avLst/>
          </a:prstGeom>
          <a:solidFill>
            <a:srgbClr val="F3F3FF"/>
          </a:solidFill>
          <a:ln/>
        </p:spPr>
      </p:sp>
      <p:sp>
        <p:nvSpPr>
          <p:cNvPr id="13" name="Shape 7"/>
          <p:cNvSpPr/>
          <p:nvPr/>
        </p:nvSpPr>
        <p:spPr>
          <a:xfrm>
            <a:off x="7315200" y="5321498"/>
            <a:ext cx="22860" cy="1570792"/>
          </a:xfrm>
          <a:prstGeom prst="roundRect">
            <a:avLst>
              <a:gd name="adj" fmla="val 1162164"/>
            </a:avLst>
          </a:prstGeom>
          <a:solidFill>
            <a:srgbClr val="1AA5FA"/>
          </a:solidFill>
          <a:ln/>
        </p:spPr>
      </p:sp>
      <p:sp>
        <p:nvSpPr>
          <p:cNvPr id="14" name="Text 8"/>
          <p:cNvSpPr/>
          <p:nvPr/>
        </p:nvSpPr>
        <p:spPr>
          <a:xfrm>
            <a:off x="7492246" y="5498544"/>
            <a:ext cx="3992999" cy="260390"/>
          </a:xfrm>
          <a:prstGeom prst="rect">
            <a:avLst/>
          </a:prstGeom>
          <a:noFill/>
          <a:ln/>
        </p:spPr>
        <p:txBody>
          <a:bodyPr wrap="none" lIns="0" tIns="0" rIns="0" bIns="0" rtlCol="0" anchor="t"/>
          <a:lstStyle/>
          <a:p>
            <a:pPr marL="0" indent="0" algn="l">
              <a:lnSpc>
                <a:spcPts val="2050"/>
              </a:lnSpc>
              <a:buNone/>
            </a:pPr>
            <a:r>
              <a:rPr lang="en-US" sz="1600" dirty="0">
                <a:solidFill>
                  <a:srgbClr val="0066CC"/>
                </a:solidFill>
                <a:latin typeface="Nunito Semi Bold" pitchFamily="34" charset="0"/>
                <a:ea typeface="Nunito Semi Bold" pitchFamily="34" charset="-122"/>
                <a:cs typeface="Nunito Semi Bold" pitchFamily="34" charset="-120"/>
              </a:rPr>
              <a:t>Core Gadgets &amp; Tools</a:t>
            </a:r>
            <a:r>
              <a:rPr lang="en-US" sz="1600" dirty="0">
                <a:solidFill>
                  <a:srgbClr val="00002E"/>
                </a:solidFill>
                <a:latin typeface="Nunito Semi Bold" pitchFamily="34" charset="0"/>
                <a:ea typeface="Nunito Semi Bold" pitchFamily="34" charset="-122"/>
                <a:cs typeface="Nunito Semi Bold" pitchFamily="34" charset="-120"/>
              </a:rPr>
              <a:t> (Core Technologies)</a:t>
            </a:r>
            <a:endParaRPr lang="en-US" sz="1600" dirty="0"/>
          </a:p>
        </p:txBody>
      </p:sp>
      <p:sp>
        <p:nvSpPr>
          <p:cNvPr id="15" name="Text 9"/>
          <p:cNvSpPr/>
          <p:nvPr/>
        </p:nvSpPr>
        <p:spPr>
          <a:xfrm>
            <a:off x="7492246" y="5865138"/>
            <a:ext cx="6326029" cy="850106"/>
          </a:xfrm>
          <a:prstGeom prst="rect">
            <a:avLst/>
          </a:prstGeom>
          <a:noFill/>
          <a:ln/>
        </p:spPr>
        <p:txBody>
          <a:bodyPr wrap="square" lIns="0" tIns="0" rIns="0" bIns="0" rtlCol="0" anchor="t"/>
          <a:lstStyle/>
          <a:p>
            <a:pPr marL="0" indent="0" algn="l">
              <a:lnSpc>
                <a:spcPts val="2200"/>
              </a:lnSpc>
              <a:buNone/>
            </a:pPr>
            <a:r>
              <a:rPr lang="en-US" sz="1350" b="1" dirty="0">
                <a:solidFill>
                  <a:srgbClr val="00002E"/>
                </a:solidFill>
                <a:latin typeface="PT Sans" pitchFamily="34" charset="0"/>
                <a:ea typeface="PT Sans" pitchFamily="34" charset="-122"/>
                <a:cs typeface="PT Sans" pitchFamily="34" charset="-120"/>
              </a:rPr>
              <a:t>SvelteKit</a:t>
            </a:r>
            <a:r>
              <a:rPr lang="en-US" sz="1350" dirty="0">
                <a:solidFill>
                  <a:srgbClr val="00002E"/>
                </a:solidFill>
                <a:latin typeface="PT Sans" pitchFamily="34" charset="0"/>
                <a:ea typeface="PT Sans" pitchFamily="34" charset="-122"/>
                <a:cs typeface="PT Sans" pitchFamily="34" charset="-120"/>
              </a:rPr>
              <a:t> (our </a:t>
            </a:r>
            <a:r>
              <a:rPr lang="en-US" sz="1350" b="1" dirty="0">
                <a:solidFill>
                  <a:srgbClr val="00002E"/>
                </a:solidFill>
                <a:latin typeface="PT Sans" pitchFamily="34" charset="0"/>
                <a:ea typeface="PT Sans" pitchFamily="34" charset="-122"/>
                <a:cs typeface="PT Sans" pitchFamily="34" charset="-120"/>
              </a:rPr>
              <a:t>Anywhere Door</a:t>
            </a:r>
            <a:r>
              <a:rPr lang="en-US" sz="1350" dirty="0">
                <a:solidFill>
                  <a:srgbClr val="00002E"/>
                </a:solidFill>
                <a:latin typeface="PT Sans" pitchFamily="34" charset="0"/>
                <a:ea typeface="PT Sans" pitchFamily="34" charset="-122"/>
                <a:cs typeface="PT Sans" pitchFamily="34" charset="-120"/>
              </a:rPr>
              <a:t> for the frontend) • </a:t>
            </a:r>
            <a:r>
              <a:rPr lang="en-US" sz="1350" b="1" dirty="0">
                <a:solidFill>
                  <a:srgbClr val="00002E"/>
                </a:solidFill>
                <a:latin typeface="PT Sans" pitchFamily="34" charset="0"/>
                <a:ea typeface="PT Sans" pitchFamily="34" charset="-122"/>
                <a:cs typeface="PT Sans" pitchFamily="34" charset="-120"/>
              </a:rPr>
              <a:t>Node.js/Express</a:t>
            </a:r>
            <a:r>
              <a:rPr lang="en-US" sz="1350" dirty="0">
                <a:solidFill>
                  <a:srgbClr val="00002E"/>
                </a:solidFill>
                <a:latin typeface="PT Sans" pitchFamily="34" charset="0"/>
                <a:ea typeface="PT Sans" pitchFamily="34" charset="-122"/>
                <a:cs typeface="PT Sans" pitchFamily="34" charset="-120"/>
              </a:rPr>
              <a:t> (our backend </a:t>
            </a:r>
            <a:r>
              <a:rPr lang="en-US" sz="1350" b="1" dirty="0">
                <a:solidFill>
                  <a:srgbClr val="00002E"/>
                </a:solidFill>
                <a:latin typeface="PT Sans" pitchFamily="34" charset="0"/>
                <a:ea typeface="PT Sans" pitchFamily="34" charset="-122"/>
                <a:cs typeface="PT Sans" pitchFamily="34" charset="-120"/>
              </a:rPr>
              <a:t>Hopter</a:t>
            </a:r>
            <a:r>
              <a:rPr lang="en-US" sz="1350" dirty="0">
                <a:solidFill>
                  <a:srgbClr val="00002E"/>
                </a:solidFill>
                <a:latin typeface="PT Sans" pitchFamily="34" charset="0"/>
                <a:ea typeface="PT Sans" pitchFamily="34" charset="-122"/>
                <a:cs typeface="PT Sans" pitchFamily="34" charset="-120"/>
              </a:rPr>
              <a:t>) • </a:t>
            </a:r>
            <a:r>
              <a:rPr lang="en-US" sz="1350" b="1" dirty="0">
                <a:solidFill>
                  <a:srgbClr val="00002E"/>
                </a:solidFill>
                <a:latin typeface="PT Sans" pitchFamily="34" charset="0"/>
                <a:ea typeface="PT Sans" pitchFamily="34" charset="-122"/>
                <a:cs typeface="PT Sans" pitchFamily="34" charset="-120"/>
              </a:rPr>
              <a:t>SQLite</a:t>
            </a:r>
            <a:r>
              <a:rPr lang="en-US" sz="1350" dirty="0">
                <a:solidFill>
                  <a:srgbClr val="00002E"/>
                </a:solidFill>
                <a:latin typeface="PT Sans" pitchFamily="34" charset="0"/>
                <a:ea typeface="PT Sans" pitchFamily="34" charset="-122"/>
                <a:cs typeface="PT Sans" pitchFamily="34" charset="-120"/>
              </a:rPr>
              <a:t> (our data </a:t>
            </a:r>
            <a:r>
              <a:rPr lang="en-US" sz="1350" b="1" dirty="0">
                <a:solidFill>
                  <a:srgbClr val="00002E"/>
                </a:solidFill>
                <a:latin typeface="PT Sans" pitchFamily="34" charset="0"/>
                <a:ea typeface="PT Sans" pitchFamily="34" charset="-122"/>
                <a:cs typeface="PT Sans" pitchFamily="34" charset="-120"/>
              </a:rPr>
              <a:t>Memory Bread</a:t>
            </a:r>
            <a:r>
              <a:rPr lang="en-US" sz="1350" dirty="0">
                <a:solidFill>
                  <a:srgbClr val="00002E"/>
                </a:solidFill>
                <a:latin typeface="PT Sans" pitchFamily="34" charset="0"/>
                <a:ea typeface="PT Sans" pitchFamily="34" charset="-122"/>
                <a:cs typeface="PT Sans" pitchFamily="34" charset="-120"/>
              </a:rPr>
              <a:t>) • </a:t>
            </a:r>
            <a:r>
              <a:rPr lang="en-US" sz="1350" b="1" dirty="0">
                <a:solidFill>
                  <a:srgbClr val="00002E"/>
                </a:solidFill>
                <a:latin typeface="PT Sans" pitchFamily="34" charset="0"/>
                <a:ea typeface="PT Sans" pitchFamily="34" charset="-122"/>
                <a:cs typeface="PT Sans" pitchFamily="34" charset="-120"/>
              </a:rPr>
              <a:t>JWT</a:t>
            </a:r>
            <a:r>
              <a:rPr lang="en-US" sz="1350" dirty="0">
                <a:solidFill>
                  <a:srgbClr val="00002E"/>
                </a:solidFill>
                <a:latin typeface="PT Sans" pitchFamily="34" charset="0"/>
                <a:ea typeface="PT Sans" pitchFamily="34" charset="-122"/>
                <a:cs typeface="PT Sans" pitchFamily="34" charset="-120"/>
              </a:rPr>
              <a:t> (our secure </a:t>
            </a:r>
            <a:r>
              <a:rPr lang="en-US" sz="1350" b="1" dirty="0">
                <a:solidFill>
                  <a:srgbClr val="00002E"/>
                </a:solidFill>
                <a:latin typeface="PT Sans" pitchFamily="34" charset="0"/>
                <a:ea typeface="PT Sans" pitchFamily="34" charset="-122"/>
                <a:cs typeface="PT Sans" pitchFamily="34" charset="-120"/>
              </a:rPr>
              <a:t>Invisible Cape</a:t>
            </a:r>
            <a:r>
              <a:rPr lang="en-US" sz="1350" dirty="0">
                <a:solidFill>
                  <a:srgbClr val="00002E"/>
                </a:solidFill>
                <a:latin typeface="PT Sans" pitchFamily="34" charset="0"/>
                <a:ea typeface="PT Sans" pitchFamily="34" charset="-122"/>
                <a:cs typeface="PT Sans" pitchFamily="34" charset="-120"/>
              </a:rPr>
              <a:t>) • </a:t>
            </a:r>
            <a:r>
              <a:rPr lang="en-US" sz="1350" b="1" dirty="0">
                <a:solidFill>
                  <a:srgbClr val="00002E"/>
                </a:solidFill>
                <a:latin typeface="PT Sans" pitchFamily="34" charset="0"/>
                <a:ea typeface="PT Sans" pitchFamily="34" charset="-122"/>
                <a:cs typeface="PT Sans" pitchFamily="34" charset="-120"/>
              </a:rPr>
              <a:t>Java Swing</a:t>
            </a:r>
            <a:r>
              <a:rPr lang="en-US" sz="1350" dirty="0">
                <a:solidFill>
                  <a:srgbClr val="00002E"/>
                </a:solidFill>
                <a:latin typeface="PT Sans" pitchFamily="34" charset="0"/>
                <a:ea typeface="PT Sans" pitchFamily="34" charset="-122"/>
                <a:cs typeface="PT Sans" pitchFamily="34" charset="-120"/>
              </a:rPr>
              <a:t> (our handy admin </a:t>
            </a:r>
            <a:r>
              <a:rPr lang="en-US" sz="1350" b="1" dirty="0">
                <a:solidFill>
                  <a:srgbClr val="00002E"/>
                </a:solidFill>
                <a:latin typeface="PT Sans" pitchFamily="34" charset="0"/>
                <a:ea typeface="PT Sans" pitchFamily="34" charset="-122"/>
                <a:cs typeface="PT Sans" pitchFamily="34" charset="-120"/>
              </a:rPr>
              <a:t>Big Light</a:t>
            </a:r>
            <a:r>
              <a:rPr lang="en-US" sz="1350" dirty="0">
                <a:solidFill>
                  <a:srgbClr val="00002E"/>
                </a:solidFill>
                <a:latin typeface="PT Sans" pitchFamily="34" charset="0"/>
                <a:ea typeface="PT Sans" pitchFamily="34" charset="-122"/>
                <a:cs typeface="PT Sans" pitchFamily="34" charset="-120"/>
              </a:rPr>
              <a:t>)</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1458</Words>
  <Application>Microsoft Office PowerPoint</Application>
  <PresentationFormat>自定义</PresentationFormat>
  <Paragraphs>110</Paragraphs>
  <Slides>12</Slides>
  <Notes>12</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12</vt:i4>
      </vt:variant>
    </vt:vector>
  </HeadingPairs>
  <TitlesOfParts>
    <vt:vector size="17" baseType="lpstr">
      <vt:lpstr>Nunito Semi Bold</vt:lpstr>
      <vt:lpstr>Arial</vt:lpstr>
      <vt:lpstr>PT Sans</vt:lpstr>
      <vt:lpstr>Consolas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Leo Moyung</cp:lastModifiedBy>
  <cp:revision>2</cp:revision>
  <dcterms:created xsi:type="dcterms:W3CDTF">2025-11-05T11:37:16Z</dcterms:created>
  <dcterms:modified xsi:type="dcterms:W3CDTF">2025-11-05T11:51:47Z</dcterms:modified>
</cp:coreProperties>
</file>